
<file path=[Content_Types].xml><?xml version="1.0" encoding="utf-8"?>
<Types xmlns="http://schemas.openxmlformats.org/package/2006/content-types">
  <Default Extension="jpg" ContentType="image/jp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6908800" cy="3892550"/>
  <p:notesSz cx="6908800" cy="38925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80" d="100"/>
          <a:sy n="180" d="100"/>
        </p:scale>
        <p:origin x="894" y="15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8636" y="1206690"/>
            <a:ext cx="5877877" cy="817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37272" y="2179828"/>
            <a:ext cx="4840605" cy="9731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1F2A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030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spc="60" dirty="0"/>
              <a:t> </a:t>
            </a:r>
            <a:r>
              <a:rPr dirty="0"/>
              <a:t>del</a:t>
            </a:r>
            <a:r>
              <a:rPr spc="65" dirty="0"/>
              <a:t> </a:t>
            </a:r>
            <a:r>
              <a:rPr spc="-10" dirty="0"/>
              <a:t>Derecho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0" dirty="0"/>
              <a:t>‹Nº›</a:t>
            </a:fld>
            <a:r>
              <a:rPr spc="-20" dirty="0"/>
              <a:t>/22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1F2A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030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spc="60" dirty="0"/>
              <a:t> </a:t>
            </a:r>
            <a:r>
              <a:rPr dirty="0"/>
              <a:t>del</a:t>
            </a:r>
            <a:r>
              <a:rPr spc="65" dirty="0"/>
              <a:t> </a:t>
            </a:r>
            <a:r>
              <a:rPr spc="-10" dirty="0"/>
              <a:t>Derecho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0" dirty="0"/>
              <a:t>‹Nº›</a:t>
            </a:fld>
            <a:r>
              <a:rPr spc="-20" dirty="0"/>
              <a:t>/22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06197" y="954165"/>
            <a:ext cx="3079115" cy="2042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61302" y="895286"/>
            <a:ext cx="3008090" cy="25690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030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spc="60" dirty="0"/>
              <a:t> </a:t>
            </a:r>
            <a:r>
              <a:rPr dirty="0"/>
              <a:t>del</a:t>
            </a:r>
            <a:r>
              <a:rPr spc="65" dirty="0"/>
              <a:t> </a:t>
            </a:r>
            <a:r>
              <a:rPr spc="-10" dirty="0"/>
              <a:t>Derecho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0" dirty="0"/>
              <a:t>‹Nº›</a:t>
            </a:fld>
            <a:r>
              <a:rPr spc="-20" dirty="0"/>
              <a:t>/22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" y="-16"/>
            <a:ext cx="6912609" cy="3888104"/>
          </a:xfrm>
          <a:custGeom>
            <a:avLst/>
            <a:gdLst/>
            <a:ahLst/>
            <a:cxnLst/>
            <a:rect l="l" t="t" r="r" b="b"/>
            <a:pathLst>
              <a:path w="6912609" h="3888104">
                <a:moveTo>
                  <a:pt x="0" y="3888050"/>
                </a:moveTo>
                <a:lnTo>
                  <a:pt x="0" y="0"/>
                </a:lnTo>
                <a:lnTo>
                  <a:pt x="6912087" y="0"/>
                </a:lnTo>
                <a:lnTo>
                  <a:pt x="6912087" y="3888050"/>
                </a:lnTo>
                <a:lnTo>
                  <a:pt x="0" y="3888050"/>
                </a:lnTo>
                <a:close/>
              </a:path>
            </a:pathLst>
          </a:custGeom>
          <a:solidFill>
            <a:srgbClr val="174A3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1031" y="1108090"/>
            <a:ext cx="2972123" cy="167181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78007" y="1584006"/>
            <a:ext cx="72390" cy="1494155"/>
          </a:xfrm>
          <a:custGeom>
            <a:avLst/>
            <a:gdLst/>
            <a:ahLst/>
            <a:cxnLst/>
            <a:rect l="l" t="t" r="r" b="b"/>
            <a:pathLst>
              <a:path w="72390" h="1494155">
                <a:moveTo>
                  <a:pt x="0" y="1494017"/>
                </a:moveTo>
                <a:lnTo>
                  <a:pt x="0" y="0"/>
                </a:lnTo>
                <a:lnTo>
                  <a:pt x="71999" y="0"/>
                </a:lnTo>
                <a:lnTo>
                  <a:pt x="71999" y="1494017"/>
                </a:lnTo>
                <a:lnTo>
                  <a:pt x="0" y="1494017"/>
                </a:lnTo>
                <a:close/>
              </a:path>
            </a:pathLst>
          </a:custGeom>
          <a:solidFill>
            <a:srgbClr val="5F8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32807" y="1998010"/>
            <a:ext cx="72390" cy="1080135"/>
          </a:xfrm>
          <a:custGeom>
            <a:avLst/>
            <a:gdLst/>
            <a:ahLst/>
            <a:cxnLst/>
            <a:rect l="l" t="t" r="r" b="b"/>
            <a:pathLst>
              <a:path w="72390" h="1080135">
                <a:moveTo>
                  <a:pt x="0" y="1080014"/>
                </a:moveTo>
                <a:lnTo>
                  <a:pt x="0" y="0"/>
                </a:lnTo>
                <a:lnTo>
                  <a:pt x="71999" y="0"/>
                </a:lnTo>
                <a:lnTo>
                  <a:pt x="71999" y="1080014"/>
                </a:lnTo>
                <a:lnTo>
                  <a:pt x="0" y="1080014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030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spc="60" dirty="0"/>
              <a:t> </a:t>
            </a:r>
            <a:r>
              <a:rPr dirty="0"/>
              <a:t>del</a:t>
            </a:r>
            <a:r>
              <a:rPr spc="65" dirty="0"/>
              <a:t> </a:t>
            </a:r>
            <a:r>
              <a:rPr spc="-10" dirty="0"/>
              <a:t>Derecho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0" dirty="0"/>
              <a:t>‹Nº›</a:t>
            </a:fld>
            <a:r>
              <a:rPr spc="-20" dirty="0"/>
              <a:t>/22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030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spc="60" dirty="0"/>
              <a:t> </a:t>
            </a:r>
            <a:r>
              <a:rPr dirty="0"/>
              <a:t>del</a:t>
            </a:r>
            <a:r>
              <a:rPr spc="65" dirty="0"/>
              <a:t> </a:t>
            </a:r>
            <a:r>
              <a:rPr spc="-10" dirty="0"/>
              <a:t>Derecho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0" dirty="0"/>
              <a:t>‹Nº›</a:t>
            </a:fld>
            <a:r>
              <a:rPr spc="-20" dirty="0"/>
              <a:t>/22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8005" y="0"/>
            <a:ext cx="6516370" cy="446405"/>
          </a:xfrm>
          <a:custGeom>
            <a:avLst/>
            <a:gdLst/>
            <a:ahLst/>
            <a:cxnLst/>
            <a:rect l="l" t="t" r="r" b="b"/>
            <a:pathLst>
              <a:path w="6516370" h="446405">
                <a:moveTo>
                  <a:pt x="6516001" y="0"/>
                </a:moveTo>
                <a:lnTo>
                  <a:pt x="0" y="0"/>
                </a:lnTo>
                <a:lnTo>
                  <a:pt x="0" y="446404"/>
                </a:lnTo>
                <a:lnTo>
                  <a:pt x="6516001" y="446404"/>
                </a:lnTo>
                <a:lnTo>
                  <a:pt x="6516001" y="0"/>
                </a:lnTo>
                <a:close/>
              </a:path>
            </a:pathLst>
          </a:custGeom>
          <a:solidFill>
            <a:srgbClr val="174A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8005" y="0"/>
            <a:ext cx="6516370" cy="446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5031" y="1079649"/>
            <a:ext cx="6160135" cy="171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1F2A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102110" y="3767737"/>
            <a:ext cx="147320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030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377501" y="3767737"/>
            <a:ext cx="709929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spc="60" dirty="0"/>
              <a:t> </a:t>
            </a:r>
            <a:r>
              <a:rPr dirty="0"/>
              <a:t>del</a:t>
            </a:r>
            <a:r>
              <a:rPr spc="65" dirty="0"/>
              <a:t> </a:t>
            </a:r>
            <a:r>
              <a:rPr spc="-10" dirty="0"/>
              <a:t>Derecho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643937" y="3767737"/>
            <a:ext cx="208279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0" dirty="0"/>
              <a:t>‹Nº›</a:t>
            </a:fld>
            <a:r>
              <a:rPr spc="-20" dirty="0"/>
              <a:t>/22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hyperlink" Target="https://youtu.be/jDz3qTvtFYE" TargetMode="Externa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7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Layout" Target="../slideLayouts/slideLayout5.xml"/><Relationship Id="rId7" Type="http://schemas.openxmlformats.org/officeDocument/2006/relationships/slide" Target="slide1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slide" Target="slide7.xml"/><Relationship Id="rId5" Type="http://schemas.openxmlformats.org/officeDocument/2006/relationships/slide" Target="slide4.xml"/><Relationship Id="rId4" Type="http://schemas.openxmlformats.org/officeDocument/2006/relationships/image" Target="../media/image3.jpg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0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5.png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jpg"/><Relationship Id="rId9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7.png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5.png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6" Type="http://schemas.openxmlformats.org/officeDocument/2006/relationships/image" Target="../media/image5.png"/><Relationship Id="rId5" Type="http://schemas.openxmlformats.org/officeDocument/2006/relationships/image" Target="../media/image17.png"/><Relationship Id="rId4" Type="http://schemas.openxmlformats.org/officeDocument/2006/relationships/image" Target="../media/image3.jpg"/><Relationship Id="rId9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5.png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6" Type="http://schemas.openxmlformats.org/officeDocument/2006/relationships/image" Target="../media/image16.png"/><Relationship Id="rId5" Type="http://schemas.openxmlformats.org/officeDocument/2006/relationships/image" Target="../media/image17.png"/><Relationship Id="rId4" Type="http://schemas.openxmlformats.org/officeDocument/2006/relationships/image" Target="../media/image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putados.gob.mx/LeyesBiblio/pdf/LGV.pdf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ndh.org.mx/documento/recomendacion-no-vg-2024-sobre-el-caso-ayotzinapa" TargetMode="External"/><Relationship Id="rId5" Type="http://schemas.openxmlformats.org/officeDocument/2006/relationships/hyperlink" Target="https://www.diputados.gob.mx/LeyesBiblio/pdf/LGMDFP.pdf" TargetMode="External"/><Relationship Id="rId4" Type="http://schemas.openxmlformats.org/officeDocument/2006/relationships/hyperlink" Target="https://www.diputados.gob.mx/LeyesBiblio/ref/cpeum.htm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771/9789563929119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jf2.scjn.gob.mx/detalle/tesis/201236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" y="-10"/>
            <a:ext cx="6912609" cy="3888104"/>
            <a:chOff x="2" y="-10"/>
            <a:chExt cx="6912609" cy="3888104"/>
          </a:xfrm>
        </p:grpSpPr>
        <p:sp>
          <p:nvSpPr>
            <p:cNvPr id="3" name="object 3"/>
            <p:cNvSpPr/>
            <p:nvPr/>
          </p:nvSpPr>
          <p:spPr>
            <a:xfrm>
              <a:off x="2" y="-10"/>
              <a:ext cx="4009390" cy="3888104"/>
            </a:xfrm>
            <a:custGeom>
              <a:avLst/>
              <a:gdLst/>
              <a:ahLst/>
              <a:cxnLst/>
              <a:rect l="l" t="t" r="r" b="b"/>
              <a:pathLst>
                <a:path w="4009390" h="3888104">
                  <a:moveTo>
                    <a:pt x="0" y="3888050"/>
                  </a:moveTo>
                  <a:lnTo>
                    <a:pt x="0" y="0"/>
                  </a:lnTo>
                  <a:lnTo>
                    <a:pt x="4009023" y="0"/>
                  </a:lnTo>
                  <a:lnTo>
                    <a:pt x="4009023" y="3888050"/>
                  </a:lnTo>
                  <a:lnTo>
                    <a:pt x="0" y="3888050"/>
                  </a:lnTo>
                  <a:close/>
                </a:path>
              </a:pathLst>
            </a:custGeom>
            <a:solidFill>
              <a:srgbClr val="174A39">
                <a:alpha val="95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09025" y="-10"/>
              <a:ext cx="2903220" cy="3888104"/>
            </a:xfrm>
            <a:custGeom>
              <a:avLst/>
              <a:gdLst/>
              <a:ahLst/>
              <a:cxnLst/>
              <a:rect l="l" t="t" r="r" b="b"/>
              <a:pathLst>
                <a:path w="2903220" h="3888104">
                  <a:moveTo>
                    <a:pt x="0" y="3888050"/>
                  </a:moveTo>
                  <a:lnTo>
                    <a:pt x="0" y="0"/>
                  </a:lnTo>
                  <a:lnTo>
                    <a:pt x="2903064" y="0"/>
                  </a:lnTo>
                  <a:lnTo>
                    <a:pt x="2903064" y="3888050"/>
                  </a:lnTo>
                  <a:lnTo>
                    <a:pt x="0" y="3888050"/>
                  </a:lnTo>
                  <a:close/>
                </a:path>
              </a:pathLst>
            </a:custGeom>
            <a:solidFill>
              <a:srgbClr val="5F8E39">
                <a:alpha val="91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7676" y="544266"/>
              <a:ext cx="4976815" cy="279945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5663" y="278603"/>
              <a:ext cx="918028" cy="51639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147297" y="3420033"/>
              <a:ext cx="2280920" cy="43815"/>
            </a:xfrm>
            <a:custGeom>
              <a:avLst/>
              <a:gdLst/>
              <a:ahLst/>
              <a:cxnLst/>
              <a:rect l="l" t="t" r="r" b="b"/>
              <a:pathLst>
                <a:path w="2280920" h="43814">
                  <a:moveTo>
                    <a:pt x="0" y="43204"/>
                  </a:moveTo>
                  <a:lnTo>
                    <a:pt x="0" y="0"/>
                  </a:lnTo>
                  <a:lnTo>
                    <a:pt x="2280895" y="0"/>
                  </a:lnTo>
                  <a:lnTo>
                    <a:pt x="2280895" y="43204"/>
                  </a:lnTo>
                  <a:lnTo>
                    <a:pt x="0" y="43204"/>
                  </a:lnTo>
                  <a:close/>
                </a:path>
              </a:pathLst>
            </a:custGeom>
            <a:solidFill>
              <a:srgbClr val="B88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47297" y="3520834"/>
              <a:ext cx="1659255" cy="36195"/>
            </a:xfrm>
            <a:custGeom>
              <a:avLst/>
              <a:gdLst/>
              <a:ahLst/>
              <a:cxnLst/>
              <a:rect l="l" t="t" r="r" b="b"/>
              <a:pathLst>
                <a:path w="1659254" h="36195">
                  <a:moveTo>
                    <a:pt x="0" y="36002"/>
                  </a:moveTo>
                  <a:lnTo>
                    <a:pt x="0" y="0"/>
                  </a:lnTo>
                  <a:lnTo>
                    <a:pt x="1658833" y="0"/>
                  </a:lnTo>
                  <a:lnTo>
                    <a:pt x="1658833" y="36002"/>
                  </a:lnTo>
                  <a:lnTo>
                    <a:pt x="0" y="36002"/>
                  </a:lnTo>
                  <a:close/>
                </a:path>
              </a:pathLst>
            </a:custGeom>
            <a:solidFill>
              <a:srgbClr val="FFFFFF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5305" y="1221865"/>
            <a:ext cx="3670300" cy="96456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ts val="2890"/>
              </a:lnSpc>
              <a:spcBef>
                <a:spcPts val="80"/>
              </a:spcBef>
            </a:pPr>
            <a:r>
              <a:rPr sz="2300" b="1" dirty="0">
                <a:solidFill>
                  <a:srgbClr val="FFFFFF"/>
                </a:solidFill>
                <a:latin typeface="Arial"/>
                <a:cs typeface="Arial"/>
              </a:rPr>
              <a:t>Analisis</a:t>
            </a:r>
            <a:r>
              <a:rPr sz="23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FFFFFF"/>
                </a:solidFill>
                <a:latin typeface="Arial"/>
                <a:cs typeface="Arial"/>
              </a:rPr>
              <a:t>filosofico-</a:t>
            </a:r>
            <a:r>
              <a:rPr sz="2300" b="1" spc="-10" dirty="0">
                <a:solidFill>
                  <a:srgbClr val="FFFFFF"/>
                </a:solidFill>
                <a:latin typeface="Arial"/>
                <a:cs typeface="Arial"/>
              </a:rPr>
              <a:t>juridico </a:t>
            </a:r>
            <a:r>
              <a:rPr sz="23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23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FFFFFF"/>
                </a:solidFill>
                <a:latin typeface="Arial"/>
                <a:cs typeface="Arial"/>
              </a:rPr>
              <a:t>caso</a:t>
            </a:r>
            <a:r>
              <a:rPr sz="23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FFFFFF"/>
                </a:solidFill>
                <a:latin typeface="Arial"/>
                <a:cs typeface="Arial"/>
              </a:rPr>
              <a:t>Ayotzinapa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150" dirty="0">
                <a:solidFill>
                  <a:srgbClr val="FFFFFF"/>
                </a:solidFill>
                <a:latin typeface="Arial"/>
                <a:cs typeface="Arial"/>
              </a:rPr>
              <a:t>Actividad</a:t>
            </a:r>
            <a:r>
              <a:rPr sz="11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15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1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FFFFFF"/>
                </a:solidFill>
                <a:latin typeface="Arial"/>
                <a:cs typeface="Arial"/>
              </a:rPr>
              <a:t>Video</a:t>
            </a:r>
            <a:r>
              <a:rPr sz="115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rial"/>
                <a:cs typeface="Arial"/>
              </a:rPr>
              <a:t>academico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98005" y="2415120"/>
            <a:ext cx="3117850" cy="16510"/>
          </a:xfrm>
          <a:custGeom>
            <a:avLst/>
            <a:gdLst/>
            <a:ahLst/>
            <a:cxnLst/>
            <a:rect l="l" t="t" r="r" b="b"/>
            <a:pathLst>
              <a:path w="3117850" h="16510">
                <a:moveTo>
                  <a:pt x="3117354" y="0"/>
                </a:moveTo>
                <a:lnTo>
                  <a:pt x="0" y="0"/>
                </a:lnTo>
                <a:lnTo>
                  <a:pt x="0" y="16446"/>
                </a:lnTo>
                <a:lnTo>
                  <a:pt x="3117354" y="16446"/>
                </a:lnTo>
                <a:lnTo>
                  <a:pt x="3117354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5305" y="2565128"/>
            <a:ext cx="1630045" cy="39687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050" dirty="0">
                <a:solidFill>
                  <a:srgbClr val="FFFFFF"/>
                </a:solidFill>
                <a:latin typeface="Arial"/>
                <a:cs typeface="Arial"/>
              </a:rPr>
              <a:t>Martin</a:t>
            </a:r>
            <a:r>
              <a:rPr sz="105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FFFFFF"/>
                </a:solidFill>
                <a:latin typeface="Arial"/>
                <a:cs typeface="Arial"/>
              </a:rPr>
              <a:t>Jonathan</a:t>
            </a:r>
            <a:r>
              <a:rPr sz="105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05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050" spc="-20" dirty="0">
                <a:solidFill>
                  <a:srgbClr val="FFFFFF"/>
                </a:solidFill>
                <a:latin typeface="Arial"/>
                <a:cs typeface="Arial"/>
              </a:rPr>
              <a:t> Cruz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850" dirty="0">
                <a:solidFill>
                  <a:srgbClr val="FFFFFF"/>
                </a:solidFill>
                <a:latin typeface="Arial"/>
                <a:cs typeface="Arial"/>
              </a:rPr>
              <a:t>Matricula:</a:t>
            </a:r>
            <a:r>
              <a:rPr sz="8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Arial"/>
                <a:cs typeface="Arial"/>
              </a:rPr>
              <a:t>ES2611202040</a:t>
            </a:r>
            <a:endParaRPr sz="850">
              <a:latin typeface="Arial"/>
              <a:cs typeface="Arial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6069876" y="1187432"/>
            <a:ext cx="657225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spc="-10" dirty="0"/>
              <a:t>UnADM</a:t>
            </a:r>
            <a:endParaRPr sz="1350"/>
          </a:p>
        </p:txBody>
      </p:sp>
      <p:sp>
        <p:nvSpPr>
          <p:cNvPr id="13" name="object 13"/>
          <p:cNvSpPr txBox="1"/>
          <p:nvPr/>
        </p:nvSpPr>
        <p:spPr>
          <a:xfrm>
            <a:off x="4564469" y="1489890"/>
            <a:ext cx="2162810" cy="1568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dirty="0">
                <a:solidFill>
                  <a:srgbClr val="FFFFFF"/>
                </a:solidFill>
                <a:latin typeface="Arial"/>
                <a:cs typeface="Arial"/>
              </a:rPr>
              <a:t>Universidad</a:t>
            </a:r>
            <a:r>
              <a:rPr sz="85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FFFFFF"/>
                </a:solidFill>
                <a:latin typeface="Arial"/>
                <a:cs typeface="Arial"/>
              </a:rPr>
              <a:t>Abierta</a:t>
            </a:r>
            <a:r>
              <a:rPr sz="85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85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85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FFFFFF"/>
                </a:solidFill>
                <a:latin typeface="Arial"/>
                <a:cs typeface="Arial"/>
              </a:rPr>
              <a:t>Distancia</a:t>
            </a:r>
            <a:r>
              <a:rPr sz="85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85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Arial"/>
                <a:cs typeface="Arial"/>
              </a:rPr>
              <a:t>Mexico</a:t>
            </a:r>
            <a:endParaRPr sz="8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86082" y="1785491"/>
            <a:ext cx="1341120" cy="369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6690" marR="5080" indent="-174625">
              <a:lnSpc>
                <a:spcPct val="118900"/>
              </a:lnSpc>
              <a:spcBef>
                <a:spcPts val="95"/>
              </a:spcBef>
            </a:pPr>
            <a:r>
              <a:rPr sz="950" dirty="0">
                <a:solidFill>
                  <a:srgbClr val="FFFFFF"/>
                </a:solidFill>
                <a:latin typeface="Arial"/>
                <a:cs typeface="Arial"/>
              </a:rPr>
              <a:t>Licenciatura</a:t>
            </a:r>
            <a:r>
              <a:rPr sz="9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9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Arial"/>
                <a:cs typeface="Arial"/>
              </a:rPr>
              <a:t>Derecho </a:t>
            </a:r>
            <a:r>
              <a:rPr sz="950" dirty="0">
                <a:solidFill>
                  <a:srgbClr val="FFFFFF"/>
                </a:solidFill>
                <a:latin typeface="Arial"/>
                <a:cs typeface="Arial"/>
              </a:rPr>
              <a:t>Filosofia</a:t>
            </a:r>
            <a:r>
              <a:rPr sz="95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9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Arial"/>
                <a:cs typeface="Arial"/>
              </a:rPr>
              <a:t>Derecho</a:t>
            </a:r>
            <a:endParaRPr sz="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94783" y="2289232"/>
            <a:ext cx="2032000" cy="713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34440" algn="r">
              <a:lnSpc>
                <a:spcPct val="132800"/>
              </a:lnSpc>
              <a:spcBef>
                <a:spcPts val="95"/>
              </a:spcBef>
            </a:pPr>
            <a:r>
              <a:rPr sz="850" dirty="0">
                <a:solidFill>
                  <a:srgbClr val="FFFFFF"/>
                </a:solidFill>
                <a:latin typeface="Arial"/>
                <a:cs typeface="Arial"/>
              </a:rPr>
              <a:t>030</a:t>
            </a:r>
            <a:r>
              <a:rPr sz="85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FFFFFF"/>
                </a:solidFill>
                <a:latin typeface="Arial"/>
                <a:cs typeface="Arial"/>
              </a:rPr>
              <a:t>·</a:t>
            </a:r>
            <a:r>
              <a:rPr sz="8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FFFFFF"/>
                </a:solidFill>
                <a:latin typeface="Arial"/>
                <a:cs typeface="Arial"/>
              </a:rPr>
              <a:t>Semana</a:t>
            </a:r>
            <a:r>
              <a:rPr sz="8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spc="-5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sz="850" dirty="0">
                <a:solidFill>
                  <a:srgbClr val="FFFFFF"/>
                </a:solidFill>
                <a:latin typeface="Arial"/>
                <a:cs typeface="Arial"/>
              </a:rPr>
              <a:t> Mtra.</a:t>
            </a:r>
            <a:r>
              <a:rPr sz="85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FFFFFF"/>
                </a:solidFill>
                <a:latin typeface="Arial"/>
                <a:cs typeface="Arial"/>
              </a:rPr>
              <a:t>Reyna</a:t>
            </a:r>
            <a:r>
              <a:rPr sz="8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FFFFFF"/>
                </a:solidFill>
                <a:latin typeface="Arial"/>
                <a:cs typeface="Arial"/>
              </a:rPr>
              <a:t>Patricia</a:t>
            </a:r>
            <a:r>
              <a:rPr sz="85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FFFFFF"/>
                </a:solidFill>
                <a:latin typeface="Arial"/>
                <a:cs typeface="Arial"/>
              </a:rPr>
              <a:t>Gonzalez</a:t>
            </a:r>
            <a:r>
              <a:rPr sz="85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Arial"/>
                <a:cs typeface="Arial"/>
              </a:rPr>
              <a:t>Rodriguez </a:t>
            </a:r>
            <a:r>
              <a:rPr sz="850" dirty="0">
                <a:solidFill>
                  <a:srgbClr val="FFFFFF"/>
                </a:solidFill>
                <a:latin typeface="Arial"/>
                <a:cs typeface="Arial"/>
              </a:rPr>
              <a:t>Roma Norte,</a:t>
            </a:r>
            <a:r>
              <a:rPr sz="85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FFFFFF"/>
                </a:solidFill>
                <a:latin typeface="Arial"/>
                <a:cs typeface="Arial"/>
              </a:rPr>
              <a:t>Ciudad</a:t>
            </a:r>
            <a:r>
              <a:rPr sz="85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85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Arial"/>
                <a:cs typeface="Arial"/>
              </a:rPr>
              <a:t>Mexico</a:t>
            </a:r>
            <a:endParaRPr sz="85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335"/>
              </a:spcBef>
            </a:pPr>
            <a:r>
              <a:rPr sz="850" dirty="0">
                <a:solidFill>
                  <a:srgbClr val="FFFFFF"/>
                </a:solidFill>
                <a:latin typeface="Arial"/>
                <a:cs typeface="Arial"/>
              </a:rPr>
              <a:t>07 de junio de </a:t>
            </a:r>
            <a:r>
              <a:rPr sz="850" spc="-20" dirty="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850">
              <a:latin typeface="Arial"/>
              <a:cs typeface="Arial"/>
            </a:endParaRPr>
          </a:p>
        </p:txBody>
      </p:sp>
      <p:pic>
        <p:nvPicPr>
          <p:cNvPr id="29" name="Audio 28">
            <a:hlinkClick r:id="" action="ppaction://media"/>
            <a:extLst>
              <a:ext uri="{FF2B5EF4-FFF2-40B4-BE49-F238E27FC236}">
                <a16:creationId xmlns:a16="http://schemas.microsoft.com/office/drawing/2014/main" id="{EFC519B6-5F66-A32A-9B1E-676D01ED945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45781" t="-45781" r="-45781" b="-45781"/>
          <a:stretch>
            <a:fillRect/>
          </a:stretch>
        </p:blipFill>
        <p:spPr>
          <a:xfrm>
            <a:off x="5694324" y="2678074"/>
            <a:ext cx="1167765" cy="1167765"/>
          </a:xfrm>
          <a:prstGeom prst="ellipse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A24AA005-BA0F-5CF1-2F2D-21EA7939602F}"/>
              </a:ext>
            </a:extLst>
          </p:cNvPr>
          <p:cNvSpPr txBox="1"/>
          <p:nvPr/>
        </p:nvSpPr>
        <p:spPr>
          <a:xfrm>
            <a:off x="101600" y="3131444"/>
            <a:ext cx="3945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Video. https://youtu.be/jDz3qTvtFYE</a:t>
            </a:r>
            <a:r>
              <a:rPr lang="es-MX" dirty="0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  <p:transition advTm="26367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/>
          </a:p>
          <a:p>
            <a:pPr marL="125730">
              <a:lnSpc>
                <a:spcPct val="100000"/>
              </a:lnSpc>
            </a:pPr>
            <a:r>
              <a:rPr dirty="0"/>
              <a:t>Ruta</a:t>
            </a:r>
            <a:r>
              <a:rPr spc="-25" dirty="0"/>
              <a:t> </a:t>
            </a:r>
            <a:r>
              <a:rPr dirty="0"/>
              <a:t>del</a:t>
            </a:r>
            <a:r>
              <a:rPr spc="-20" dirty="0"/>
              <a:t> </a:t>
            </a:r>
            <a:r>
              <a:rPr dirty="0"/>
              <a:t>video</a:t>
            </a:r>
            <a:r>
              <a:rPr spc="-20" dirty="0"/>
              <a:t> </a:t>
            </a:r>
            <a:r>
              <a:rPr spc="-10" dirty="0"/>
              <a:t>academico</a:t>
            </a: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68096" y="1093736"/>
            <a:ext cx="3229610" cy="943610"/>
            <a:chOff x="168096" y="1093736"/>
            <a:chExt cx="3229610" cy="943610"/>
          </a:xfrm>
        </p:grpSpPr>
        <p:sp>
          <p:nvSpPr>
            <p:cNvPr id="6" name="object 6"/>
            <p:cNvSpPr/>
            <p:nvPr/>
          </p:nvSpPr>
          <p:spPr>
            <a:xfrm>
              <a:off x="168096" y="1093736"/>
              <a:ext cx="3229610" cy="200025"/>
            </a:xfrm>
            <a:custGeom>
              <a:avLst/>
              <a:gdLst/>
              <a:ahLst/>
              <a:cxnLst/>
              <a:rect l="l" t="t" r="r" b="b"/>
              <a:pathLst>
                <a:path w="3229610" h="200025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9909"/>
                  </a:lnTo>
                  <a:lnTo>
                    <a:pt x="3229292" y="199909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096" y="1280998"/>
              <a:ext cx="3229292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8096" y="1325269"/>
              <a:ext cx="3229610" cy="711835"/>
            </a:xfrm>
            <a:custGeom>
              <a:avLst/>
              <a:gdLst/>
              <a:ahLst/>
              <a:cxnLst/>
              <a:rect l="l" t="t" r="r" b="b"/>
              <a:pathLst>
                <a:path w="3229610" h="711835">
                  <a:moveTo>
                    <a:pt x="3229292" y="0"/>
                  </a:moveTo>
                  <a:lnTo>
                    <a:pt x="0" y="0"/>
                  </a:lnTo>
                  <a:lnTo>
                    <a:pt x="0" y="660985"/>
                  </a:lnTo>
                  <a:lnTo>
                    <a:pt x="4008" y="680709"/>
                  </a:lnTo>
                  <a:lnTo>
                    <a:pt x="14922" y="696862"/>
                  </a:lnTo>
                  <a:lnTo>
                    <a:pt x="31075" y="707777"/>
                  </a:lnTo>
                  <a:lnTo>
                    <a:pt x="50800" y="711785"/>
                  </a:lnTo>
                  <a:lnTo>
                    <a:pt x="3178491" y="711785"/>
                  </a:lnTo>
                  <a:lnTo>
                    <a:pt x="3198216" y="707777"/>
                  </a:lnTo>
                  <a:lnTo>
                    <a:pt x="3214369" y="696862"/>
                  </a:lnTo>
                  <a:lnTo>
                    <a:pt x="3225283" y="680709"/>
                  </a:lnTo>
                  <a:lnTo>
                    <a:pt x="3229292" y="660985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8096" y="2339644"/>
            <a:ext cx="3229292" cy="5060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305" y="1027026"/>
            <a:ext cx="3169920" cy="200787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509"/>
              </a:spcBef>
            </a:pPr>
            <a:r>
              <a:rPr sz="1150" b="1" dirty="0">
                <a:solidFill>
                  <a:srgbClr val="FFFFFF"/>
                </a:solidFill>
                <a:latin typeface="Arial"/>
                <a:cs typeface="Arial"/>
              </a:rPr>
              <a:t>Objetivo</a:t>
            </a:r>
            <a:r>
              <a:rPr sz="115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15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11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actividad</a:t>
            </a:r>
            <a:endParaRPr sz="1150">
              <a:latin typeface="Arial"/>
              <a:cs typeface="Arial"/>
            </a:endParaRPr>
          </a:p>
          <a:p>
            <a:pPr marL="33020" marR="5080">
              <a:lnSpc>
                <a:spcPct val="107500"/>
              </a:lnSpc>
              <a:spcBef>
                <a:spcPts val="280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Analizar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relacion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entre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justicia,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fines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derechos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humanos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mediante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caso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Ayotzinapa,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para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valorar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como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Estado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responde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ante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un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 problema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juridico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 contemporaneo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 Mexico.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050">
              <a:latin typeface="Arial"/>
              <a:cs typeface="Arial"/>
            </a:endParaRPr>
          </a:p>
          <a:p>
            <a:pPr marL="33020">
              <a:lnSpc>
                <a:spcPct val="100000"/>
              </a:lnSpc>
              <a:spcBef>
                <a:spcPts val="5"/>
              </a:spcBef>
            </a:pPr>
            <a:r>
              <a:rPr sz="1150" b="1" spc="-10" dirty="0">
                <a:solidFill>
                  <a:srgbClr val="B88A2A"/>
                </a:solidFill>
                <a:latin typeface="Arial"/>
                <a:cs typeface="Arial"/>
              </a:rPr>
              <a:t>Tesis</a:t>
            </a:r>
            <a:endParaRPr sz="1150">
              <a:latin typeface="Arial"/>
              <a:cs typeface="Arial"/>
            </a:endParaRPr>
          </a:p>
          <a:p>
            <a:pPr marL="33020" marR="38100">
              <a:lnSpc>
                <a:spcPct val="107500"/>
              </a:lnSpc>
              <a:spcBef>
                <a:spcPts val="190"/>
              </a:spcBef>
            </a:pP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Ayotzinapa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prueba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solo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una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falla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penal: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prueba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si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opera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como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limite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moral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poder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garantia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real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dignidad.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sz="550" spc="6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(Universidad</a:t>
            </a:r>
            <a:r>
              <a:rPr sz="550" spc="7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Abierta</a:t>
            </a:r>
            <a:r>
              <a:rPr sz="550" spc="6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y</a:t>
            </a:r>
            <a:r>
              <a:rPr sz="550" spc="7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a</a:t>
            </a:r>
            <a:r>
              <a:rPr sz="550" spc="7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Distancia</a:t>
            </a:r>
            <a:r>
              <a:rPr sz="550" spc="6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de</a:t>
            </a:r>
            <a:r>
              <a:rPr sz="550" spc="7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Mexico</a:t>
            </a:r>
            <a:r>
              <a:rPr sz="550" spc="7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[UnADM],</a:t>
            </a:r>
            <a:r>
              <a:rPr sz="550" spc="6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5D6B66"/>
                </a:solidFill>
                <a:latin typeface="Arial"/>
                <a:cs typeface="Arial"/>
              </a:rPr>
              <a:t>2026).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14648" y="1093736"/>
            <a:ext cx="3229610" cy="1059815"/>
            <a:chOff x="3514648" y="1093736"/>
            <a:chExt cx="3229610" cy="1059815"/>
          </a:xfrm>
        </p:grpSpPr>
        <p:sp>
          <p:nvSpPr>
            <p:cNvPr id="12" name="object 12"/>
            <p:cNvSpPr/>
            <p:nvPr/>
          </p:nvSpPr>
          <p:spPr>
            <a:xfrm>
              <a:off x="3514648" y="1093736"/>
              <a:ext cx="3229610" cy="202565"/>
            </a:xfrm>
            <a:custGeom>
              <a:avLst/>
              <a:gdLst/>
              <a:ahLst/>
              <a:cxnLst/>
              <a:rect l="l" t="t" r="r" b="b"/>
              <a:pathLst>
                <a:path w="3229609" h="202565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2168"/>
                  </a:lnTo>
                  <a:lnTo>
                    <a:pt x="3229292" y="202168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14648" y="1283246"/>
              <a:ext cx="3229292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514648" y="1327523"/>
              <a:ext cx="3229610" cy="826135"/>
            </a:xfrm>
            <a:custGeom>
              <a:avLst/>
              <a:gdLst/>
              <a:ahLst/>
              <a:cxnLst/>
              <a:rect l="l" t="t" r="r" b="b"/>
              <a:pathLst>
                <a:path w="3229609" h="826135">
                  <a:moveTo>
                    <a:pt x="3229292" y="0"/>
                  </a:moveTo>
                  <a:lnTo>
                    <a:pt x="0" y="0"/>
                  </a:lnTo>
                  <a:lnTo>
                    <a:pt x="0" y="774859"/>
                  </a:lnTo>
                  <a:lnTo>
                    <a:pt x="4008" y="794584"/>
                  </a:lnTo>
                  <a:lnTo>
                    <a:pt x="14922" y="810737"/>
                  </a:lnTo>
                  <a:lnTo>
                    <a:pt x="31075" y="821651"/>
                  </a:lnTo>
                  <a:lnTo>
                    <a:pt x="50800" y="825660"/>
                  </a:lnTo>
                  <a:lnTo>
                    <a:pt x="3178491" y="825660"/>
                  </a:lnTo>
                  <a:lnTo>
                    <a:pt x="3198216" y="821651"/>
                  </a:lnTo>
                  <a:lnTo>
                    <a:pt x="3214369" y="810737"/>
                  </a:lnTo>
                  <a:lnTo>
                    <a:pt x="3225283" y="794584"/>
                  </a:lnTo>
                  <a:lnTo>
                    <a:pt x="3229292" y="774859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52748" y="1049474"/>
            <a:ext cx="2677795" cy="107442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Organizacion</a:t>
            </a:r>
            <a:r>
              <a:rPr sz="115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tematica</a:t>
            </a:r>
            <a:endParaRPr sz="1150">
              <a:latin typeface="Arial"/>
              <a:cs typeface="Arial"/>
            </a:endParaRPr>
          </a:p>
          <a:p>
            <a:pPr marL="102235">
              <a:lnSpc>
                <a:spcPct val="100000"/>
              </a:lnSpc>
              <a:spcBef>
                <a:spcPts val="240"/>
              </a:spcBef>
            </a:pPr>
            <a:r>
              <a:rPr sz="1200" dirty="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sz="1200" spc="145" dirty="0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Caso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problema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central.</a:t>
            </a:r>
            <a:endParaRPr sz="1050">
              <a:latin typeface="Arial"/>
              <a:cs typeface="Arial"/>
            </a:endParaRPr>
          </a:p>
          <a:p>
            <a:pPr marL="102235">
              <a:lnSpc>
                <a:spcPct val="100000"/>
              </a:lnSpc>
              <a:spcBef>
                <a:spcPts val="215"/>
              </a:spcBef>
            </a:pPr>
            <a:r>
              <a:rPr sz="1200" dirty="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sz="1200" spc="114" dirty="0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Justicia,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equidad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normas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aplicables.</a:t>
            </a:r>
            <a:endParaRPr sz="1050">
              <a:latin typeface="Arial"/>
              <a:cs typeface="Arial"/>
            </a:endParaRPr>
          </a:p>
          <a:p>
            <a:pPr marL="102235">
              <a:lnSpc>
                <a:spcPct val="100000"/>
              </a:lnSpc>
              <a:spcBef>
                <a:spcPts val="215"/>
              </a:spcBef>
            </a:pPr>
            <a:r>
              <a:rPr sz="1200" dirty="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sz="1200" spc="105" dirty="0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Seguridad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juridica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derechos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humanos.</a:t>
            </a:r>
            <a:endParaRPr sz="1050">
              <a:latin typeface="Arial"/>
              <a:cs typeface="Arial"/>
            </a:endParaRPr>
          </a:p>
          <a:p>
            <a:pPr marL="102235">
              <a:lnSpc>
                <a:spcPct val="100000"/>
              </a:lnSpc>
              <a:spcBef>
                <a:spcPts val="215"/>
              </a:spcBef>
            </a:pPr>
            <a:r>
              <a:rPr sz="1200" dirty="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sz="1200" spc="145" dirty="0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Propuestas,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conclusion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fuentes.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17" name="object 17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spc="60" dirty="0"/>
              <a:t> </a:t>
            </a:r>
            <a:r>
              <a:rPr dirty="0"/>
              <a:t>del</a:t>
            </a:r>
            <a:r>
              <a:rPr spc="65" dirty="0"/>
              <a:t> </a:t>
            </a:r>
            <a:r>
              <a:rPr spc="-10" dirty="0"/>
              <a:t>Derecho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030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0" dirty="0"/>
              <a:t>2</a:t>
            </a:fld>
            <a:r>
              <a:rPr spc="-20" dirty="0"/>
              <a:t>/22</a:t>
            </a:r>
          </a:p>
        </p:txBody>
      </p:sp>
      <p:pic>
        <p:nvPicPr>
          <p:cNvPr id="26" name="Audio 25">
            <a:hlinkClick r:id="" action="ppaction://media"/>
            <a:extLst>
              <a:ext uri="{FF2B5EF4-FFF2-40B4-BE49-F238E27FC236}">
                <a16:creationId xmlns:a16="http://schemas.microsoft.com/office/drawing/2014/main" id="{7A998A6A-6DA4-C8BF-5E8A-587A8BB6559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45781" t="-45781" r="-45781" b="-45781"/>
          <a:stretch>
            <a:fillRect/>
          </a:stretch>
        </p:blipFill>
        <p:spPr>
          <a:xfrm>
            <a:off x="5694324" y="2678074"/>
            <a:ext cx="1167765" cy="1167765"/>
          </a:xfrm>
          <a:prstGeom prst="ellipse">
            <a:avLst/>
          </a:prstGeom>
        </p:spPr>
      </p:pic>
    </p:spTree>
  </p:cSld>
  <p:clrMapOvr>
    <a:masterClrMapping/>
  </p:clrMapOvr>
  <p:transition advTm="21399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005" y="0"/>
            <a:ext cx="6516370" cy="44640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 sz="1150">
              <a:latin typeface="Times New Roman"/>
              <a:cs typeface="Times New Roman"/>
            </a:endParaRPr>
          </a:p>
          <a:p>
            <a:pPr marL="125730">
              <a:lnSpc>
                <a:spcPct val="100000"/>
              </a:lnSpc>
            </a:pP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Contenido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5305" y="1181585"/>
            <a:ext cx="1642110" cy="1696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solidFill>
                  <a:srgbClr val="174A39"/>
                </a:solidFill>
                <a:latin typeface="Arial"/>
                <a:cs typeface="Arial"/>
                <a:hlinkClick r:id="rId5" action="ppaction://hlinksldjump"/>
              </a:rPr>
              <a:t>Caso</a:t>
            </a:r>
            <a:r>
              <a:rPr sz="1050" spc="-20" dirty="0">
                <a:solidFill>
                  <a:srgbClr val="174A39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050" dirty="0">
                <a:solidFill>
                  <a:srgbClr val="174A39"/>
                </a:solidFill>
                <a:latin typeface="Arial"/>
                <a:cs typeface="Arial"/>
                <a:hlinkClick r:id="rId5" action="ppaction://hlinksldjump"/>
              </a:rPr>
              <a:t>y</a:t>
            </a:r>
            <a:r>
              <a:rPr sz="1050" spc="-20" dirty="0">
                <a:solidFill>
                  <a:srgbClr val="174A39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050" spc="-10" dirty="0">
                <a:solidFill>
                  <a:srgbClr val="174A39"/>
                </a:solidFill>
                <a:latin typeface="Arial"/>
                <a:cs typeface="Arial"/>
                <a:hlinkClick r:id="rId5" action="ppaction://hlinksldjump"/>
              </a:rPr>
              <a:t>problema</a:t>
            </a:r>
            <a:endParaRPr sz="1050">
              <a:latin typeface="Arial"/>
              <a:cs typeface="Arial"/>
            </a:endParaRPr>
          </a:p>
          <a:p>
            <a:pPr marL="12700" marR="5080">
              <a:lnSpc>
                <a:spcPct val="314900"/>
              </a:lnSpc>
            </a:pPr>
            <a:r>
              <a:rPr sz="1050" dirty="0">
                <a:solidFill>
                  <a:srgbClr val="174A39"/>
                </a:solidFill>
                <a:latin typeface="Arial"/>
                <a:cs typeface="Arial"/>
                <a:hlinkClick r:id="rId6" action="ppaction://hlinksldjump"/>
              </a:rPr>
              <a:t>Justicia</a:t>
            </a:r>
            <a:r>
              <a:rPr sz="1050" spc="-35" dirty="0">
                <a:solidFill>
                  <a:srgbClr val="174A39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050" dirty="0">
                <a:solidFill>
                  <a:srgbClr val="174A39"/>
                </a:solidFill>
                <a:latin typeface="Arial"/>
                <a:cs typeface="Arial"/>
                <a:hlinkClick r:id="rId6" action="ppaction://hlinksldjump"/>
              </a:rPr>
              <a:t>y</a:t>
            </a:r>
            <a:r>
              <a:rPr sz="1050" spc="-35" dirty="0">
                <a:solidFill>
                  <a:srgbClr val="174A39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050" dirty="0">
                <a:solidFill>
                  <a:srgbClr val="174A39"/>
                </a:solidFill>
                <a:latin typeface="Arial"/>
                <a:cs typeface="Arial"/>
                <a:hlinkClick r:id="rId6" action="ppaction://hlinksldjump"/>
              </a:rPr>
              <a:t>fines</a:t>
            </a:r>
            <a:r>
              <a:rPr sz="1050" spc="-35" dirty="0">
                <a:solidFill>
                  <a:srgbClr val="174A39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050" dirty="0">
                <a:solidFill>
                  <a:srgbClr val="174A39"/>
                </a:solidFill>
                <a:latin typeface="Arial"/>
                <a:cs typeface="Arial"/>
                <a:hlinkClick r:id="rId6" action="ppaction://hlinksldjump"/>
              </a:rPr>
              <a:t>del</a:t>
            </a:r>
            <a:r>
              <a:rPr sz="1050" spc="-35" dirty="0">
                <a:solidFill>
                  <a:srgbClr val="174A39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1050" spc="-10" dirty="0">
                <a:solidFill>
                  <a:srgbClr val="174A39"/>
                </a:solidFill>
                <a:latin typeface="Arial"/>
                <a:cs typeface="Arial"/>
                <a:hlinkClick r:id="rId6" action="ppaction://hlinksldjump"/>
              </a:rPr>
              <a:t>Derecho</a:t>
            </a:r>
            <a:r>
              <a:rPr sz="1050" spc="-10" dirty="0">
                <a:solidFill>
                  <a:srgbClr val="174A39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74A39"/>
                </a:solidFill>
                <a:latin typeface="Arial"/>
                <a:cs typeface="Arial"/>
                <a:hlinkClick r:id="rId7" action="ppaction://hlinksldjump"/>
              </a:rPr>
              <a:t>Normas</a:t>
            </a:r>
            <a:r>
              <a:rPr sz="1050" spc="-15" dirty="0">
                <a:solidFill>
                  <a:srgbClr val="174A39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050" dirty="0">
                <a:solidFill>
                  <a:srgbClr val="174A39"/>
                </a:solidFill>
                <a:latin typeface="Arial"/>
                <a:cs typeface="Arial"/>
                <a:hlinkClick r:id="rId7" action="ppaction://hlinksldjump"/>
              </a:rPr>
              <a:t>y</a:t>
            </a:r>
            <a:r>
              <a:rPr sz="1050" spc="-15" dirty="0">
                <a:solidFill>
                  <a:srgbClr val="174A39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1050" spc="-10" dirty="0">
                <a:solidFill>
                  <a:srgbClr val="174A39"/>
                </a:solidFill>
                <a:latin typeface="Arial"/>
                <a:cs typeface="Arial"/>
                <a:hlinkClick r:id="rId7" action="ppaction://hlinksldjump"/>
              </a:rPr>
              <a:t>derechos</a:t>
            </a:r>
            <a:r>
              <a:rPr sz="1050" spc="-10" dirty="0">
                <a:solidFill>
                  <a:srgbClr val="174A39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74A39"/>
                </a:solidFill>
                <a:latin typeface="Arial"/>
                <a:cs typeface="Arial"/>
                <a:hlinkClick r:id="rId8" action="ppaction://hlinksldjump"/>
              </a:rPr>
              <a:t>Propuestas</a:t>
            </a:r>
            <a:r>
              <a:rPr sz="1050" spc="-35" dirty="0">
                <a:solidFill>
                  <a:srgbClr val="174A39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050" dirty="0">
                <a:solidFill>
                  <a:srgbClr val="174A39"/>
                </a:solidFill>
                <a:latin typeface="Arial"/>
                <a:cs typeface="Arial"/>
                <a:hlinkClick r:id="rId8" action="ppaction://hlinksldjump"/>
              </a:rPr>
              <a:t>y</a:t>
            </a:r>
            <a:r>
              <a:rPr sz="1050" spc="-35" dirty="0">
                <a:solidFill>
                  <a:srgbClr val="174A39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1050" spc="-10" dirty="0">
                <a:solidFill>
                  <a:srgbClr val="174A39"/>
                </a:solidFill>
                <a:latin typeface="Arial"/>
                <a:cs typeface="Arial"/>
                <a:hlinkClick r:id="rId8" action="ppaction://hlinksldjump"/>
              </a:rPr>
              <a:t>cierre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7" name="object 7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spc="60" dirty="0"/>
              <a:t> </a:t>
            </a:r>
            <a:r>
              <a:rPr dirty="0"/>
              <a:t>del</a:t>
            </a:r>
            <a:r>
              <a:rPr spc="65" dirty="0"/>
              <a:t> </a:t>
            </a:r>
            <a:r>
              <a:rPr spc="-10" dirty="0"/>
              <a:t>Derecho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030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0" dirty="0"/>
              <a:t>3</a:t>
            </a:fld>
            <a:r>
              <a:rPr spc="-20" dirty="0"/>
              <a:t>/22</a:t>
            </a:r>
          </a:p>
        </p:txBody>
      </p:sp>
      <p:pic>
        <p:nvPicPr>
          <p:cNvPr id="16" name="Audio 15">
            <a:hlinkClick r:id="" action="ppaction://media"/>
            <a:extLst>
              <a:ext uri="{FF2B5EF4-FFF2-40B4-BE49-F238E27FC236}">
                <a16:creationId xmlns:a16="http://schemas.microsoft.com/office/drawing/2014/main" id="{0F4CA186-4C5C-8CD2-BD42-6063BBBB1A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45781" t="-45781" r="-45781" b="-45781"/>
          <a:stretch>
            <a:fillRect/>
          </a:stretch>
        </p:blipFill>
        <p:spPr>
          <a:xfrm>
            <a:off x="5694324" y="2678074"/>
            <a:ext cx="1167765" cy="1167765"/>
          </a:xfrm>
          <a:prstGeom prst="ellipse">
            <a:avLst/>
          </a:prstGeom>
        </p:spPr>
      </p:pic>
    </p:spTree>
  </p:cSld>
  <p:clrMapOvr>
    <a:masterClrMapping/>
  </p:clrMapOvr>
  <p:transition advTm="4374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2967" y="1499998"/>
            <a:ext cx="2595880" cy="4044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50" dirty="0"/>
              <a:t>Caso</a:t>
            </a:r>
            <a:r>
              <a:rPr sz="2450" spc="170" dirty="0"/>
              <a:t> </a:t>
            </a:r>
            <a:r>
              <a:rPr sz="2450" dirty="0"/>
              <a:t>y</a:t>
            </a:r>
            <a:r>
              <a:rPr sz="2450" spc="185" dirty="0"/>
              <a:t> </a:t>
            </a:r>
            <a:r>
              <a:rPr sz="2450" spc="-10" dirty="0"/>
              <a:t>problema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782967" y="2033981"/>
            <a:ext cx="198628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dirty="0">
                <a:solidFill>
                  <a:srgbClr val="FFFFFF"/>
                </a:solidFill>
                <a:latin typeface="Arial"/>
                <a:cs typeface="Arial"/>
              </a:rPr>
              <a:t>Actividad</a:t>
            </a:r>
            <a:r>
              <a:rPr sz="11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15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1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FFFFFF"/>
                </a:solidFill>
                <a:latin typeface="Arial"/>
                <a:cs typeface="Arial"/>
              </a:rPr>
              <a:t>Video</a:t>
            </a:r>
            <a:r>
              <a:rPr sz="115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rial"/>
                <a:cs typeface="Arial"/>
              </a:rPr>
              <a:t>academico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7AC9DE4A-490C-0BAF-47A4-E5C00CA3169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45781" t="-45781" r="-45781" b="-45781"/>
          <a:stretch>
            <a:fillRect/>
          </a:stretch>
        </p:blipFill>
        <p:spPr>
          <a:xfrm>
            <a:off x="5694324" y="2678074"/>
            <a:ext cx="1167765" cy="1167765"/>
          </a:xfrm>
          <a:prstGeom prst="ellipse">
            <a:avLst/>
          </a:prstGeom>
        </p:spPr>
      </p:pic>
    </p:spTree>
  </p:cSld>
  <p:clrMapOvr>
    <a:masterClrMapping/>
  </p:clrMapOvr>
  <p:transition advTm="1870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9"/>
              </a:spcBef>
            </a:pPr>
            <a:endParaRPr/>
          </a:p>
          <a:p>
            <a:pPr marL="125730">
              <a:lnSpc>
                <a:spcPct val="100000"/>
              </a:lnSpc>
            </a:pPr>
            <a:r>
              <a:rPr dirty="0"/>
              <a:t>Caso</a:t>
            </a:r>
            <a:r>
              <a:rPr spc="-30" dirty="0"/>
              <a:t> </a:t>
            </a:r>
            <a:r>
              <a:rPr dirty="0"/>
              <a:t>elegido:</a:t>
            </a:r>
            <a:r>
              <a:rPr spc="-25" dirty="0"/>
              <a:t> </a:t>
            </a:r>
            <a:r>
              <a:rPr spc="-10" dirty="0"/>
              <a:t>Ayotzinapa</a:t>
            </a: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68071" y="959802"/>
            <a:ext cx="3099435" cy="927735"/>
            <a:chOff x="168071" y="959802"/>
            <a:chExt cx="3099435" cy="927735"/>
          </a:xfrm>
        </p:grpSpPr>
        <p:sp>
          <p:nvSpPr>
            <p:cNvPr id="6" name="object 6"/>
            <p:cNvSpPr/>
            <p:nvPr/>
          </p:nvSpPr>
          <p:spPr>
            <a:xfrm>
              <a:off x="168071" y="959802"/>
              <a:ext cx="3099435" cy="186055"/>
            </a:xfrm>
            <a:custGeom>
              <a:avLst/>
              <a:gdLst/>
              <a:ahLst/>
              <a:cxnLst/>
              <a:rect l="l" t="t" r="r" b="b"/>
              <a:pathLst>
                <a:path w="3099435" h="186055">
                  <a:moveTo>
                    <a:pt x="304824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582"/>
                  </a:lnTo>
                  <a:lnTo>
                    <a:pt x="3099042" y="185582"/>
                  </a:lnTo>
                  <a:lnTo>
                    <a:pt x="3099042" y="50800"/>
                  </a:lnTo>
                  <a:lnTo>
                    <a:pt x="3095033" y="31075"/>
                  </a:lnTo>
                  <a:lnTo>
                    <a:pt x="3084119" y="14922"/>
                  </a:lnTo>
                  <a:lnTo>
                    <a:pt x="3067966" y="4008"/>
                  </a:lnTo>
                  <a:lnTo>
                    <a:pt x="304824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071" y="1132738"/>
              <a:ext cx="3099042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8071" y="1177011"/>
              <a:ext cx="3099435" cy="710565"/>
            </a:xfrm>
            <a:custGeom>
              <a:avLst/>
              <a:gdLst/>
              <a:ahLst/>
              <a:cxnLst/>
              <a:rect l="l" t="t" r="r" b="b"/>
              <a:pathLst>
                <a:path w="3099435" h="710564">
                  <a:moveTo>
                    <a:pt x="3099042" y="0"/>
                  </a:moveTo>
                  <a:lnTo>
                    <a:pt x="0" y="0"/>
                  </a:lnTo>
                  <a:lnTo>
                    <a:pt x="0" y="659522"/>
                  </a:lnTo>
                  <a:lnTo>
                    <a:pt x="4008" y="679247"/>
                  </a:lnTo>
                  <a:lnTo>
                    <a:pt x="14922" y="695400"/>
                  </a:lnTo>
                  <a:lnTo>
                    <a:pt x="31075" y="706314"/>
                  </a:lnTo>
                  <a:lnTo>
                    <a:pt x="50800" y="710322"/>
                  </a:lnTo>
                  <a:lnTo>
                    <a:pt x="3048241" y="710322"/>
                  </a:lnTo>
                  <a:lnTo>
                    <a:pt x="3067966" y="706314"/>
                  </a:lnTo>
                  <a:lnTo>
                    <a:pt x="3084119" y="695400"/>
                  </a:lnTo>
                  <a:lnTo>
                    <a:pt x="3095033" y="679247"/>
                  </a:lnTo>
                  <a:lnTo>
                    <a:pt x="3099042" y="659522"/>
                  </a:lnTo>
                  <a:lnTo>
                    <a:pt x="309904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06171" y="905570"/>
            <a:ext cx="2822575" cy="43116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150" b="1" dirty="0">
                <a:solidFill>
                  <a:srgbClr val="FFFFFF"/>
                </a:solidFill>
                <a:latin typeface="Arial"/>
                <a:cs typeface="Arial"/>
              </a:rPr>
              <a:t>Hecho</a:t>
            </a:r>
            <a:r>
              <a:rPr sz="1150" b="1" spc="-20" dirty="0">
                <a:solidFill>
                  <a:srgbClr val="FFFFFF"/>
                </a:solidFill>
                <a:latin typeface="Arial"/>
                <a:cs typeface="Arial"/>
              </a:rPr>
              <a:t> base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Entre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noche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26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madrugada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27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171" y="1310989"/>
            <a:ext cx="2983865" cy="541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7500"/>
              </a:lnSpc>
              <a:spcBef>
                <a:spcPts val="100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septiembre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2014,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43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estudiantes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Escuela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Normal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Rural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“Raul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Isidro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Burgos”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desaparecieron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Iguala,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Guerrero.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8071" y="2013864"/>
            <a:ext cx="3099435" cy="1112520"/>
            <a:chOff x="168071" y="2013864"/>
            <a:chExt cx="3099435" cy="1112520"/>
          </a:xfrm>
        </p:grpSpPr>
        <p:sp>
          <p:nvSpPr>
            <p:cNvPr id="12" name="object 12"/>
            <p:cNvSpPr/>
            <p:nvPr/>
          </p:nvSpPr>
          <p:spPr>
            <a:xfrm>
              <a:off x="168071" y="2013864"/>
              <a:ext cx="3099435" cy="196850"/>
            </a:xfrm>
            <a:custGeom>
              <a:avLst/>
              <a:gdLst/>
              <a:ahLst/>
              <a:cxnLst/>
              <a:rect l="l" t="t" r="r" b="b"/>
              <a:pathLst>
                <a:path w="3099435" h="196850">
                  <a:moveTo>
                    <a:pt x="304824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774"/>
                  </a:lnTo>
                  <a:lnTo>
                    <a:pt x="3099042" y="196774"/>
                  </a:lnTo>
                  <a:lnTo>
                    <a:pt x="3099042" y="50800"/>
                  </a:lnTo>
                  <a:lnTo>
                    <a:pt x="3095033" y="31075"/>
                  </a:lnTo>
                  <a:lnTo>
                    <a:pt x="3084119" y="14922"/>
                  </a:lnTo>
                  <a:lnTo>
                    <a:pt x="3067966" y="4008"/>
                  </a:lnTo>
                  <a:lnTo>
                    <a:pt x="304824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071" y="2197976"/>
              <a:ext cx="3099042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68071" y="2242255"/>
              <a:ext cx="3099435" cy="883919"/>
            </a:xfrm>
            <a:custGeom>
              <a:avLst/>
              <a:gdLst/>
              <a:ahLst/>
              <a:cxnLst/>
              <a:rect l="l" t="t" r="r" b="b"/>
              <a:pathLst>
                <a:path w="3099435" h="883919">
                  <a:moveTo>
                    <a:pt x="3099042" y="0"/>
                  </a:moveTo>
                  <a:lnTo>
                    <a:pt x="0" y="0"/>
                  </a:lnTo>
                  <a:lnTo>
                    <a:pt x="0" y="833062"/>
                  </a:lnTo>
                  <a:lnTo>
                    <a:pt x="4008" y="852786"/>
                  </a:lnTo>
                  <a:lnTo>
                    <a:pt x="14922" y="868939"/>
                  </a:lnTo>
                  <a:lnTo>
                    <a:pt x="31075" y="879853"/>
                  </a:lnTo>
                  <a:lnTo>
                    <a:pt x="50800" y="883862"/>
                  </a:lnTo>
                  <a:lnTo>
                    <a:pt x="3048241" y="883862"/>
                  </a:lnTo>
                  <a:lnTo>
                    <a:pt x="3067966" y="879853"/>
                  </a:lnTo>
                  <a:lnTo>
                    <a:pt x="3084119" y="868939"/>
                  </a:lnTo>
                  <a:lnTo>
                    <a:pt x="3095033" y="852786"/>
                  </a:lnTo>
                  <a:lnTo>
                    <a:pt x="3099042" y="833062"/>
                  </a:lnTo>
                  <a:lnTo>
                    <a:pt x="309904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06171" y="1944003"/>
            <a:ext cx="2553335" cy="461009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150" b="1" dirty="0">
                <a:solidFill>
                  <a:srgbClr val="FFFFFF"/>
                </a:solidFill>
                <a:latin typeface="Arial"/>
                <a:cs typeface="Arial"/>
              </a:rPr>
              <a:t>Por</a:t>
            </a:r>
            <a:r>
              <a:rPr sz="11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sz="115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FFFFFF"/>
                </a:solidFill>
                <a:latin typeface="Arial"/>
                <a:cs typeface="Arial"/>
              </a:rPr>
              <a:t>es</a:t>
            </a:r>
            <a:r>
              <a:rPr sz="115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relevante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Como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documenta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CNDH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(2024),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caso</a:t>
            </a:r>
            <a:endParaRPr sz="1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6171" y="2379301"/>
            <a:ext cx="2990850" cy="713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0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concentra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privacion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libertad,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afectacion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a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integridad,</a:t>
            </a:r>
            <a:r>
              <a:rPr sz="1050" spc="-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dolor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prolongado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victimas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indirectas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fallas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busqueda,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investigacion,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verdad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justicia.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84333" y="1147064"/>
            <a:ext cx="3359641" cy="5060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422434" y="893091"/>
            <a:ext cx="2893060" cy="461009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150" b="1" spc="-10" dirty="0">
                <a:solidFill>
                  <a:srgbClr val="B88A2A"/>
                </a:solidFill>
                <a:latin typeface="Arial"/>
                <a:cs typeface="Arial"/>
              </a:rPr>
              <a:t>Problema</a:t>
            </a:r>
            <a:r>
              <a:rPr sz="1150" b="1" spc="50" dirty="0">
                <a:solidFill>
                  <a:srgbClr val="B88A2A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B88A2A"/>
                </a:solidFill>
                <a:latin typeface="Arial"/>
                <a:cs typeface="Arial"/>
              </a:rPr>
              <a:t>filosofico-juridico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Que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ocurre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cuando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propio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aparato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estatal,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por</a:t>
            </a:r>
            <a:endParaRPr sz="1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22434" y="1328376"/>
            <a:ext cx="3214370" cy="369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0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accion,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omision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o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encubrimiento,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deja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operar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como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garantia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se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convierte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fuente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vulneracion.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384333" y="1859165"/>
            <a:ext cx="3359785" cy="739140"/>
            <a:chOff x="3384333" y="1859165"/>
            <a:chExt cx="3359785" cy="739140"/>
          </a:xfrm>
        </p:grpSpPr>
        <p:sp>
          <p:nvSpPr>
            <p:cNvPr id="21" name="object 21"/>
            <p:cNvSpPr/>
            <p:nvPr/>
          </p:nvSpPr>
          <p:spPr>
            <a:xfrm>
              <a:off x="3384333" y="1859165"/>
              <a:ext cx="3359785" cy="196850"/>
            </a:xfrm>
            <a:custGeom>
              <a:avLst/>
              <a:gdLst/>
              <a:ahLst/>
              <a:cxnLst/>
              <a:rect l="l" t="t" r="r" b="b"/>
              <a:pathLst>
                <a:path w="3359784" h="196850">
                  <a:moveTo>
                    <a:pt x="3308840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6774"/>
                  </a:lnTo>
                  <a:lnTo>
                    <a:pt x="3359641" y="196774"/>
                  </a:lnTo>
                  <a:lnTo>
                    <a:pt x="3359641" y="50800"/>
                  </a:lnTo>
                  <a:lnTo>
                    <a:pt x="3355632" y="31075"/>
                  </a:lnTo>
                  <a:lnTo>
                    <a:pt x="3344718" y="14922"/>
                  </a:lnTo>
                  <a:lnTo>
                    <a:pt x="3328565" y="4008"/>
                  </a:lnTo>
                  <a:lnTo>
                    <a:pt x="3308840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84333" y="2043290"/>
              <a:ext cx="3359641" cy="5060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384333" y="2087566"/>
              <a:ext cx="3359785" cy="510540"/>
            </a:xfrm>
            <a:custGeom>
              <a:avLst/>
              <a:gdLst/>
              <a:ahLst/>
              <a:cxnLst/>
              <a:rect l="l" t="t" r="r" b="b"/>
              <a:pathLst>
                <a:path w="3359784" h="510539">
                  <a:moveTo>
                    <a:pt x="3359641" y="0"/>
                  </a:moveTo>
                  <a:lnTo>
                    <a:pt x="0" y="0"/>
                  </a:lnTo>
                  <a:lnTo>
                    <a:pt x="0" y="459380"/>
                  </a:lnTo>
                  <a:lnTo>
                    <a:pt x="4008" y="479105"/>
                  </a:lnTo>
                  <a:lnTo>
                    <a:pt x="14922" y="495258"/>
                  </a:lnTo>
                  <a:lnTo>
                    <a:pt x="31075" y="506172"/>
                  </a:lnTo>
                  <a:lnTo>
                    <a:pt x="50800" y="510180"/>
                  </a:lnTo>
                  <a:lnTo>
                    <a:pt x="3308840" y="510180"/>
                  </a:lnTo>
                  <a:lnTo>
                    <a:pt x="3328565" y="506172"/>
                  </a:lnTo>
                  <a:lnTo>
                    <a:pt x="3344718" y="495258"/>
                  </a:lnTo>
                  <a:lnTo>
                    <a:pt x="3355632" y="479105"/>
                  </a:lnTo>
                  <a:lnTo>
                    <a:pt x="3359641" y="459380"/>
                  </a:lnTo>
                  <a:lnTo>
                    <a:pt x="3359641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422434" y="1792672"/>
            <a:ext cx="2951480" cy="454659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150" b="1" dirty="0">
                <a:solidFill>
                  <a:srgbClr val="FFFFFF"/>
                </a:solidFill>
                <a:latin typeface="Arial"/>
                <a:cs typeface="Arial"/>
              </a:rPr>
              <a:t>Lectura</a:t>
            </a:r>
            <a:r>
              <a:rPr sz="115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115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reporte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caso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debe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analizarse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como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cruce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entre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validez</a:t>
            </a:r>
            <a:endParaRPr sz="10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22434" y="2221529"/>
            <a:ext cx="2548255" cy="369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0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juridica,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responsabilidad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 etica</a:t>
            </a:r>
            <a:r>
              <a:rPr sz="10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legitimidad institucional.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5305" y="3122885"/>
            <a:ext cx="3215640" cy="113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(Comision</a:t>
            </a:r>
            <a:r>
              <a:rPr sz="550" spc="8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Nacional</a:t>
            </a:r>
            <a:r>
              <a:rPr sz="550" spc="8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de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los</a:t>
            </a:r>
            <a:r>
              <a:rPr sz="550" spc="8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Derechos</a:t>
            </a:r>
            <a:r>
              <a:rPr sz="550" spc="8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Humanos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[CNDH],</a:t>
            </a:r>
            <a:r>
              <a:rPr sz="550" spc="8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2024;</a:t>
            </a:r>
            <a:r>
              <a:rPr sz="550" spc="8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Camara</a:t>
            </a:r>
            <a:r>
              <a:rPr sz="550" spc="8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de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Diputados,</a:t>
            </a:r>
            <a:r>
              <a:rPr sz="550" spc="8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5D6B66"/>
                </a:solidFill>
                <a:latin typeface="Arial"/>
                <a:cs typeface="Arial"/>
              </a:rPr>
              <a:t>2026b).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28" name="object 28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spc="60" dirty="0"/>
              <a:t> </a:t>
            </a:r>
            <a:r>
              <a:rPr dirty="0"/>
              <a:t>del</a:t>
            </a:r>
            <a:r>
              <a:rPr spc="65" dirty="0"/>
              <a:t> </a:t>
            </a:r>
            <a:r>
              <a:rPr spc="-10" dirty="0"/>
              <a:t>Derecho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030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0" dirty="0"/>
              <a:t>5</a:t>
            </a:fld>
            <a:r>
              <a:rPr spc="-20" dirty="0"/>
              <a:t>/22</a:t>
            </a:r>
          </a:p>
        </p:txBody>
      </p:sp>
      <p:pic>
        <p:nvPicPr>
          <p:cNvPr id="36" name="Audio 35">
            <a:hlinkClick r:id="" action="ppaction://media"/>
            <a:extLst>
              <a:ext uri="{FF2B5EF4-FFF2-40B4-BE49-F238E27FC236}">
                <a16:creationId xmlns:a16="http://schemas.microsoft.com/office/drawing/2014/main" id="{4FB4316D-F99E-DF8F-D964-0521420AC7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45781" t="-45781" r="-45781" b="-45781"/>
          <a:stretch>
            <a:fillRect/>
          </a:stretch>
        </p:blipFill>
        <p:spPr>
          <a:xfrm>
            <a:off x="5694324" y="2678074"/>
            <a:ext cx="1167765" cy="1167765"/>
          </a:xfrm>
          <a:prstGeom prst="ellipse">
            <a:avLst/>
          </a:prstGeom>
        </p:spPr>
      </p:pic>
    </p:spTree>
  </p:cSld>
  <p:clrMapOvr>
    <a:masterClrMapping/>
  </p:clrMapOvr>
  <p:transition advTm="40707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/>
          </a:p>
          <a:p>
            <a:pPr marL="125730">
              <a:lnSpc>
                <a:spcPct val="100000"/>
              </a:lnSpc>
            </a:pPr>
            <a:r>
              <a:rPr dirty="0"/>
              <a:t>Del</a:t>
            </a:r>
            <a:r>
              <a:rPr spc="-15" dirty="0"/>
              <a:t> </a:t>
            </a:r>
            <a:r>
              <a:rPr dirty="0"/>
              <a:t>hecho</a:t>
            </a:r>
            <a:r>
              <a:rPr spc="-15" dirty="0"/>
              <a:t> </a:t>
            </a:r>
            <a:r>
              <a:rPr dirty="0"/>
              <a:t>al</a:t>
            </a:r>
            <a:r>
              <a:rPr spc="-10" dirty="0"/>
              <a:t> problema</a:t>
            </a:r>
            <a:r>
              <a:rPr spc="-1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10" dirty="0"/>
              <a:t>Derecho</a:t>
            </a: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93318" y="1131527"/>
            <a:ext cx="1331595" cy="552450"/>
            <a:chOff x="393318" y="1131527"/>
            <a:chExt cx="1331595" cy="552450"/>
          </a:xfrm>
        </p:grpSpPr>
        <p:sp>
          <p:nvSpPr>
            <p:cNvPr id="6" name="object 6"/>
            <p:cNvSpPr/>
            <p:nvPr/>
          </p:nvSpPr>
          <p:spPr>
            <a:xfrm>
              <a:off x="396175" y="1134384"/>
              <a:ext cx="1325880" cy="546735"/>
            </a:xfrm>
            <a:custGeom>
              <a:avLst/>
              <a:gdLst/>
              <a:ahLst/>
              <a:cxnLst/>
              <a:rect l="l" t="t" r="r" b="b"/>
              <a:pathLst>
                <a:path w="1325880" h="546735">
                  <a:moveTo>
                    <a:pt x="1270656" y="0"/>
                  </a:moveTo>
                  <a:lnTo>
                    <a:pt x="54868" y="0"/>
                  </a:lnTo>
                  <a:lnTo>
                    <a:pt x="33510" y="4311"/>
                  </a:lnTo>
                  <a:lnTo>
                    <a:pt x="16070" y="16070"/>
                  </a:lnTo>
                  <a:lnTo>
                    <a:pt x="4311" y="33510"/>
                  </a:lnTo>
                  <a:lnTo>
                    <a:pt x="0" y="54868"/>
                  </a:lnTo>
                  <a:lnTo>
                    <a:pt x="0" y="491411"/>
                  </a:lnTo>
                  <a:lnTo>
                    <a:pt x="4311" y="512768"/>
                  </a:lnTo>
                  <a:lnTo>
                    <a:pt x="16070" y="530209"/>
                  </a:lnTo>
                  <a:lnTo>
                    <a:pt x="33510" y="541967"/>
                  </a:lnTo>
                  <a:lnTo>
                    <a:pt x="54868" y="546279"/>
                  </a:lnTo>
                  <a:lnTo>
                    <a:pt x="1270656" y="546279"/>
                  </a:lnTo>
                  <a:lnTo>
                    <a:pt x="1292013" y="541967"/>
                  </a:lnTo>
                  <a:lnTo>
                    <a:pt x="1309454" y="530209"/>
                  </a:lnTo>
                  <a:lnTo>
                    <a:pt x="1321213" y="512768"/>
                  </a:lnTo>
                  <a:lnTo>
                    <a:pt x="1325524" y="491411"/>
                  </a:lnTo>
                  <a:lnTo>
                    <a:pt x="1325524" y="54868"/>
                  </a:lnTo>
                  <a:lnTo>
                    <a:pt x="1321213" y="33510"/>
                  </a:lnTo>
                  <a:lnTo>
                    <a:pt x="1309454" y="16070"/>
                  </a:lnTo>
                  <a:lnTo>
                    <a:pt x="1292013" y="4311"/>
                  </a:lnTo>
                  <a:lnTo>
                    <a:pt x="1270656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6175" y="1134384"/>
              <a:ext cx="1325880" cy="546735"/>
            </a:xfrm>
            <a:custGeom>
              <a:avLst/>
              <a:gdLst/>
              <a:ahLst/>
              <a:cxnLst/>
              <a:rect l="l" t="t" r="r" b="b"/>
              <a:pathLst>
                <a:path w="1325880" h="546735">
                  <a:moveTo>
                    <a:pt x="1270656" y="0"/>
                  </a:moveTo>
                  <a:lnTo>
                    <a:pt x="54868" y="0"/>
                  </a:lnTo>
                  <a:lnTo>
                    <a:pt x="33510" y="4311"/>
                  </a:lnTo>
                  <a:lnTo>
                    <a:pt x="16070" y="16070"/>
                  </a:lnTo>
                  <a:lnTo>
                    <a:pt x="4311" y="33510"/>
                  </a:lnTo>
                  <a:lnTo>
                    <a:pt x="0" y="54868"/>
                  </a:lnTo>
                  <a:lnTo>
                    <a:pt x="0" y="491411"/>
                  </a:lnTo>
                  <a:lnTo>
                    <a:pt x="4311" y="512768"/>
                  </a:lnTo>
                  <a:lnTo>
                    <a:pt x="16070" y="530209"/>
                  </a:lnTo>
                  <a:lnTo>
                    <a:pt x="33510" y="541967"/>
                  </a:lnTo>
                  <a:lnTo>
                    <a:pt x="54868" y="546279"/>
                  </a:lnTo>
                  <a:lnTo>
                    <a:pt x="1270656" y="546279"/>
                  </a:lnTo>
                  <a:lnTo>
                    <a:pt x="1292013" y="541967"/>
                  </a:lnTo>
                  <a:lnTo>
                    <a:pt x="1309454" y="530209"/>
                  </a:lnTo>
                  <a:lnTo>
                    <a:pt x="1321213" y="512768"/>
                  </a:lnTo>
                  <a:lnTo>
                    <a:pt x="1325524" y="491411"/>
                  </a:lnTo>
                  <a:lnTo>
                    <a:pt x="1325524" y="54868"/>
                  </a:lnTo>
                  <a:lnTo>
                    <a:pt x="1321213" y="33510"/>
                  </a:lnTo>
                  <a:lnTo>
                    <a:pt x="1309454" y="16070"/>
                  </a:lnTo>
                  <a:lnTo>
                    <a:pt x="1292013" y="4311"/>
                  </a:lnTo>
                  <a:lnTo>
                    <a:pt x="1270656" y="0"/>
                  </a:lnTo>
                  <a:close/>
                </a:path>
              </a:pathLst>
            </a:custGeom>
            <a:ln w="5486">
              <a:solidFill>
                <a:srgbClr val="C7D7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9584" y="1131295"/>
            <a:ext cx="1139190" cy="51308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065" marR="5080" algn="ctr">
              <a:lnSpc>
                <a:spcPct val="108000"/>
              </a:lnSpc>
              <a:spcBef>
                <a:spcPts val="40"/>
              </a:spcBef>
            </a:pPr>
            <a:r>
              <a:rPr sz="1000" b="1" spc="-20" dirty="0">
                <a:solidFill>
                  <a:srgbClr val="1F2A24"/>
                </a:solidFill>
                <a:latin typeface="Arial"/>
                <a:cs typeface="Arial"/>
              </a:rPr>
              <a:t>Hecho</a:t>
            </a:r>
            <a:r>
              <a:rPr sz="1000" b="1" spc="50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F2A24"/>
                </a:solidFill>
                <a:latin typeface="Arial"/>
                <a:cs typeface="Arial"/>
              </a:rPr>
              <a:t>desaparicion</a:t>
            </a:r>
            <a:r>
              <a:rPr sz="1000" spc="28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sz="1000" dirty="0">
                <a:solidFill>
                  <a:srgbClr val="1F2A24"/>
                </a:solidFill>
                <a:latin typeface="Arial"/>
                <a:cs typeface="Arial"/>
              </a:rPr>
              <a:t>fallas</a:t>
            </a:r>
            <a:r>
              <a:rPr sz="1000" spc="10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00" spc="10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1F2A24"/>
                </a:solidFill>
                <a:latin typeface="Arial"/>
                <a:cs typeface="Arial"/>
              </a:rPr>
              <a:t>busqueda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978014" y="1131527"/>
            <a:ext cx="1331595" cy="552450"/>
            <a:chOff x="1978014" y="1131527"/>
            <a:chExt cx="1331595" cy="552450"/>
          </a:xfrm>
        </p:grpSpPr>
        <p:sp>
          <p:nvSpPr>
            <p:cNvPr id="10" name="object 10"/>
            <p:cNvSpPr/>
            <p:nvPr/>
          </p:nvSpPr>
          <p:spPr>
            <a:xfrm>
              <a:off x="1980872" y="1134384"/>
              <a:ext cx="1325880" cy="546735"/>
            </a:xfrm>
            <a:custGeom>
              <a:avLst/>
              <a:gdLst/>
              <a:ahLst/>
              <a:cxnLst/>
              <a:rect l="l" t="t" r="r" b="b"/>
              <a:pathLst>
                <a:path w="1325879" h="546735">
                  <a:moveTo>
                    <a:pt x="1270656" y="0"/>
                  </a:moveTo>
                  <a:lnTo>
                    <a:pt x="54868" y="0"/>
                  </a:lnTo>
                  <a:lnTo>
                    <a:pt x="33510" y="4311"/>
                  </a:lnTo>
                  <a:lnTo>
                    <a:pt x="16070" y="16070"/>
                  </a:lnTo>
                  <a:lnTo>
                    <a:pt x="4311" y="33510"/>
                  </a:lnTo>
                  <a:lnTo>
                    <a:pt x="0" y="54868"/>
                  </a:lnTo>
                  <a:lnTo>
                    <a:pt x="0" y="491411"/>
                  </a:lnTo>
                  <a:lnTo>
                    <a:pt x="4311" y="512768"/>
                  </a:lnTo>
                  <a:lnTo>
                    <a:pt x="16070" y="530209"/>
                  </a:lnTo>
                  <a:lnTo>
                    <a:pt x="33510" y="541967"/>
                  </a:lnTo>
                  <a:lnTo>
                    <a:pt x="54868" y="546279"/>
                  </a:lnTo>
                  <a:lnTo>
                    <a:pt x="1270656" y="546279"/>
                  </a:lnTo>
                  <a:lnTo>
                    <a:pt x="1292014" y="541967"/>
                  </a:lnTo>
                  <a:lnTo>
                    <a:pt x="1309454" y="530209"/>
                  </a:lnTo>
                  <a:lnTo>
                    <a:pt x="1321213" y="512768"/>
                  </a:lnTo>
                  <a:lnTo>
                    <a:pt x="1325525" y="491411"/>
                  </a:lnTo>
                  <a:lnTo>
                    <a:pt x="1325525" y="54868"/>
                  </a:lnTo>
                  <a:lnTo>
                    <a:pt x="1321213" y="33510"/>
                  </a:lnTo>
                  <a:lnTo>
                    <a:pt x="1309454" y="16070"/>
                  </a:lnTo>
                  <a:lnTo>
                    <a:pt x="1292014" y="4311"/>
                  </a:lnTo>
                  <a:lnTo>
                    <a:pt x="1270656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80872" y="1134384"/>
              <a:ext cx="1325880" cy="546735"/>
            </a:xfrm>
            <a:custGeom>
              <a:avLst/>
              <a:gdLst/>
              <a:ahLst/>
              <a:cxnLst/>
              <a:rect l="l" t="t" r="r" b="b"/>
              <a:pathLst>
                <a:path w="1325879" h="546735">
                  <a:moveTo>
                    <a:pt x="1270656" y="0"/>
                  </a:moveTo>
                  <a:lnTo>
                    <a:pt x="54868" y="0"/>
                  </a:lnTo>
                  <a:lnTo>
                    <a:pt x="33510" y="4311"/>
                  </a:lnTo>
                  <a:lnTo>
                    <a:pt x="16070" y="16070"/>
                  </a:lnTo>
                  <a:lnTo>
                    <a:pt x="4311" y="33510"/>
                  </a:lnTo>
                  <a:lnTo>
                    <a:pt x="0" y="54868"/>
                  </a:lnTo>
                  <a:lnTo>
                    <a:pt x="0" y="491411"/>
                  </a:lnTo>
                  <a:lnTo>
                    <a:pt x="4311" y="512768"/>
                  </a:lnTo>
                  <a:lnTo>
                    <a:pt x="16070" y="530209"/>
                  </a:lnTo>
                  <a:lnTo>
                    <a:pt x="33510" y="541967"/>
                  </a:lnTo>
                  <a:lnTo>
                    <a:pt x="54868" y="546279"/>
                  </a:lnTo>
                  <a:lnTo>
                    <a:pt x="1270656" y="546279"/>
                  </a:lnTo>
                  <a:lnTo>
                    <a:pt x="1292014" y="541967"/>
                  </a:lnTo>
                  <a:lnTo>
                    <a:pt x="1309454" y="530209"/>
                  </a:lnTo>
                  <a:lnTo>
                    <a:pt x="1321213" y="512768"/>
                  </a:lnTo>
                  <a:lnTo>
                    <a:pt x="1325525" y="491411"/>
                  </a:lnTo>
                  <a:lnTo>
                    <a:pt x="1325525" y="54868"/>
                  </a:lnTo>
                  <a:lnTo>
                    <a:pt x="1321213" y="33510"/>
                  </a:lnTo>
                  <a:lnTo>
                    <a:pt x="1309454" y="16070"/>
                  </a:lnTo>
                  <a:lnTo>
                    <a:pt x="1292014" y="4311"/>
                  </a:lnTo>
                  <a:lnTo>
                    <a:pt x="1270656" y="0"/>
                  </a:lnTo>
                  <a:close/>
                </a:path>
              </a:pathLst>
            </a:custGeom>
            <a:ln w="5486">
              <a:solidFill>
                <a:srgbClr val="C7D7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64405" y="1131295"/>
            <a:ext cx="1158875" cy="5130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000" b="1" spc="-10" dirty="0">
                <a:solidFill>
                  <a:srgbClr val="1F2A24"/>
                </a:solidFill>
                <a:latin typeface="Arial"/>
                <a:cs typeface="Arial"/>
              </a:rPr>
              <a:t>Derechos</a:t>
            </a:r>
            <a:endParaRPr sz="1000">
              <a:latin typeface="Arial"/>
              <a:cs typeface="Arial"/>
            </a:endParaRPr>
          </a:p>
          <a:p>
            <a:pPr marL="12700" marR="5080" algn="ctr">
              <a:lnSpc>
                <a:spcPct val="108000"/>
              </a:lnSpc>
            </a:pPr>
            <a:r>
              <a:rPr sz="1000" dirty="0">
                <a:solidFill>
                  <a:srgbClr val="1F2A24"/>
                </a:solidFill>
                <a:latin typeface="Arial"/>
                <a:cs typeface="Arial"/>
              </a:rPr>
              <a:t>libertad,</a:t>
            </a:r>
            <a:r>
              <a:rPr sz="1000" spc="2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1F2A24"/>
                </a:solidFill>
                <a:latin typeface="Arial"/>
                <a:cs typeface="Arial"/>
              </a:rPr>
              <a:t>integridad, </a:t>
            </a:r>
            <a:r>
              <a:rPr sz="1000" dirty="0">
                <a:solidFill>
                  <a:srgbClr val="1F2A24"/>
                </a:solidFill>
                <a:latin typeface="Arial"/>
                <a:cs typeface="Arial"/>
              </a:rPr>
              <a:t>verdad</a:t>
            </a:r>
            <a:r>
              <a:rPr sz="1000" spc="114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00" spc="114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1F2A24"/>
                </a:solidFill>
                <a:latin typeface="Arial"/>
                <a:cs typeface="Arial"/>
              </a:rPr>
              <a:t>justicia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62711" y="1130736"/>
            <a:ext cx="1331595" cy="553720"/>
            <a:chOff x="3562711" y="1130736"/>
            <a:chExt cx="1331595" cy="553720"/>
          </a:xfrm>
        </p:grpSpPr>
        <p:sp>
          <p:nvSpPr>
            <p:cNvPr id="14" name="object 14"/>
            <p:cNvSpPr/>
            <p:nvPr/>
          </p:nvSpPr>
          <p:spPr>
            <a:xfrm>
              <a:off x="3565568" y="1133594"/>
              <a:ext cx="1325880" cy="548005"/>
            </a:xfrm>
            <a:custGeom>
              <a:avLst/>
              <a:gdLst/>
              <a:ahLst/>
              <a:cxnLst/>
              <a:rect l="l" t="t" r="r" b="b"/>
              <a:pathLst>
                <a:path w="1325879" h="548005">
                  <a:moveTo>
                    <a:pt x="1270656" y="0"/>
                  </a:moveTo>
                  <a:lnTo>
                    <a:pt x="54868" y="0"/>
                  </a:lnTo>
                  <a:lnTo>
                    <a:pt x="33510" y="4311"/>
                  </a:lnTo>
                  <a:lnTo>
                    <a:pt x="16070" y="16070"/>
                  </a:lnTo>
                  <a:lnTo>
                    <a:pt x="4311" y="33510"/>
                  </a:lnTo>
                  <a:lnTo>
                    <a:pt x="0" y="54868"/>
                  </a:lnTo>
                  <a:lnTo>
                    <a:pt x="0" y="492992"/>
                  </a:lnTo>
                  <a:lnTo>
                    <a:pt x="4311" y="514349"/>
                  </a:lnTo>
                  <a:lnTo>
                    <a:pt x="16070" y="531789"/>
                  </a:lnTo>
                  <a:lnTo>
                    <a:pt x="33510" y="543548"/>
                  </a:lnTo>
                  <a:lnTo>
                    <a:pt x="54868" y="547860"/>
                  </a:lnTo>
                  <a:lnTo>
                    <a:pt x="1270656" y="547860"/>
                  </a:lnTo>
                  <a:lnTo>
                    <a:pt x="1292014" y="543548"/>
                  </a:lnTo>
                  <a:lnTo>
                    <a:pt x="1309454" y="531789"/>
                  </a:lnTo>
                  <a:lnTo>
                    <a:pt x="1321213" y="514349"/>
                  </a:lnTo>
                  <a:lnTo>
                    <a:pt x="1325525" y="492992"/>
                  </a:lnTo>
                  <a:lnTo>
                    <a:pt x="1325525" y="54868"/>
                  </a:lnTo>
                  <a:lnTo>
                    <a:pt x="1321213" y="33510"/>
                  </a:lnTo>
                  <a:lnTo>
                    <a:pt x="1309454" y="16070"/>
                  </a:lnTo>
                  <a:lnTo>
                    <a:pt x="1292014" y="4311"/>
                  </a:lnTo>
                  <a:lnTo>
                    <a:pt x="1270656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65568" y="1133594"/>
              <a:ext cx="1325880" cy="548005"/>
            </a:xfrm>
            <a:custGeom>
              <a:avLst/>
              <a:gdLst/>
              <a:ahLst/>
              <a:cxnLst/>
              <a:rect l="l" t="t" r="r" b="b"/>
              <a:pathLst>
                <a:path w="1325879" h="548005">
                  <a:moveTo>
                    <a:pt x="1270656" y="0"/>
                  </a:moveTo>
                  <a:lnTo>
                    <a:pt x="54868" y="0"/>
                  </a:lnTo>
                  <a:lnTo>
                    <a:pt x="33510" y="4311"/>
                  </a:lnTo>
                  <a:lnTo>
                    <a:pt x="16070" y="16070"/>
                  </a:lnTo>
                  <a:lnTo>
                    <a:pt x="4311" y="33510"/>
                  </a:lnTo>
                  <a:lnTo>
                    <a:pt x="0" y="54868"/>
                  </a:lnTo>
                  <a:lnTo>
                    <a:pt x="0" y="492992"/>
                  </a:lnTo>
                  <a:lnTo>
                    <a:pt x="4311" y="514349"/>
                  </a:lnTo>
                  <a:lnTo>
                    <a:pt x="16070" y="531789"/>
                  </a:lnTo>
                  <a:lnTo>
                    <a:pt x="33510" y="543548"/>
                  </a:lnTo>
                  <a:lnTo>
                    <a:pt x="54868" y="547860"/>
                  </a:lnTo>
                  <a:lnTo>
                    <a:pt x="1270656" y="547860"/>
                  </a:lnTo>
                  <a:lnTo>
                    <a:pt x="1292014" y="543548"/>
                  </a:lnTo>
                  <a:lnTo>
                    <a:pt x="1309454" y="531789"/>
                  </a:lnTo>
                  <a:lnTo>
                    <a:pt x="1321213" y="514349"/>
                  </a:lnTo>
                  <a:lnTo>
                    <a:pt x="1325525" y="492992"/>
                  </a:lnTo>
                  <a:lnTo>
                    <a:pt x="1325525" y="54868"/>
                  </a:lnTo>
                  <a:lnTo>
                    <a:pt x="1321213" y="33510"/>
                  </a:lnTo>
                  <a:lnTo>
                    <a:pt x="1309454" y="16070"/>
                  </a:lnTo>
                  <a:lnTo>
                    <a:pt x="1292014" y="4311"/>
                  </a:lnTo>
                  <a:lnTo>
                    <a:pt x="1270656" y="0"/>
                  </a:lnTo>
                  <a:close/>
                </a:path>
              </a:pathLst>
            </a:custGeom>
            <a:ln w="5486">
              <a:solidFill>
                <a:srgbClr val="C7D7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660057" y="1130497"/>
            <a:ext cx="1136650" cy="51308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indent="335915">
              <a:lnSpc>
                <a:spcPct val="108000"/>
              </a:lnSpc>
              <a:spcBef>
                <a:spcPts val="40"/>
              </a:spcBef>
            </a:pPr>
            <a:r>
              <a:rPr sz="1000" b="1" spc="-10" dirty="0">
                <a:solidFill>
                  <a:srgbClr val="1F2A24"/>
                </a:solidFill>
                <a:latin typeface="Arial"/>
                <a:cs typeface="Arial"/>
              </a:rPr>
              <a:t>Estado</a:t>
            </a:r>
            <a:r>
              <a:rPr sz="1000" b="1" spc="50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F2A24"/>
                </a:solidFill>
                <a:latin typeface="Arial"/>
                <a:cs typeface="Arial"/>
              </a:rPr>
              <a:t>deber</a:t>
            </a:r>
            <a:r>
              <a:rPr sz="1000" spc="1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00" spc="1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1F2A24"/>
                </a:solidFill>
                <a:latin typeface="Arial"/>
                <a:cs typeface="Arial"/>
              </a:rPr>
              <a:t>prevenir, </a:t>
            </a:r>
            <a:r>
              <a:rPr sz="1000" dirty="0">
                <a:solidFill>
                  <a:srgbClr val="1F2A24"/>
                </a:solidFill>
                <a:latin typeface="Arial"/>
                <a:cs typeface="Arial"/>
              </a:rPr>
              <a:t>buscar</a:t>
            </a:r>
            <a:r>
              <a:rPr sz="1000" spc="1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F2A24"/>
                </a:solidFill>
                <a:latin typeface="Arial"/>
                <a:cs typeface="Arial"/>
              </a:rPr>
              <a:t>e</a:t>
            </a:r>
            <a:r>
              <a:rPr sz="1000" spc="1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1F2A24"/>
                </a:solidFill>
                <a:latin typeface="Arial"/>
                <a:cs typeface="Arial"/>
              </a:rPr>
              <a:t>investigar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147407" y="1130736"/>
            <a:ext cx="1331595" cy="553720"/>
            <a:chOff x="5147407" y="1130736"/>
            <a:chExt cx="1331595" cy="553720"/>
          </a:xfrm>
        </p:grpSpPr>
        <p:sp>
          <p:nvSpPr>
            <p:cNvPr id="18" name="object 18"/>
            <p:cNvSpPr/>
            <p:nvPr/>
          </p:nvSpPr>
          <p:spPr>
            <a:xfrm>
              <a:off x="5150265" y="1133594"/>
              <a:ext cx="1325880" cy="548005"/>
            </a:xfrm>
            <a:custGeom>
              <a:avLst/>
              <a:gdLst/>
              <a:ahLst/>
              <a:cxnLst/>
              <a:rect l="l" t="t" r="r" b="b"/>
              <a:pathLst>
                <a:path w="1325879" h="548005">
                  <a:moveTo>
                    <a:pt x="1270656" y="0"/>
                  </a:moveTo>
                  <a:lnTo>
                    <a:pt x="54868" y="0"/>
                  </a:lnTo>
                  <a:lnTo>
                    <a:pt x="33510" y="4311"/>
                  </a:lnTo>
                  <a:lnTo>
                    <a:pt x="16070" y="16070"/>
                  </a:lnTo>
                  <a:lnTo>
                    <a:pt x="4311" y="33510"/>
                  </a:lnTo>
                  <a:lnTo>
                    <a:pt x="0" y="54868"/>
                  </a:lnTo>
                  <a:lnTo>
                    <a:pt x="0" y="492992"/>
                  </a:lnTo>
                  <a:lnTo>
                    <a:pt x="4311" y="514349"/>
                  </a:lnTo>
                  <a:lnTo>
                    <a:pt x="16070" y="531789"/>
                  </a:lnTo>
                  <a:lnTo>
                    <a:pt x="33510" y="543548"/>
                  </a:lnTo>
                  <a:lnTo>
                    <a:pt x="54868" y="547860"/>
                  </a:lnTo>
                  <a:lnTo>
                    <a:pt x="1270656" y="547860"/>
                  </a:lnTo>
                  <a:lnTo>
                    <a:pt x="1292013" y="543548"/>
                  </a:lnTo>
                  <a:lnTo>
                    <a:pt x="1309454" y="531789"/>
                  </a:lnTo>
                  <a:lnTo>
                    <a:pt x="1321213" y="514349"/>
                  </a:lnTo>
                  <a:lnTo>
                    <a:pt x="1325524" y="492992"/>
                  </a:lnTo>
                  <a:lnTo>
                    <a:pt x="1325524" y="54868"/>
                  </a:lnTo>
                  <a:lnTo>
                    <a:pt x="1321213" y="33510"/>
                  </a:lnTo>
                  <a:lnTo>
                    <a:pt x="1309454" y="16070"/>
                  </a:lnTo>
                  <a:lnTo>
                    <a:pt x="1292013" y="4311"/>
                  </a:lnTo>
                  <a:lnTo>
                    <a:pt x="1270656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50265" y="1133594"/>
              <a:ext cx="1325880" cy="548005"/>
            </a:xfrm>
            <a:custGeom>
              <a:avLst/>
              <a:gdLst/>
              <a:ahLst/>
              <a:cxnLst/>
              <a:rect l="l" t="t" r="r" b="b"/>
              <a:pathLst>
                <a:path w="1325879" h="548005">
                  <a:moveTo>
                    <a:pt x="1270656" y="0"/>
                  </a:moveTo>
                  <a:lnTo>
                    <a:pt x="54868" y="0"/>
                  </a:lnTo>
                  <a:lnTo>
                    <a:pt x="33510" y="4311"/>
                  </a:lnTo>
                  <a:lnTo>
                    <a:pt x="16070" y="16070"/>
                  </a:lnTo>
                  <a:lnTo>
                    <a:pt x="4311" y="33510"/>
                  </a:lnTo>
                  <a:lnTo>
                    <a:pt x="0" y="54868"/>
                  </a:lnTo>
                  <a:lnTo>
                    <a:pt x="0" y="492992"/>
                  </a:lnTo>
                  <a:lnTo>
                    <a:pt x="4311" y="514349"/>
                  </a:lnTo>
                  <a:lnTo>
                    <a:pt x="16070" y="531789"/>
                  </a:lnTo>
                  <a:lnTo>
                    <a:pt x="33510" y="543548"/>
                  </a:lnTo>
                  <a:lnTo>
                    <a:pt x="54868" y="547860"/>
                  </a:lnTo>
                  <a:lnTo>
                    <a:pt x="1270656" y="547860"/>
                  </a:lnTo>
                  <a:lnTo>
                    <a:pt x="1292013" y="543548"/>
                  </a:lnTo>
                  <a:lnTo>
                    <a:pt x="1309454" y="531789"/>
                  </a:lnTo>
                  <a:lnTo>
                    <a:pt x="1321213" y="514349"/>
                  </a:lnTo>
                  <a:lnTo>
                    <a:pt x="1325524" y="492992"/>
                  </a:lnTo>
                  <a:lnTo>
                    <a:pt x="1325524" y="54868"/>
                  </a:lnTo>
                  <a:lnTo>
                    <a:pt x="1321213" y="33510"/>
                  </a:lnTo>
                  <a:lnTo>
                    <a:pt x="1309454" y="16070"/>
                  </a:lnTo>
                  <a:lnTo>
                    <a:pt x="1292013" y="4311"/>
                  </a:lnTo>
                  <a:lnTo>
                    <a:pt x="1270656" y="0"/>
                  </a:lnTo>
                  <a:close/>
                </a:path>
              </a:pathLst>
            </a:custGeom>
            <a:ln w="5486">
              <a:solidFill>
                <a:srgbClr val="C7D7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225695" y="1130497"/>
            <a:ext cx="1174750" cy="51308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indent="288925">
              <a:lnSpc>
                <a:spcPct val="108000"/>
              </a:lnSpc>
              <a:spcBef>
                <a:spcPts val="40"/>
              </a:spcBef>
            </a:pPr>
            <a:r>
              <a:rPr sz="1000" b="1" spc="-10" dirty="0">
                <a:solidFill>
                  <a:srgbClr val="1F2A24"/>
                </a:solidFill>
                <a:latin typeface="Arial"/>
                <a:cs typeface="Arial"/>
              </a:rPr>
              <a:t>Pregunta </a:t>
            </a:r>
            <a:r>
              <a:rPr sz="1000" dirty="0">
                <a:solidFill>
                  <a:srgbClr val="1F2A24"/>
                </a:solidFill>
                <a:latin typeface="Arial"/>
                <a:cs typeface="Arial"/>
              </a:rPr>
              <a:t>cuando</a:t>
            </a:r>
            <a:r>
              <a:rPr sz="1000" spc="1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sz="1000" spc="1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1F2A24"/>
                </a:solidFill>
                <a:latin typeface="Arial"/>
                <a:cs typeface="Arial"/>
              </a:rPr>
              <a:t>legalidad </a:t>
            </a:r>
            <a:r>
              <a:rPr sz="1000" dirty="0">
                <a:solidFill>
                  <a:srgbClr val="1F2A24"/>
                </a:solidFill>
                <a:latin typeface="Arial"/>
                <a:cs typeface="Arial"/>
              </a:rPr>
              <a:t>pierde</a:t>
            </a:r>
            <a:r>
              <a:rPr sz="1000" spc="17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1F2A24"/>
                </a:solidFill>
                <a:latin typeface="Arial"/>
                <a:cs typeface="Arial"/>
              </a:rPr>
              <a:t>legitimidad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724443" y="1382247"/>
            <a:ext cx="3408679" cy="50800"/>
            <a:chOff x="1724443" y="1382247"/>
            <a:chExt cx="3408679" cy="50800"/>
          </a:xfrm>
        </p:grpSpPr>
        <p:sp>
          <p:nvSpPr>
            <p:cNvPr id="22" name="object 22"/>
            <p:cNvSpPr/>
            <p:nvPr/>
          </p:nvSpPr>
          <p:spPr>
            <a:xfrm>
              <a:off x="1724443" y="1407524"/>
              <a:ext cx="197485" cy="0"/>
            </a:xfrm>
            <a:custGeom>
              <a:avLst/>
              <a:gdLst/>
              <a:ahLst/>
              <a:cxnLst/>
              <a:rect l="l" t="t" r="r" b="b"/>
              <a:pathLst>
                <a:path w="197485">
                  <a:moveTo>
                    <a:pt x="0" y="0"/>
                  </a:moveTo>
                  <a:lnTo>
                    <a:pt x="196964" y="0"/>
                  </a:lnTo>
                </a:path>
              </a:pathLst>
            </a:custGeom>
            <a:ln w="16460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09982" y="1390151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19" h="34925">
                  <a:moveTo>
                    <a:pt x="0" y="0"/>
                  </a:moveTo>
                  <a:lnTo>
                    <a:pt x="15377" y="17373"/>
                  </a:lnTo>
                  <a:lnTo>
                    <a:pt x="0" y="34746"/>
                  </a:lnTo>
                  <a:lnTo>
                    <a:pt x="45638" y="173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8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09982" y="1390151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19" h="34925">
                  <a:moveTo>
                    <a:pt x="45638" y="17373"/>
                  </a:moveTo>
                  <a:lnTo>
                    <a:pt x="0" y="0"/>
                  </a:lnTo>
                  <a:lnTo>
                    <a:pt x="15377" y="17373"/>
                  </a:lnTo>
                  <a:lnTo>
                    <a:pt x="0" y="34746"/>
                  </a:lnTo>
                  <a:lnTo>
                    <a:pt x="45638" y="17373"/>
                  </a:lnTo>
                  <a:close/>
                </a:path>
              </a:pathLst>
            </a:custGeom>
            <a:ln w="15806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09140" y="1407524"/>
              <a:ext cx="197485" cy="0"/>
            </a:xfrm>
            <a:custGeom>
              <a:avLst/>
              <a:gdLst/>
              <a:ahLst/>
              <a:cxnLst/>
              <a:rect l="l" t="t" r="r" b="b"/>
              <a:pathLst>
                <a:path w="197485">
                  <a:moveTo>
                    <a:pt x="0" y="0"/>
                  </a:moveTo>
                  <a:lnTo>
                    <a:pt x="196964" y="0"/>
                  </a:lnTo>
                </a:path>
              </a:pathLst>
            </a:custGeom>
            <a:ln w="16460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494678" y="1390151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0" y="0"/>
                  </a:moveTo>
                  <a:lnTo>
                    <a:pt x="15377" y="17373"/>
                  </a:lnTo>
                  <a:lnTo>
                    <a:pt x="0" y="34746"/>
                  </a:lnTo>
                  <a:lnTo>
                    <a:pt x="45638" y="173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8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494678" y="1390151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45638" y="17373"/>
                  </a:moveTo>
                  <a:lnTo>
                    <a:pt x="0" y="0"/>
                  </a:lnTo>
                  <a:lnTo>
                    <a:pt x="15377" y="17373"/>
                  </a:lnTo>
                  <a:lnTo>
                    <a:pt x="0" y="34746"/>
                  </a:lnTo>
                  <a:lnTo>
                    <a:pt x="45638" y="17373"/>
                  </a:lnTo>
                  <a:close/>
                </a:path>
              </a:pathLst>
            </a:custGeom>
            <a:ln w="15806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893836" y="1407524"/>
              <a:ext cx="197485" cy="0"/>
            </a:xfrm>
            <a:custGeom>
              <a:avLst/>
              <a:gdLst/>
              <a:ahLst/>
              <a:cxnLst/>
              <a:rect l="l" t="t" r="r" b="b"/>
              <a:pathLst>
                <a:path w="197485">
                  <a:moveTo>
                    <a:pt x="0" y="0"/>
                  </a:moveTo>
                  <a:lnTo>
                    <a:pt x="196964" y="0"/>
                  </a:lnTo>
                </a:path>
              </a:pathLst>
            </a:custGeom>
            <a:ln w="16460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079375" y="1390151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0" y="0"/>
                  </a:moveTo>
                  <a:lnTo>
                    <a:pt x="15377" y="17373"/>
                  </a:lnTo>
                  <a:lnTo>
                    <a:pt x="0" y="34746"/>
                  </a:lnTo>
                  <a:lnTo>
                    <a:pt x="45638" y="173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8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079375" y="1390151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45638" y="17373"/>
                  </a:moveTo>
                  <a:lnTo>
                    <a:pt x="0" y="0"/>
                  </a:lnTo>
                  <a:lnTo>
                    <a:pt x="15377" y="17373"/>
                  </a:lnTo>
                  <a:lnTo>
                    <a:pt x="0" y="34746"/>
                  </a:lnTo>
                  <a:lnTo>
                    <a:pt x="45638" y="17373"/>
                  </a:lnTo>
                  <a:close/>
                </a:path>
              </a:pathLst>
            </a:custGeom>
            <a:ln w="15806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205" y="2072258"/>
            <a:ext cx="6617681" cy="50609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185305" y="1841737"/>
            <a:ext cx="6541770" cy="43751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150" b="1" dirty="0">
                <a:solidFill>
                  <a:srgbClr val="B88A2A"/>
                </a:solidFill>
                <a:latin typeface="Arial"/>
                <a:cs typeface="Arial"/>
              </a:rPr>
              <a:t>Idea</a:t>
            </a:r>
            <a:r>
              <a:rPr sz="1150" b="1" spc="-30" dirty="0">
                <a:solidFill>
                  <a:srgbClr val="B88A2A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B88A2A"/>
                </a:solidFill>
                <a:latin typeface="Arial"/>
                <a:cs typeface="Arial"/>
              </a:rPr>
              <a:t>central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Filosofia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se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limita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preguntar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que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normas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existen: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tambien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revisa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si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esas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normas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justifican,</a:t>
            </a:r>
            <a:endParaRPr sz="10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5305" y="2209532"/>
            <a:ext cx="6541770" cy="67310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orientan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limitan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realmente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al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poder.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414"/>
              </a:spcBef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Desde la lectura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de Ruiz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Rodriguez (2009)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y Rojas-Gonzalez (2018),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el caso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obliga a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pasar del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hecho al criterio: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no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basta</a:t>
            </a:r>
            <a:endParaRPr sz="950">
              <a:latin typeface="Arial"/>
              <a:cs typeface="Arial"/>
            </a:endParaRPr>
          </a:p>
          <a:p>
            <a:pPr marL="12700" marR="48260">
              <a:lnSpc>
                <a:spcPts val="919"/>
              </a:lnSpc>
              <a:spcBef>
                <a:spcPts val="140"/>
              </a:spcBef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con</a:t>
            </a:r>
            <a:r>
              <a:rPr sz="950" spc="6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nombrar</a:t>
            </a:r>
            <a:r>
              <a:rPr sz="950" spc="6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sz="950" spc="7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norma;</a:t>
            </a:r>
            <a:r>
              <a:rPr sz="950" spc="6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hay</a:t>
            </a:r>
            <a:r>
              <a:rPr sz="950" spc="6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que</a:t>
            </a:r>
            <a:r>
              <a:rPr sz="950" spc="7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preguntarse</a:t>
            </a:r>
            <a:r>
              <a:rPr sz="950" spc="6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si</a:t>
            </a:r>
            <a:r>
              <a:rPr sz="950" spc="7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950" spc="6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sistema</a:t>
            </a:r>
            <a:r>
              <a:rPr sz="950" spc="6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realmente</a:t>
            </a:r>
            <a:r>
              <a:rPr sz="950" spc="7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limita</a:t>
            </a:r>
            <a:r>
              <a:rPr sz="950" spc="6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al</a:t>
            </a:r>
            <a:r>
              <a:rPr sz="950" spc="7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poder.</a:t>
            </a:r>
            <a:r>
              <a:rPr sz="950" spc="10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sz="550" spc="2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(Ruiz</a:t>
            </a:r>
            <a:r>
              <a:rPr sz="550" spc="3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Rodriguez,</a:t>
            </a:r>
            <a:r>
              <a:rPr sz="550" spc="2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2009;</a:t>
            </a:r>
            <a:r>
              <a:rPr sz="550" spc="3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Rojas-Gonzalez,</a:t>
            </a:r>
            <a:r>
              <a:rPr sz="550" spc="3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2018;</a:t>
            </a:r>
            <a:r>
              <a:rPr sz="550" spc="2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5D6B66"/>
                </a:solidFill>
                <a:latin typeface="Arial"/>
                <a:cs typeface="Arial"/>
              </a:rPr>
              <a:t>CNDH,</a:t>
            </a:r>
            <a:r>
              <a:rPr sz="550" spc="50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5D6B66"/>
                </a:solidFill>
                <a:latin typeface="Arial"/>
                <a:cs typeface="Arial"/>
              </a:rPr>
              <a:t>2024).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35" name="object 35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spc="60" dirty="0"/>
              <a:t> </a:t>
            </a:r>
            <a:r>
              <a:rPr dirty="0"/>
              <a:t>del</a:t>
            </a:r>
            <a:r>
              <a:rPr spc="65" dirty="0"/>
              <a:t> </a:t>
            </a:r>
            <a:r>
              <a:rPr spc="-10" dirty="0"/>
              <a:t>Derecho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030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20" dirty="0"/>
              <a:t>6</a:t>
            </a:fld>
            <a:r>
              <a:rPr spc="-20" dirty="0"/>
              <a:t>/22</a:t>
            </a:r>
          </a:p>
        </p:txBody>
      </p:sp>
      <p:pic>
        <p:nvPicPr>
          <p:cNvPr id="43" name="Audio 42">
            <a:hlinkClick r:id="" action="ppaction://media"/>
            <a:extLst>
              <a:ext uri="{FF2B5EF4-FFF2-40B4-BE49-F238E27FC236}">
                <a16:creationId xmlns:a16="http://schemas.microsoft.com/office/drawing/2014/main" id="{9F060FCF-BBCB-92C6-2544-8E1842B314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45781" t="-45781" r="-45781" b="-45781"/>
          <a:stretch>
            <a:fillRect/>
          </a:stretch>
        </p:blipFill>
        <p:spPr>
          <a:xfrm>
            <a:off x="5694324" y="2678074"/>
            <a:ext cx="1167765" cy="1167765"/>
          </a:xfrm>
          <a:prstGeom prst="ellipse">
            <a:avLst/>
          </a:prstGeom>
        </p:spPr>
      </p:pic>
    </p:spTree>
  </p:cSld>
  <p:clrMapOvr>
    <a:masterClrMapping/>
  </p:clrMapOvr>
  <p:transition advTm="25363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2967" y="1334593"/>
            <a:ext cx="3792854" cy="796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ts val="3090"/>
              </a:lnSpc>
              <a:spcBef>
                <a:spcPts val="90"/>
              </a:spcBef>
            </a:pPr>
            <a:r>
              <a:rPr sz="2450" dirty="0"/>
              <a:t>Justicia y fines del </a:t>
            </a:r>
            <a:r>
              <a:rPr sz="2450" spc="-10" dirty="0"/>
              <a:t>Dere-</a:t>
            </a:r>
            <a:r>
              <a:rPr sz="2450" spc="-25" dirty="0"/>
              <a:t>cho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782967" y="2033981"/>
            <a:ext cx="198628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dirty="0">
                <a:solidFill>
                  <a:srgbClr val="FFFFFF"/>
                </a:solidFill>
                <a:latin typeface="Arial"/>
                <a:cs typeface="Arial"/>
              </a:rPr>
              <a:t>Actividad</a:t>
            </a:r>
            <a:r>
              <a:rPr sz="11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15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1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FFFFFF"/>
                </a:solidFill>
                <a:latin typeface="Arial"/>
                <a:cs typeface="Arial"/>
              </a:rPr>
              <a:t>Video</a:t>
            </a:r>
            <a:r>
              <a:rPr sz="115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rial"/>
                <a:cs typeface="Arial"/>
              </a:rPr>
              <a:t>academico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3F61C189-AD7B-888A-432B-5713B4B2964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45781" t="-45781" r="-45781" b="-45781"/>
          <a:stretch>
            <a:fillRect/>
          </a:stretch>
        </p:blipFill>
        <p:spPr>
          <a:xfrm>
            <a:off x="5694324" y="2678074"/>
            <a:ext cx="1167765" cy="1167765"/>
          </a:xfrm>
          <a:prstGeom prst="ellipse">
            <a:avLst/>
          </a:prstGeom>
        </p:spPr>
      </p:pic>
    </p:spTree>
  </p:cSld>
  <p:clrMapOvr>
    <a:masterClrMapping/>
  </p:clrMapOvr>
  <p:transition advTm="2820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/>
          </a:p>
          <a:p>
            <a:pPr marL="125730">
              <a:lnSpc>
                <a:spcPct val="100000"/>
              </a:lnSpc>
            </a:pPr>
            <a:r>
              <a:rPr dirty="0"/>
              <a:t>Justicia</a:t>
            </a:r>
            <a:r>
              <a:rPr spc="-35" dirty="0"/>
              <a:t> </a:t>
            </a:r>
            <a:r>
              <a:rPr dirty="0"/>
              <a:t>en</a:t>
            </a:r>
            <a:r>
              <a:rPr spc="-30" dirty="0"/>
              <a:t> </a:t>
            </a:r>
            <a:r>
              <a:rPr dirty="0"/>
              <a:t>la</a:t>
            </a:r>
            <a:r>
              <a:rPr spc="-35" dirty="0"/>
              <a:t> </a:t>
            </a:r>
            <a:r>
              <a:rPr dirty="0"/>
              <a:t>Filosofia</a:t>
            </a:r>
            <a:r>
              <a:rPr spc="-30" dirty="0"/>
              <a:t> </a:t>
            </a:r>
            <a:r>
              <a:rPr dirty="0"/>
              <a:t>del</a:t>
            </a:r>
            <a:r>
              <a:rPr spc="-35" dirty="0"/>
              <a:t> </a:t>
            </a:r>
            <a:r>
              <a:rPr spc="-10" dirty="0"/>
              <a:t>Derecho</a:t>
            </a: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13321" y="1075105"/>
            <a:ext cx="2186940" cy="1078230"/>
            <a:chOff x="113321" y="1075105"/>
            <a:chExt cx="2186940" cy="1078230"/>
          </a:xfrm>
        </p:grpSpPr>
        <p:sp>
          <p:nvSpPr>
            <p:cNvPr id="6" name="object 6"/>
            <p:cNvSpPr/>
            <p:nvPr/>
          </p:nvSpPr>
          <p:spPr>
            <a:xfrm>
              <a:off x="113321" y="1075105"/>
              <a:ext cx="2186940" cy="189230"/>
            </a:xfrm>
            <a:custGeom>
              <a:avLst/>
              <a:gdLst/>
              <a:ahLst/>
              <a:cxnLst/>
              <a:rect l="l" t="t" r="r" b="b"/>
              <a:pathLst>
                <a:path w="2186940" h="189230">
                  <a:moveTo>
                    <a:pt x="213599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8716"/>
                  </a:lnTo>
                  <a:lnTo>
                    <a:pt x="2186794" y="188716"/>
                  </a:lnTo>
                  <a:lnTo>
                    <a:pt x="2186794" y="50800"/>
                  </a:lnTo>
                  <a:lnTo>
                    <a:pt x="2182786" y="31075"/>
                  </a:lnTo>
                  <a:lnTo>
                    <a:pt x="2171871" y="14922"/>
                  </a:lnTo>
                  <a:lnTo>
                    <a:pt x="2155718" y="4008"/>
                  </a:lnTo>
                  <a:lnTo>
                    <a:pt x="2135994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321" y="1251165"/>
              <a:ext cx="2186794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3321" y="1295433"/>
              <a:ext cx="2186940" cy="857885"/>
            </a:xfrm>
            <a:custGeom>
              <a:avLst/>
              <a:gdLst/>
              <a:ahLst/>
              <a:cxnLst/>
              <a:rect l="l" t="t" r="r" b="b"/>
              <a:pathLst>
                <a:path w="2186940" h="857885">
                  <a:moveTo>
                    <a:pt x="2186794" y="0"/>
                  </a:moveTo>
                  <a:lnTo>
                    <a:pt x="0" y="0"/>
                  </a:lnTo>
                  <a:lnTo>
                    <a:pt x="0" y="806594"/>
                  </a:lnTo>
                  <a:lnTo>
                    <a:pt x="4008" y="826318"/>
                  </a:lnTo>
                  <a:lnTo>
                    <a:pt x="14922" y="842471"/>
                  </a:lnTo>
                  <a:lnTo>
                    <a:pt x="31075" y="853385"/>
                  </a:lnTo>
                  <a:lnTo>
                    <a:pt x="50800" y="857394"/>
                  </a:lnTo>
                  <a:lnTo>
                    <a:pt x="2135994" y="857394"/>
                  </a:lnTo>
                  <a:lnTo>
                    <a:pt x="2155718" y="853385"/>
                  </a:lnTo>
                  <a:lnTo>
                    <a:pt x="2171871" y="842471"/>
                  </a:lnTo>
                  <a:lnTo>
                    <a:pt x="2182786" y="826318"/>
                  </a:lnTo>
                  <a:lnTo>
                    <a:pt x="2186794" y="806594"/>
                  </a:lnTo>
                  <a:lnTo>
                    <a:pt x="2186794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1422" y="1020643"/>
            <a:ext cx="1676400" cy="43751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150" b="1" dirty="0">
                <a:solidFill>
                  <a:srgbClr val="FFFFFF"/>
                </a:solidFill>
                <a:latin typeface="Arial"/>
                <a:cs typeface="Arial"/>
              </a:rPr>
              <a:t>Como</a:t>
            </a:r>
            <a:r>
              <a:rPr sz="115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valor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Siguiendo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Ruiz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Rodriguez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1422" y="1432478"/>
            <a:ext cx="2110740" cy="713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0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(2009),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justicia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permite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evaluar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si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una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norma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o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decision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protege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la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persona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solo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si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fue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emitida formalmente.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62618" y="1075105"/>
            <a:ext cx="2186940" cy="902969"/>
            <a:chOff x="2362618" y="1075105"/>
            <a:chExt cx="2186940" cy="902969"/>
          </a:xfrm>
        </p:grpSpPr>
        <p:sp>
          <p:nvSpPr>
            <p:cNvPr id="12" name="object 12"/>
            <p:cNvSpPr/>
            <p:nvPr/>
          </p:nvSpPr>
          <p:spPr>
            <a:xfrm>
              <a:off x="2362618" y="1075105"/>
              <a:ext cx="2186940" cy="189230"/>
            </a:xfrm>
            <a:custGeom>
              <a:avLst/>
              <a:gdLst/>
              <a:ahLst/>
              <a:cxnLst/>
              <a:rect l="l" t="t" r="r" b="b"/>
              <a:pathLst>
                <a:path w="2186940" h="189230">
                  <a:moveTo>
                    <a:pt x="213599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8716"/>
                  </a:lnTo>
                  <a:lnTo>
                    <a:pt x="2186794" y="188716"/>
                  </a:lnTo>
                  <a:lnTo>
                    <a:pt x="2186794" y="50800"/>
                  </a:lnTo>
                  <a:lnTo>
                    <a:pt x="2182786" y="31075"/>
                  </a:lnTo>
                  <a:lnTo>
                    <a:pt x="2171871" y="14922"/>
                  </a:lnTo>
                  <a:lnTo>
                    <a:pt x="2155718" y="4008"/>
                  </a:lnTo>
                  <a:lnTo>
                    <a:pt x="2135994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2618" y="1251165"/>
              <a:ext cx="2186794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362618" y="1295437"/>
              <a:ext cx="2186940" cy="682625"/>
            </a:xfrm>
            <a:custGeom>
              <a:avLst/>
              <a:gdLst/>
              <a:ahLst/>
              <a:cxnLst/>
              <a:rect l="l" t="t" r="r" b="b"/>
              <a:pathLst>
                <a:path w="2186940" h="682625">
                  <a:moveTo>
                    <a:pt x="2186794" y="0"/>
                  </a:moveTo>
                  <a:lnTo>
                    <a:pt x="0" y="0"/>
                  </a:lnTo>
                  <a:lnTo>
                    <a:pt x="0" y="631457"/>
                  </a:lnTo>
                  <a:lnTo>
                    <a:pt x="4008" y="651181"/>
                  </a:lnTo>
                  <a:lnTo>
                    <a:pt x="14922" y="667334"/>
                  </a:lnTo>
                  <a:lnTo>
                    <a:pt x="31075" y="678249"/>
                  </a:lnTo>
                  <a:lnTo>
                    <a:pt x="50800" y="682257"/>
                  </a:lnTo>
                  <a:lnTo>
                    <a:pt x="2135994" y="682257"/>
                  </a:lnTo>
                  <a:lnTo>
                    <a:pt x="2155718" y="678249"/>
                  </a:lnTo>
                  <a:lnTo>
                    <a:pt x="2171871" y="667334"/>
                  </a:lnTo>
                  <a:lnTo>
                    <a:pt x="2182786" y="651181"/>
                  </a:lnTo>
                  <a:lnTo>
                    <a:pt x="2186794" y="631457"/>
                  </a:lnTo>
                  <a:lnTo>
                    <a:pt x="2186794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400719" y="1023998"/>
            <a:ext cx="1652270" cy="43116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150" b="1" dirty="0">
                <a:solidFill>
                  <a:srgbClr val="FFFFFF"/>
                </a:solidFill>
                <a:latin typeface="Arial"/>
                <a:cs typeface="Arial"/>
              </a:rPr>
              <a:t>Como</a:t>
            </a:r>
            <a:r>
              <a:rPr sz="115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FFFFFF"/>
                </a:solidFill>
                <a:latin typeface="Arial"/>
                <a:cs typeface="Arial"/>
              </a:rPr>
              <a:t>fin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debe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ordenar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endParaRPr sz="1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00719" y="1429417"/>
            <a:ext cx="2065655" cy="541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0"/>
              </a:spcBef>
            </a:pP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convivencia,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limitar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abuso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producir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respuestas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institucionales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frente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al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dano.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611902" y="1075105"/>
            <a:ext cx="2186940" cy="770255"/>
            <a:chOff x="4611902" y="1075105"/>
            <a:chExt cx="2186940" cy="770255"/>
          </a:xfrm>
        </p:grpSpPr>
        <p:sp>
          <p:nvSpPr>
            <p:cNvPr id="18" name="object 18"/>
            <p:cNvSpPr/>
            <p:nvPr/>
          </p:nvSpPr>
          <p:spPr>
            <a:xfrm>
              <a:off x="4611902" y="1075105"/>
              <a:ext cx="2186940" cy="200025"/>
            </a:xfrm>
            <a:custGeom>
              <a:avLst/>
              <a:gdLst/>
              <a:ahLst/>
              <a:cxnLst/>
              <a:rect l="l" t="t" r="r" b="b"/>
              <a:pathLst>
                <a:path w="2186940" h="200025">
                  <a:moveTo>
                    <a:pt x="213599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9909"/>
                  </a:lnTo>
                  <a:lnTo>
                    <a:pt x="2186794" y="199909"/>
                  </a:lnTo>
                  <a:lnTo>
                    <a:pt x="2186794" y="50800"/>
                  </a:lnTo>
                  <a:lnTo>
                    <a:pt x="2182786" y="31075"/>
                  </a:lnTo>
                  <a:lnTo>
                    <a:pt x="2171871" y="14922"/>
                  </a:lnTo>
                  <a:lnTo>
                    <a:pt x="2155718" y="4008"/>
                  </a:lnTo>
                  <a:lnTo>
                    <a:pt x="2135994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11902" y="1262354"/>
              <a:ext cx="2186794" cy="506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611902" y="1306632"/>
              <a:ext cx="2186940" cy="538480"/>
            </a:xfrm>
            <a:custGeom>
              <a:avLst/>
              <a:gdLst/>
              <a:ahLst/>
              <a:cxnLst/>
              <a:rect l="l" t="t" r="r" b="b"/>
              <a:pathLst>
                <a:path w="2186940" h="538480">
                  <a:moveTo>
                    <a:pt x="2186794" y="0"/>
                  </a:moveTo>
                  <a:lnTo>
                    <a:pt x="0" y="0"/>
                  </a:lnTo>
                  <a:lnTo>
                    <a:pt x="0" y="487445"/>
                  </a:lnTo>
                  <a:lnTo>
                    <a:pt x="4008" y="507170"/>
                  </a:lnTo>
                  <a:lnTo>
                    <a:pt x="14922" y="523322"/>
                  </a:lnTo>
                  <a:lnTo>
                    <a:pt x="31075" y="534237"/>
                  </a:lnTo>
                  <a:lnTo>
                    <a:pt x="50800" y="538245"/>
                  </a:lnTo>
                  <a:lnTo>
                    <a:pt x="2135994" y="538245"/>
                  </a:lnTo>
                  <a:lnTo>
                    <a:pt x="2155718" y="534237"/>
                  </a:lnTo>
                  <a:lnTo>
                    <a:pt x="2171871" y="523322"/>
                  </a:lnTo>
                  <a:lnTo>
                    <a:pt x="2182786" y="507170"/>
                  </a:lnTo>
                  <a:lnTo>
                    <a:pt x="2186794" y="487445"/>
                  </a:lnTo>
                  <a:lnTo>
                    <a:pt x="2186794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650003" y="1011736"/>
            <a:ext cx="2100580" cy="454659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150" b="1" dirty="0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sz="115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Ayotzinapa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justicia</a:t>
            </a:r>
            <a:r>
              <a:rPr sz="1050" spc="-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exige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verdad,</a:t>
            </a:r>
            <a:r>
              <a:rPr sz="1050" spc="-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busqueda,</a:t>
            </a:r>
            <a:endParaRPr sz="10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0003" y="1440618"/>
            <a:ext cx="1593215" cy="369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0"/>
              </a:spcBef>
            </a:pP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investigacion,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reparacion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garantias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repeticion.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7205" y="2507462"/>
            <a:ext cx="6617681" cy="5060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85305" y="2276940"/>
            <a:ext cx="6512559" cy="78613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150" b="1" dirty="0">
                <a:solidFill>
                  <a:srgbClr val="B88A2A"/>
                </a:solidFill>
                <a:latin typeface="Arial"/>
                <a:cs typeface="Arial"/>
              </a:rPr>
              <a:t>Lectura</a:t>
            </a:r>
            <a:r>
              <a:rPr sz="1150" b="1" spc="-50" dirty="0">
                <a:solidFill>
                  <a:srgbClr val="B88A2A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B88A2A"/>
                </a:solidFill>
                <a:latin typeface="Arial"/>
                <a:cs typeface="Arial"/>
              </a:rPr>
              <a:t>critica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7500"/>
              </a:lnSpc>
              <a:spcBef>
                <a:spcPts val="190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Una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legalidad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que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protege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dignidad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puede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conservar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forma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juridica,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pero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pierde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fuerza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como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razon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publica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obediencia.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sz="550" spc="9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(Ruiz</a:t>
            </a:r>
            <a:r>
              <a:rPr sz="550" spc="10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Rodriguez,</a:t>
            </a:r>
            <a:r>
              <a:rPr sz="550" spc="10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2009;</a:t>
            </a:r>
            <a:r>
              <a:rPr sz="550" spc="9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Rojas-Gonzalez,</a:t>
            </a:r>
            <a:r>
              <a:rPr sz="550" spc="10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2018;</a:t>
            </a:r>
            <a:r>
              <a:rPr sz="550" spc="10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Laun,</a:t>
            </a:r>
            <a:r>
              <a:rPr sz="550" spc="9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5D6B66"/>
                </a:solidFill>
                <a:latin typeface="Arial"/>
                <a:cs typeface="Arial"/>
              </a:rPr>
              <a:t>2021).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26" name="object 26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spc="60" dirty="0"/>
              <a:t> </a:t>
            </a:r>
            <a:r>
              <a:rPr dirty="0"/>
              <a:t>del</a:t>
            </a:r>
            <a:r>
              <a:rPr spc="65" dirty="0"/>
              <a:t> </a:t>
            </a:r>
            <a:r>
              <a:rPr spc="-10" dirty="0"/>
              <a:t>Derecho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030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6684458" y="3767737"/>
            <a:ext cx="167640" cy="116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spc="-20" dirty="0">
                <a:solidFill>
                  <a:srgbClr val="FFFFFF"/>
                </a:solidFill>
                <a:latin typeface="Arial"/>
                <a:cs typeface="Arial"/>
              </a:rPr>
              <a:t>8/22</a:t>
            </a:r>
            <a:endParaRPr sz="550">
              <a:latin typeface="Arial"/>
              <a:cs typeface="Arial"/>
            </a:endParaRPr>
          </a:p>
        </p:txBody>
      </p:sp>
      <p:pic>
        <p:nvPicPr>
          <p:cNvPr id="34" name="Audio 33">
            <a:hlinkClick r:id="" action="ppaction://media"/>
            <a:extLst>
              <a:ext uri="{FF2B5EF4-FFF2-40B4-BE49-F238E27FC236}">
                <a16:creationId xmlns:a16="http://schemas.microsoft.com/office/drawing/2014/main" id="{7190FAFE-4669-A8E0-E4A1-448F3E320B1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45781" t="-45781" r="-45781" b="-45781"/>
          <a:stretch>
            <a:fillRect/>
          </a:stretch>
        </p:blipFill>
        <p:spPr>
          <a:xfrm>
            <a:off x="5694324" y="2678074"/>
            <a:ext cx="1167765" cy="1167765"/>
          </a:xfrm>
          <a:prstGeom prst="ellipse">
            <a:avLst/>
          </a:prstGeom>
        </p:spPr>
      </p:pic>
    </p:spTree>
  </p:cSld>
  <p:clrMapOvr>
    <a:masterClrMapping/>
  </p:clrMapOvr>
  <p:transition advTm="43176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15"/>
              </a:spcBef>
            </a:pPr>
            <a:endParaRPr/>
          </a:p>
          <a:p>
            <a:pPr marL="125730">
              <a:lnSpc>
                <a:spcPct val="100000"/>
              </a:lnSpc>
              <a:spcBef>
                <a:spcPts val="5"/>
              </a:spcBef>
            </a:pPr>
            <a:r>
              <a:rPr dirty="0"/>
              <a:t>Equidad,</a:t>
            </a:r>
            <a:r>
              <a:rPr spc="-40" dirty="0"/>
              <a:t> </a:t>
            </a:r>
            <a:r>
              <a:rPr dirty="0"/>
              <a:t>normas</a:t>
            </a:r>
            <a:r>
              <a:rPr spc="-35" dirty="0"/>
              <a:t> </a:t>
            </a:r>
            <a:r>
              <a:rPr dirty="0"/>
              <a:t>y</a:t>
            </a:r>
            <a:r>
              <a:rPr spc="-35" dirty="0"/>
              <a:t> </a:t>
            </a:r>
            <a:r>
              <a:rPr dirty="0"/>
              <a:t>solucion</a:t>
            </a:r>
            <a:r>
              <a:rPr spc="-35" dirty="0"/>
              <a:t> </a:t>
            </a:r>
            <a:r>
              <a:rPr dirty="0"/>
              <a:t>del</a:t>
            </a:r>
            <a:r>
              <a:rPr spc="-35" dirty="0"/>
              <a:t> </a:t>
            </a:r>
            <a:r>
              <a:rPr spc="-10" dirty="0"/>
              <a:t>conflicto</a:t>
            </a: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8005" y="805497"/>
            <a:ext cx="6516370" cy="0"/>
          </a:xfrm>
          <a:custGeom>
            <a:avLst/>
            <a:gdLst/>
            <a:ahLst/>
            <a:cxnLst/>
            <a:rect l="l" t="t" r="r" b="b"/>
            <a:pathLst>
              <a:path w="6516370">
                <a:moveTo>
                  <a:pt x="0" y="0"/>
                </a:moveTo>
                <a:lnTo>
                  <a:pt x="6516001" y="0"/>
                </a:lnTo>
              </a:path>
            </a:pathLst>
          </a:custGeom>
          <a:ln w="11010">
            <a:solidFill>
              <a:srgbClr val="1F2A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5305" y="823135"/>
            <a:ext cx="457834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b="1" spc="-10" dirty="0">
                <a:solidFill>
                  <a:srgbClr val="1F2A24"/>
                </a:solidFill>
                <a:latin typeface="Arial"/>
                <a:cs typeface="Arial"/>
              </a:rPr>
              <a:t>Criterio</a:t>
            </a:r>
            <a:endParaRPr sz="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0671" y="823135"/>
            <a:ext cx="1119505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b="1" dirty="0">
                <a:solidFill>
                  <a:srgbClr val="1F2A24"/>
                </a:solidFill>
                <a:latin typeface="Arial"/>
                <a:cs typeface="Arial"/>
              </a:rPr>
              <a:t>Funcion</a:t>
            </a:r>
            <a:r>
              <a:rPr sz="950" b="1" spc="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sz="950" b="1" spc="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950" b="1" spc="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b="1" spc="-20" dirty="0">
                <a:solidFill>
                  <a:srgbClr val="1F2A24"/>
                </a:solidFill>
                <a:latin typeface="Arial"/>
                <a:cs typeface="Arial"/>
              </a:rPr>
              <a:t>caso</a:t>
            </a:r>
            <a:endParaRPr sz="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11847" y="823135"/>
            <a:ext cx="950594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b="1" dirty="0">
                <a:solidFill>
                  <a:srgbClr val="1F2A24"/>
                </a:solidFill>
                <a:latin typeface="Arial"/>
                <a:cs typeface="Arial"/>
              </a:rPr>
              <a:t>Salida</a:t>
            </a:r>
            <a:r>
              <a:rPr sz="950" b="1" spc="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1F2A24"/>
                </a:solidFill>
                <a:latin typeface="Arial"/>
                <a:cs typeface="Arial"/>
              </a:rPr>
              <a:t>esperada</a:t>
            </a:r>
            <a:endParaRPr sz="9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8005" y="1030922"/>
            <a:ext cx="6516370" cy="0"/>
          </a:xfrm>
          <a:custGeom>
            <a:avLst/>
            <a:gdLst/>
            <a:ahLst/>
            <a:cxnLst/>
            <a:rect l="l" t="t" r="r" b="b"/>
            <a:pathLst>
              <a:path w="6516370">
                <a:moveTo>
                  <a:pt x="0" y="0"/>
                </a:moveTo>
                <a:lnTo>
                  <a:pt x="6516001" y="0"/>
                </a:lnTo>
              </a:path>
            </a:pathLst>
          </a:custGeom>
          <a:ln w="6883">
            <a:solidFill>
              <a:srgbClr val="1F2A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5305" y="1046502"/>
            <a:ext cx="42799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Justicia</a:t>
            </a:r>
            <a:endParaRPr sz="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70659" y="1046502"/>
            <a:ext cx="2399030" cy="123444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134620">
              <a:lnSpc>
                <a:spcPct val="104900"/>
              </a:lnSpc>
              <a:spcBef>
                <a:spcPts val="50"/>
              </a:spcBef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Reconocer</a:t>
            </a:r>
            <a:r>
              <a:rPr sz="950" spc="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dano,</a:t>
            </a:r>
            <a:r>
              <a:rPr sz="950" spc="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responsabilidad</a:t>
            </a:r>
            <a:r>
              <a:rPr sz="950" spc="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950" spc="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deber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respuesta.</a:t>
            </a:r>
            <a:endParaRPr sz="950">
              <a:latin typeface="Arial"/>
              <a:cs typeface="Arial"/>
            </a:endParaRPr>
          </a:p>
          <a:p>
            <a:pPr marL="12700" marR="103505">
              <a:lnSpc>
                <a:spcPct val="104900"/>
              </a:lnSpc>
            </a:pP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Tratar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950" spc="-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forma</a:t>
            </a:r>
            <a:r>
              <a:rPr sz="950" spc="-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reforzada</a:t>
            </a:r>
            <a:r>
              <a:rPr sz="950" spc="-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sz="950" spc="-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victimas</a:t>
            </a:r>
            <a:r>
              <a:rPr sz="950" spc="-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direc-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tas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e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indirectas.</a:t>
            </a:r>
            <a:endParaRPr sz="950">
              <a:latin typeface="Arial"/>
              <a:cs typeface="Arial"/>
            </a:endParaRPr>
          </a:p>
          <a:p>
            <a:pPr marL="12700" marR="109855">
              <a:lnSpc>
                <a:spcPct val="104900"/>
              </a:lnSpc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Activar</a:t>
            </a:r>
            <a:r>
              <a:rPr sz="950" spc="-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Constitucion,</a:t>
            </a:r>
            <a:r>
              <a:rPr sz="950" spc="-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Ley</a:t>
            </a:r>
            <a:r>
              <a:rPr sz="950" spc="-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General</a:t>
            </a:r>
            <a:r>
              <a:rPr sz="950" spc="-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950" spc="-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Victi-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mas y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Ley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Desaparicion.</a:t>
            </a:r>
            <a:endParaRPr sz="950">
              <a:latin typeface="Arial"/>
              <a:cs typeface="Arial"/>
            </a:endParaRPr>
          </a:p>
          <a:p>
            <a:pPr marL="12700" marR="5080">
              <a:lnSpc>
                <a:spcPct val="104900"/>
              </a:lnSpc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Leer el caso desde universalidad, debida </a:t>
            </a:r>
            <a:r>
              <a:rPr sz="950" spc="-25" dirty="0">
                <a:solidFill>
                  <a:srgbClr val="1F2A24"/>
                </a:solidFill>
                <a:latin typeface="Arial"/>
                <a:cs typeface="Arial"/>
              </a:rPr>
              <a:t>di-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ligencia</a:t>
            </a:r>
            <a:r>
              <a:rPr sz="950" spc="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950" spc="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proteccion</a:t>
            </a:r>
            <a:r>
              <a:rPr sz="950" spc="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950" spc="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derechos</a:t>
            </a:r>
            <a:r>
              <a:rPr sz="950" spc="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humanos.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11891" y="1046502"/>
            <a:ext cx="239141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Verdad,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sancion,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reparacion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repeticion.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5305" y="1350172"/>
            <a:ext cx="47117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Equidad</a:t>
            </a:r>
            <a:endParaRPr sz="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11891" y="1350172"/>
            <a:ext cx="2384425" cy="9309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38735">
              <a:lnSpc>
                <a:spcPct val="104900"/>
              </a:lnSpc>
              <a:spcBef>
                <a:spcPts val="50"/>
              </a:spcBef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Atencion diferenciada, informacion y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acom-panamiento.</a:t>
            </a:r>
            <a:endParaRPr sz="950">
              <a:latin typeface="Arial"/>
              <a:cs typeface="Arial"/>
            </a:endParaRPr>
          </a:p>
          <a:p>
            <a:pPr marL="12700" marR="142240">
              <a:lnSpc>
                <a:spcPct val="104900"/>
              </a:lnSpc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Busqueda, investigacion, reparacion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inte-gral.</a:t>
            </a:r>
            <a:endParaRPr sz="950">
              <a:latin typeface="Arial"/>
              <a:cs typeface="Arial"/>
            </a:endParaRPr>
          </a:p>
          <a:p>
            <a:pPr marL="12700" marR="5080">
              <a:lnSpc>
                <a:spcPct val="104900"/>
              </a:lnSpc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Estandares de prevencion, verdad y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repara-cion.</a:t>
            </a:r>
            <a:endParaRPr sz="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5305" y="1653829"/>
            <a:ext cx="942975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Norma</a:t>
            </a:r>
            <a:r>
              <a:rPr sz="950" spc="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mexicana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5305" y="1957486"/>
            <a:ext cx="108839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Orden</a:t>
            </a:r>
            <a:r>
              <a:rPr sz="950" spc="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internacional</a:t>
            </a:r>
            <a:endParaRPr sz="9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8005" y="2319172"/>
            <a:ext cx="6516370" cy="0"/>
          </a:xfrm>
          <a:custGeom>
            <a:avLst/>
            <a:gdLst/>
            <a:ahLst/>
            <a:cxnLst/>
            <a:rect l="l" t="t" r="r" b="b"/>
            <a:pathLst>
              <a:path w="6516370">
                <a:moveTo>
                  <a:pt x="0" y="0"/>
                </a:moveTo>
                <a:lnTo>
                  <a:pt x="6516001" y="0"/>
                </a:lnTo>
              </a:path>
            </a:pathLst>
          </a:custGeom>
          <a:ln w="11010">
            <a:solidFill>
              <a:srgbClr val="1F2A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205" y="2701531"/>
            <a:ext cx="6617681" cy="5060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85305" y="2463501"/>
            <a:ext cx="6478905" cy="76454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150" b="1" spc="-10" dirty="0">
                <a:solidFill>
                  <a:srgbClr val="B88A2A"/>
                </a:solidFill>
                <a:latin typeface="Arial"/>
                <a:cs typeface="Arial"/>
              </a:rPr>
              <a:t>Postura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4900"/>
              </a:lnSpc>
              <a:spcBef>
                <a:spcPts val="265"/>
              </a:spcBef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Resolver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conflicto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exige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unir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valor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950" spc="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procedimiento: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justicia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sin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norma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queda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como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deseo;</a:t>
            </a:r>
            <a:r>
              <a:rPr sz="950" spc="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norma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sin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justicia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se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vuelve formalismo.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(Camara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de</a:t>
            </a:r>
            <a:r>
              <a:rPr sz="550" spc="8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Diputados,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2024,</a:t>
            </a:r>
            <a:r>
              <a:rPr sz="550" spc="8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2026a,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5D6B66"/>
                </a:solidFill>
                <a:latin typeface="Arial"/>
                <a:cs typeface="Arial"/>
              </a:rPr>
              <a:t>2026b).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21" name="object 21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spc="60" dirty="0"/>
              <a:t> </a:t>
            </a:r>
            <a:r>
              <a:rPr dirty="0"/>
              <a:t>del</a:t>
            </a:r>
            <a:r>
              <a:rPr spc="65" dirty="0"/>
              <a:t> </a:t>
            </a:r>
            <a:r>
              <a:rPr spc="-10" dirty="0"/>
              <a:t>Derecho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030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10" dirty="0"/>
              <a:t>9</a:t>
            </a:fld>
            <a:r>
              <a:rPr spc="-10" dirty="0"/>
              <a:t>/22</a:t>
            </a:r>
          </a:p>
        </p:txBody>
      </p:sp>
      <p:pic>
        <p:nvPicPr>
          <p:cNvPr id="29" name="Audio 28">
            <a:hlinkClick r:id="" action="ppaction://media"/>
            <a:extLst>
              <a:ext uri="{FF2B5EF4-FFF2-40B4-BE49-F238E27FC236}">
                <a16:creationId xmlns:a16="http://schemas.microsoft.com/office/drawing/2014/main" id="{83F01B65-AF00-25DC-9F8B-EC61E5314B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45781" t="-45781" r="-45781" b="-45781"/>
          <a:stretch>
            <a:fillRect/>
          </a:stretch>
        </p:blipFill>
        <p:spPr>
          <a:xfrm>
            <a:off x="5694324" y="2678074"/>
            <a:ext cx="1167765" cy="1167765"/>
          </a:xfrm>
          <a:prstGeom prst="ellipse">
            <a:avLst/>
          </a:prstGeom>
        </p:spPr>
      </p:pic>
    </p:spTree>
  </p:cSld>
  <p:clrMapOvr>
    <a:masterClrMapping/>
  </p:clrMapOvr>
  <p:transition advTm="34416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15"/>
              </a:spcBef>
            </a:pPr>
            <a:endParaRPr/>
          </a:p>
          <a:p>
            <a:pPr marL="125730">
              <a:lnSpc>
                <a:spcPct val="100000"/>
              </a:lnSpc>
              <a:spcBef>
                <a:spcPts val="5"/>
              </a:spcBef>
            </a:pPr>
            <a:r>
              <a:rPr dirty="0"/>
              <a:t>Justicia</a:t>
            </a:r>
            <a:r>
              <a:rPr spc="-25" dirty="0"/>
              <a:t> </a:t>
            </a:r>
            <a:r>
              <a:rPr spc="-10" dirty="0"/>
              <a:t>distributiva</a:t>
            </a:r>
            <a:r>
              <a:rPr spc="-20" dirty="0"/>
              <a:t> </a:t>
            </a:r>
            <a:r>
              <a:rPr dirty="0"/>
              <a:t>y</a:t>
            </a:r>
            <a:r>
              <a:rPr spc="-20" dirty="0"/>
              <a:t> </a:t>
            </a:r>
            <a:r>
              <a:rPr spc="-10" dirty="0"/>
              <a:t>correctiva</a:t>
            </a: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68096" y="1162887"/>
            <a:ext cx="3229610" cy="929640"/>
            <a:chOff x="168096" y="1162887"/>
            <a:chExt cx="3229610" cy="929640"/>
          </a:xfrm>
        </p:grpSpPr>
        <p:sp>
          <p:nvSpPr>
            <p:cNvPr id="6" name="object 6"/>
            <p:cNvSpPr/>
            <p:nvPr/>
          </p:nvSpPr>
          <p:spPr>
            <a:xfrm>
              <a:off x="168096" y="1162887"/>
              <a:ext cx="3229610" cy="189230"/>
            </a:xfrm>
            <a:custGeom>
              <a:avLst/>
              <a:gdLst/>
              <a:ahLst/>
              <a:cxnLst/>
              <a:rect l="l" t="t" r="r" b="b"/>
              <a:pathLst>
                <a:path w="3229610" h="189230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8716"/>
                  </a:lnTo>
                  <a:lnTo>
                    <a:pt x="3229292" y="188716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096" y="1338948"/>
              <a:ext cx="3229292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8096" y="1383231"/>
              <a:ext cx="3229610" cy="709295"/>
            </a:xfrm>
            <a:custGeom>
              <a:avLst/>
              <a:gdLst/>
              <a:ahLst/>
              <a:cxnLst/>
              <a:rect l="l" t="t" r="r" b="b"/>
              <a:pathLst>
                <a:path w="3229610" h="709294">
                  <a:moveTo>
                    <a:pt x="3229292" y="0"/>
                  </a:moveTo>
                  <a:lnTo>
                    <a:pt x="0" y="0"/>
                  </a:lnTo>
                  <a:lnTo>
                    <a:pt x="0" y="657925"/>
                  </a:lnTo>
                  <a:lnTo>
                    <a:pt x="4008" y="677650"/>
                  </a:lnTo>
                  <a:lnTo>
                    <a:pt x="14922" y="693803"/>
                  </a:lnTo>
                  <a:lnTo>
                    <a:pt x="31075" y="704717"/>
                  </a:lnTo>
                  <a:lnTo>
                    <a:pt x="50800" y="708725"/>
                  </a:lnTo>
                  <a:lnTo>
                    <a:pt x="3178491" y="708725"/>
                  </a:lnTo>
                  <a:lnTo>
                    <a:pt x="3198216" y="704717"/>
                  </a:lnTo>
                  <a:lnTo>
                    <a:pt x="3214369" y="693803"/>
                  </a:lnTo>
                  <a:lnTo>
                    <a:pt x="3225283" y="677650"/>
                  </a:lnTo>
                  <a:lnTo>
                    <a:pt x="3229292" y="657925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8096" y="2407983"/>
            <a:ext cx="3229292" cy="5060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85305" y="1111780"/>
            <a:ext cx="2946400" cy="181991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390"/>
              </a:spcBef>
            </a:pPr>
            <a:r>
              <a:rPr sz="1150" b="1" dirty="0">
                <a:solidFill>
                  <a:srgbClr val="FFFFFF"/>
                </a:solidFill>
                <a:latin typeface="Arial"/>
                <a:cs typeface="Arial"/>
              </a:rPr>
              <a:t>Justicia</a:t>
            </a:r>
            <a:r>
              <a:rPr sz="115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distributiva</a:t>
            </a:r>
            <a:endParaRPr sz="1150">
              <a:latin typeface="Arial"/>
              <a:cs typeface="Arial"/>
            </a:endParaRPr>
          </a:p>
          <a:p>
            <a:pPr marL="33020" marR="5080">
              <a:lnSpc>
                <a:spcPct val="107500"/>
              </a:lnSpc>
              <a:spcBef>
                <a:spcPts val="165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caso,</a:t>
            </a:r>
            <a:r>
              <a:rPr sz="1050" spc="-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exige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distribuir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recursos,</a:t>
            </a:r>
            <a:r>
              <a:rPr sz="1050" spc="-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cargas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y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atencion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publica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modo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proporcional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al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dano: busqueda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inmediata,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investigacion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seria,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apoyo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a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familias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prioridad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institucional.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050">
              <a:latin typeface="Arial"/>
              <a:cs typeface="Arial"/>
            </a:endParaRPr>
          </a:p>
          <a:p>
            <a:pPr marL="33020">
              <a:lnSpc>
                <a:spcPct val="100000"/>
              </a:lnSpc>
              <a:spcBef>
                <a:spcPts val="5"/>
              </a:spcBef>
            </a:pPr>
            <a:r>
              <a:rPr sz="1150" b="1" spc="-10" dirty="0">
                <a:solidFill>
                  <a:srgbClr val="B88A2A"/>
                </a:solidFill>
                <a:latin typeface="Arial"/>
                <a:cs typeface="Arial"/>
              </a:rPr>
              <a:t>Riesgo</a:t>
            </a:r>
            <a:endParaRPr sz="1150">
              <a:latin typeface="Arial"/>
              <a:cs typeface="Arial"/>
            </a:endParaRPr>
          </a:p>
          <a:p>
            <a:pPr marL="33020" marR="76835">
              <a:lnSpc>
                <a:spcPct val="107500"/>
              </a:lnSpc>
              <a:spcBef>
                <a:spcPts val="295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Si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Estado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 distribuye</a:t>
            </a:r>
            <a:r>
              <a:rPr sz="1050" spc="-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indiferencia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o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 burocracia,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reproduce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desigualdad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frente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las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victimas.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sz="550" spc="10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(Ruiz</a:t>
            </a:r>
            <a:r>
              <a:rPr sz="550" spc="10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Rodriguez,</a:t>
            </a:r>
            <a:r>
              <a:rPr sz="550" spc="10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2009;</a:t>
            </a:r>
            <a:r>
              <a:rPr sz="550" spc="10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Rojas-Gonzalez,</a:t>
            </a:r>
            <a:r>
              <a:rPr sz="550" spc="10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5D6B66"/>
                </a:solidFill>
                <a:latin typeface="Arial"/>
                <a:cs typeface="Arial"/>
              </a:rPr>
              <a:t>2018).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514648" y="1162887"/>
            <a:ext cx="3229610" cy="758825"/>
            <a:chOff x="3514648" y="1162887"/>
            <a:chExt cx="3229610" cy="758825"/>
          </a:xfrm>
        </p:grpSpPr>
        <p:sp>
          <p:nvSpPr>
            <p:cNvPr id="12" name="object 12"/>
            <p:cNvSpPr/>
            <p:nvPr/>
          </p:nvSpPr>
          <p:spPr>
            <a:xfrm>
              <a:off x="3514648" y="1162887"/>
              <a:ext cx="3229610" cy="189230"/>
            </a:xfrm>
            <a:custGeom>
              <a:avLst/>
              <a:gdLst/>
              <a:ahLst/>
              <a:cxnLst/>
              <a:rect l="l" t="t" r="r" b="b"/>
              <a:pathLst>
                <a:path w="3229609" h="189230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8716"/>
                  </a:lnTo>
                  <a:lnTo>
                    <a:pt x="3229292" y="188716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14648" y="1338948"/>
              <a:ext cx="3229292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514648" y="1383226"/>
              <a:ext cx="3229610" cy="538480"/>
            </a:xfrm>
            <a:custGeom>
              <a:avLst/>
              <a:gdLst/>
              <a:ahLst/>
              <a:cxnLst/>
              <a:rect l="l" t="t" r="r" b="b"/>
              <a:pathLst>
                <a:path w="3229609" h="538480">
                  <a:moveTo>
                    <a:pt x="3229292" y="0"/>
                  </a:moveTo>
                  <a:lnTo>
                    <a:pt x="0" y="0"/>
                  </a:lnTo>
                  <a:lnTo>
                    <a:pt x="0" y="487445"/>
                  </a:lnTo>
                  <a:lnTo>
                    <a:pt x="4008" y="507170"/>
                  </a:lnTo>
                  <a:lnTo>
                    <a:pt x="14922" y="523322"/>
                  </a:lnTo>
                  <a:lnTo>
                    <a:pt x="31075" y="534237"/>
                  </a:lnTo>
                  <a:lnTo>
                    <a:pt x="50800" y="538245"/>
                  </a:lnTo>
                  <a:lnTo>
                    <a:pt x="3178491" y="538245"/>
                  </a:lnTo>
                  <a:lnTo>
                    <a:pt x="3198216" y="534237"/>
                  </a:lnTo>
                  <a:lnTo>
                    <a:pt x="3214369" y="523322"/>
                  </a:lnTo>
                  <a:lnTo>
                    <a:pt x="3225283" y="507170"/>
                  </a:lnTo>
                  <a:lnTo>
                    <a:pt x="3229292" y="487445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52748" y="2033968"/>
            <a:ext cx="511809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b="1" spc="-10" dirty="0">
                <a:solidFill>
                  <a:srgbClr val="B88A2A"/>
                </a:solidFill>
                <a:latin typeface="Arial"/>
                <a:cs typeface="Arial"/>
              </a:rPr>
              <a:t>Riesgo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14648" y="2237511"/>
            <a:ext cx="3229292" cy="5060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552748" y="1111780"/>
            <a:ext cx="3086100" cy="167703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150" b="1" dirty="0">
                <a:solidFill>
                  <a:srgbClr val="FFFFFF"/>
                </a:solidFill>
                <a:latin typeface="Arial"/>
                <a:cs typeface="Arial"/>
              </a:rPr>
              <a:t>Justicia</a:t>
            </a:r>
            <a:r>
              <a:rPr sz="115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correctiva</a:t>
            </a:r>
            <a:endParaRPr sz="1150">
              <a:latin typeface="Arial"/>
              <a:cs typeface="Arial"/>
            </a:endParaRPr>
          </a:p>
          <a:p>
            <a:pPr marL="12700" marR="103505">
              <a:lnSpc>
                <a:spcPct val="107500"/>
              </a:lnSpc>
              <a:spcBef>
                <a:spcPts val="165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Busca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responder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al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dano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ya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producido: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esclarecer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hechos,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sancionar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responsables,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reparar integralmente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crear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garantias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repeticion.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050">
              <a:latin typeface="Arial"/>
              <a:cs typeface="Arial"/>
            </a:endParaRPr>
          </a:p>
          <a:p>
            <a:pPr marL="12700" marR="5080">
              <a:lnSpc>
                <a:spcPct val="107500"/>
              </a:lnSpc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Si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hay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correccion,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dano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se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vuelve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impunidad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pierde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credibilidad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como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mecanismo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de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justicia.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19" name="object 19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spc="60" dirty="0"/>
              <a:t> </a:t>
            </a:r>
            <a:r>
              <a:rPr dirty="0"/>
              <a:t>del</a:t>
            </a:r>
            <a:r>
              <a:rPr spc="65" dirty="0"/>
              <a:t> </a:t>
            </a:r>
            <a:r>
              <a:rPr spc="-10" dirty="0"/>
              <a:t>Derecho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030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10" dirty="0"/>
              <a:t>10</a:t>
            </a:fld>
            <a:r>
              <a:rPr spc="-10" dirty="0"/>
              <a:t>/22</a:t>
            </a:r>
          </a:p>
        </p:txBody>
      </p:sp>
      <p:pic>
        <p:nvPicPr>
          <p:cNvPr id="27" name="Audio 26">
            <a:hlinkClick r:id="" action="ppaction://media"/>
            <a:extLst>
              <a:ext uri="{FF2B5EF4-FFF2-40B4-BE49-F238E27FC236}">
                <a16:creationId xmlns:a16="http://schemas.microsoft.com/office/drawing/2014/main" id="{55039B48-8567-CCF7-9DCA-B591373CF7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45781" t="-45781" r="-45781" b="-45781"/>
          <a:stretch>
            <a:fillRect/>
          </a:stretch>
        </p:blipFill>
        <p:spPr>
          <a:xfrm>
            <a:off x="5694324" y="2678074"/>
            <a:ext cx="1167765" cy="1167765"/>
          </a:xfrm>
          <a:prstGeom prst="ellipse">
            <a:avLst/>
          </a:prstGeom>
        </p:spPr>
      </p:pic>
    </p:spTree>
  </p:cSld>
  <p:clrMapOvr>
    <a:masterClrMapping/>
  </p:clrMapOvr>
  <p:transition advTm="28672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15"/>
              </a:spcBef>
            </a:pPr>
            <a:endParaRPr/>
          </a:p>
          <a:p>
            <a:pPr marL="125730">
              <a:lnSpc>
                <a:spcPct val="100000"/>
              </a:lnSpc>
              <a:spcBef>
                <a:spcPts val="5"/>
              </a:spcBef>
            </a:pPr>
            <a:r>
              <a:rPr dirty="0"/>
              <a:t>Fines</a:t>
            </a:r>
            <a:r>
              <a:rPr spc="-20" dirty="0"/>
              <a:t> </a:t>
            </a:r>
            <a:r>
              <a:rPr dirty="0"/>
              <a:t>del</a:t>
            </a:r>
            <a:r>
              <a:rPr spc="-15" dirty="0"/>
              <a:t> </a:t>
            </a:r>
            <a:r>
              <a:rPr dirty="0"/>
              <a:t>Derecho</a:t>
            </a:r>
            <a:r>
              <a:rPr spc="-20" dirty="0"/>
              <a:t> </a:t>
            </a:r>
            <a:r>
              <a:rPr dirty="0"/>
              <a:t>puestos</a:t>
            </a:r>
            <a:r>
              <a:rPr spc="-1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spc="-10" dirty="0"/>
              <a:t>prueba</a:t>
            </a: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71811" y="1337674"/>
            <a:ext cx="1726564" cy="409575"/>
          </a:xfrm>
          <a:custGeom>
            <a:avLst/>
            <a:gdLst/>
            <a:ahLst/>
            <a:cxnLst/>
            <a:rect l="l" t="t" r="r" b="b"/>
            <a:pathLst>
              <a:path w="1726564" h="409575">
                <a:moveTo>
                  <a:pt x="863183" y="0"/>
                </a:moveTo>
                <a:lnTo>
                  <a:pt x="788704" y="750"/>
                </a:lnTo>
                <a:lnTo>
                  <a:pt x="715984" y="2962"/>
                </a:lnTo>
                <a:lnTo>
                  <a:pt x="645282" y="6573"/>
                </a:lnTo>
                <a:lnTo>
                  <a:pt x="576858" y="11521"/>
                </a:lnTo>
                <a:lnTo>
                  <a:pt x="510971" y="17746"/>
                </a:lnTo>
                <a:lnTo>
                  <a:pt x="447880" y="25187"/>
                </a:lnTo>
                <a:lnTo>
                  <a:pt x="387843" y="33781"/>
                </a:lnTo>
                <a:lnTo>
                  <a:pt x="331121" y="43467"/>
                </a:lnTo>
                <a:lnTo>
                  <a:pt x="277972" y="54184"/>
                </a:lnTo>
                <a:lnTo>
                  <a:pt x="228655" y="65871"/>
                </a:lnTo>
                <a:lnTo>
                  <a:pt x="183429" y="78465"/>
                </a:lnTo>
                <a:lnTo>
                  <a:pt x="142554" y="91907"/>
                </a:lnTo>
                <a:lnTo>
                  <a:pt x="106288" y="106134"/>
                </a:lnTo>
                <a:lnTo>
                  <a:pt x="48620" y="136698"/>
                </a:lnTo>
                <a:lnTo>
                  <a:pt x="12500" y="169666"/>
                </a:lnTo>
                <a:lnTo>
                  <a:pt x="0" y="204548"/>
                </a:lnTo>
                <a:lnTo>
                  <a:pt x="3168" y="222198"/>
                </a:lnTo>
                <a:lnTo>
                  <a:pt x="27737" y="256185"/>
                </a:lnTo>
                <a:lnTo>
                  <a:pt x="74890" y="288012"/>
                </a:lnTo>
                <a:lnTo>
                  <a:pt x="142554" y="317190"/>
                </a:lnTo>
                <a:lnTo>
                  <a:pt x="183429" y="330631"/>
                </a:lnTo>
                <a:lnTo>
                  <a:pt x="228655" y="343226"/>
                </a:lnTo>
                <a:lnTo>
                  <a:pt x="277972" y="354913"/>
                </a:lnTo>
                <a:lnTo>
                  <a:pt x="331121" y="365630"/>
                </a:lnTo>
                <a:lnTo>
                  <a:pt x="387843" y="375316"/>
                </a:lnTo>
                <a:lnTo>
                  <a:pt x="447880" y="383910"/>
                </a:lnTo>
                <a:lnTo>
                  <a:pt x="510971" y="391350"/>
                </a:lnTo>
                <a:lnTo>
                  <a:pt x="576858" y="397576"/>
                </a:lnTo>
                <a:lnTo>
                  <a:pt x="645282" y="402524"/>
                </a:lnTo>
                <a:lnTo>
                  <a:pt x="715984" y="406135"/>
                </a:lnTo>
                <a:lnTo>
                  <a:pt x="788704" y="408347"/>
                </a:lnTo>
                <a:lnTo>
                  <a:pt x="863183" y="409097"/>
                </a:lnTo>
                <a:lnTo>
                  <a:pt x="937663" y="408347"/>
                </a:lnTo>
                <a:lnTo>
                  <a:pt x="1010383" y="406135"/>
                </a:lnTo>
                <a:lnTo>
                  <a:pt x="1081085" y="402524"/>
                </a:lnTo>
                <a:lnTo>
                  <a:pt x="1149509" y="397576"/>
                </a:lnTo>
                <a:lnTo>
                  <a:pt x="1215396" y="391350"/>
                </a:lnTo>
                <a:lnTo>
                  <a:pt x="1278487" y="383910"/>
                </a:lnTo>
                <a:lnTo>
                  <a:pt x="1338524" y="375316"/>
                </a:lnTo>
                <a:lnTo>
                  <a:pt x="1395246" y="365630"/>
                </a:lnTo>
                <a:lnTo>
                  <a:pt x="1448395" y="354913"/>
                </a:lnTo>
                <a:lnTo>
                  <a:pt x="1497712" y="343226"/>
                </a:lnTo>
                <a:lnTo>
                  <a:pt x="1542938" y="330631"/>
                </a:lnTo>
                <a:lnTo>
                  <a:pt x="1583813" y="317190"/>
                </a:lnTo>
                <a:lnTo>
                  <a:pt x="1620079" y="302963"/>
                </a:lnTo>
                <a:lnTo>
                  <a:pt x="1677746" y="272399"/>
                </a:lnTo>
                <a:lnTo>
                  <a:pt x="1713867" y="239430"/>
                </a:lnTo>
                <a:lnTo>
                  <a:pt x="1726367" y="204548"/>
                </a:lnTo>
                <a:lnTo>
                  <a:pt x="1723199" y="186899"/>
                </a:lnTo>
                <a:lnTo>
                  <a:pt x="1698629" y="152912"/>
                </a:lnTo>
                <a:lnTo>
                  <a:pt x="1651477" y="121085"/>
                </a:lnTo>
                <a:lnTo>
                  <a:pt x="1583813" y="91907"/>
                </a:lnTo>
                <a:lnTo>
                  <a:pt x="1542938" y="78465"/>
                </a:lnTo>
                <a:lnTo>
                  <a:pt x="1497712" y="65871"/>
                </a:lnTo>
                <a:lnTo>
                  <a:pt x="1448395" y="54184"/>
                </a:lnTo>
                <a:lnTo>
                  <a:pt x="1395246" y="43467"/>
                </a:lnTo>
                <a:lnTo>
                  <a:pt x="1338524" y="33781"/>
                </a:lnTo>
                <a:lnTo>
                  <a:pt x="1278487" y="25187"/>
                </a:lnTo>
                <a:lnTo>
                  <a:pt x="1215396" y="17746"/>
                </a:lnTo>
                <a:lnTo>
                  <a:pt x="1149509" y="11521"/>
                </a:lnTo>
                <a:lnTo>
                  <a:pt x="1081085" y="6573"/>
                </a:lnTo>
                <a:lnTo>
                  <a:pt x="1010383" y="2962"/>
                </a:lnTo>
                <a:lnTo>
                  <a:pt x="937663" y="750"/>
                </a:lnTo>
                <a:lnTo>
                  <a:pt x="863183" y="0"/>
                </a:lnTo>
                <a:close/>
              </a:path>
            </a:pathLst>
          </a:custGeom>
          <a:solidFill>
            <a:srgbClr val="174A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62323" y="1439869"/>
            <a:ext cx="1145540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dirty="0">
                <a:solidFill>
                  <a:srgbClr val="FFFFFF"/>
                </a:solidFill>
                <a:latin typeface="Arial"/>
                <a:cs typeface="Arial"/>
              </a:rPr>
              <a:t>Fines</a:t>
            </a:r>
            <a:r>
              <a:rPr sz="105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105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Arial"/>
                <a:cs typeface="Arial"/>
              </a:rPr>
              <a:t>Derecho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88485" y="632667"/>
            <a:ext cx="5693410" cy="354330"/>
            <a:chOff x="588485" y="632667"/>
            <a:chExt cx="5693410" cy="354330"/>
          </a:xfrm>
        </p:grpSpPr>
        <p:sp>
          <p:nvSpPr>
            <p:cNvPr id="8" name="object 8"/>
            <p:cNvSpPr/>
            <p:nvPr/>
          </p:nvSpPr>
          <p:spPr>
            <a:xfrm>
              <a:off x="591660" y="635842"/>
              <a:ext cx="1410335" cy="347980"/>
            </a:xfrm>
            <a:custGeom>
              <a:avLst/>
              <a:gdLst/>
              <a:ahLst/>
              <a:cxnLst/>
              <a:rect l="l" t="t" r="r" b="b"/>
              <a:pathLst>
                <a:path w="1410335" h="347980">
                  <a:moveTo>
                    <a:pt x="1352352" y="0"/>
                  </a:moveTo>
                  <a:lnTo>
                    <a:pt x="57512" y="0"/>
                  </a:lnTo>
                  <a:lnTo>
                    <a:pt x="35126" y="4519"/>
                  </a:lnTo>
                  <a:lnTo>
                    <a:pt x="16844" y="16844"/>
                  </a:lnTo>
                  <a:lnTo>
                    <a:pt x="4519" y="35125"/>
                  </a:lnTo>
                  <a:lnTo>
                    <a:pt x="0" y="57512"/>
                  </a:lnTo>
                  <a:lnTo>
                    <a:pt x="0" y="290223"/>
                  </a:lnTo>
                  <a:lnTo>
                    <a:pt x="4519" y="312609"/>
                  </a:lnTo>
                  <a:lnTo>
                    <a:pt x="16844" y="330890"/>
                  </a:lnTo>
                  <a:lnTo>
                    <a:pt x="35126" y="343216"/>
                  </a:lnTo>
                  <a:lnTo>
                    <a:pt x="57512" y="347735"/>
                  </a:lnTo>
                  <a:lnTo>
                    <a:pt x="1352352" y="347735"/>
                  </a:lnTo>
                  <a:lnTo>
                    <a:pt x="1374739" y="343216"/>
                  </a:lnTo>
                  <a:lnTo>
                    <a:pt x="1393020" y="330890"/>
                  </a:lnTo>
                  <a:lnTo>
                    <a:pt x="1405346" y="312609"/>
                  </a:lnTo>
                  <a:lnTo>
                    <a:pt x="1409865" y="290223"/>
                  </a:lnTo>
                  <a:lnTo>
                    <a:pt x="1409865" y="57512"/>
                  </a:lnTo>
                  <a:lnTo>
                    <a:pt x="1405346" y="35125"/>
                  </a:lnTo>
                  <a:lnTo>
                    <a:pt x="1393020" y="16844"/>
                  </a:lnTo>
                  <a:lnTo>
                    <a:pt x="1374739" y="4519"/>
                  </a:lnTo>
                  <a:lnTo>
                    <a:pt x="135235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1660" y="635842"/>
              <a:ext cx="1410335" cy="347980"/>
            </a:xfrm>
            <a:custGeom>
              <a:avLst/>
              <a:gdLst/>
              <a:ahLst/>
              <a:cxnLst/>
              <a:rect l="l" t="t" r="r" b="b"/>
              <a:pathLst>
                <a:path w="1410335" h="347980">
                  <a:moveTo>
                    <a:pt x="1352353" y="0"/>
                  </a:moveTo>
                  <a:lnTo>
                    <a:pt x="57512" y="0"/>
                  </a:lnTo>
                  <a:lnTo>
                    <a:pt x="35126" y="4519"/>
                  </a:lnTo>
                  <a:lnTo>
                    <a:pt x="16844" y="16844"/>
                  </a:lnTo>
                  <a:lnTo>
                    <a:pt x="4519" y="35125"/>
                  </a:lnTo>
                  <a:lnTo>
                    <a:pt x="0" y="57512"/>
                  </a:lnTo>
                  <a:lnTo>
                    <a:pt x="0" y="290223"/>
                  </a:lnTo>
                  <a:lnTo>
                    <a:pt x="4519" y="312609"/>
                  </a:lnTo>
                  <a:lnTo>
                    <a:pt x="16844" y="330890"/>
                  </a:lnTo>
                  <a:lnTo>
                    <a:pt x="35126" y="343216"/>
                  </a:lnTo>
                  <a:lnTo>
                    <a:pt x="57512" y="347735"/>
                  </a:lnTo>
                  <a:lnTo>
                    <a:pt x="1352353" y="347735"/>
                  </a:lnTo>
                  <a:lnTo>
                    <a:pt x="1374739" y="343216"/>
                  </a:lnTo>
                  <a:lnTo>
                    <a:pt x="1393020" y="330890"/>
                  </a:lnTo>
                  <a:lnTo>
                    <a:pt x="1405346" y="312609"/>
                  </a:lnTo>
                  <a:lnTo>
                    <a:pt x="1409865" y="290223"/>
                  </a:lnTo>
                  <a:lnTo>
                    <a:pt x="1409865" y="57512"/>
                  </a:lnTo>
                  <a:lnTo>
                    <a:pt x="1405346" y="35125"/>
                  </a:lnTo>
                  <a:lnTo>
                    <a:pt x="1393020" y="16844"/>
                  </a:lnTo>
                  <a:lnTo>
                    <a:pt x="1374739" y="4519"/>
                  </a:lnTo>
                  <a:lnTo>
                    <a:pt x="1352353" y="0"/>
                  </a:lnTo>
                  <a:close/>
                </a:path>
              </a:pathLst>
            </a:custGeom>
            <a:ln w="5751">
              <a:solidFill>
                <a:srgbClr val="B7CC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68464" y="635842"/>
              <a:ext cx="1410335" cy="347980"/>
            </a:xfrm>
            <a:custGeom>
              <a:avLst/>
              <a:gdLst/>
              <a:ahLst/>
              <a:cxnLst/>
              <a:rect l="l" t="t" r="r" b="b"/>
              <a:pathLst>
                <a:path w="1410335" h="347980">
                  <a:moveTo>
                    <a:pt x="1352352" y="0"/>
                  </a:moveTo>
                  <a:lnTo>
                    <a:pt x="57512" y="0"/>
                  </a:lnTo>
                  <a:lnTo>
                    <a:pt x="35126" y="4519"/>
                  </a:lnTo>
                  <a:lnTo>
                    <a:pt x="16844" y="16844"/>
                  </a:lnTo>
                  <a:lnTo>
                    <a:pt x="4519" y="35125"/>
                  </a:lnTo>
                  <a:lnTo>
                    <a:pt x="0" y="57512"/>
                  </a:lnTo>
                  <a:lnTo>
                    <a:pt x="0" y="290223"/>
                  </a:lnTo>
                  <a:lnTo>
                    <a:pt x="4519" y="312609"/>
                  </a:lnTo>
                  <a:lnTo>
                    <a:pt x="16844" y="330890"/>
                  </a:lnTo>
                  <a:lnTo>
                    <a:pt x="35126" y="343216"/>
                  </a:lnTo>
                  <a:lnTo>
                    <a:pt x="57512" y="347735"/>
                  </a:lnTo>
                  <a:lnTo>
                    <a:pt x="1352352" y="347735"/>
                  </a:lnTo>
                  <a:lnTo>
                    <a:pt x="1374739" y="343216"/>
                  </a:lnTo>
                  <a:lnTo>
                    <a:pt x="1393020" y="330890"/>
                  </a:lnTo>
                  <a:lnTo>
                    <a:pt x="1405346" y="312609"/>
                  </a:lnTo>
                  <a:lnTo>
                    <a:pt x="1409865" y="290223"/>
                  </a:lnTo>
                  <a:lnTo>
                    <a:pt x="1409865" y="57512"/>
                  </a:lnTo>
                  <a:lnTo>
                    <a:pt x="1405346" y="35125"/>
                  </a:lnTo>
                  <a:lnTo>
                    <a:pt x="1393020" y="16844"/>
                  </a:lnTo>
                  <a:lnTo>
                    <a:pt x="1374739" y="4519"/>
                  </a:lnTo>
                  <a:lnTo>
                    <a:pt x="135235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68464" y="635842"/>
              <a:ext cx="1410335" cy="347980"/>
            </a:xfrm>
            <a:custGeom>
              <a:avLst/>
              <a:gdLst/>
              <a:ahLst/>
              <a:cxnLst/>
              <a:rect l="l" t="t" r="r" b="b"/>
              <a:pathLst>
                <a:path w="1410335" h="347980">
                  <a:moveTo>
                    <a:pt x="1352353" y="0"/>
                  </a:moveTo>
                  <a:lnTo>
                    <a:pt x="57512" y="0"/>
                  </a:lnTo>
                  <a:lnTo>
                    <a:pt x="35126" y="4519"/>
                  </a:lnTo>
                  <a:lnTo>
                    <a:pt x="16844" y="16844"/>
                  </a:lnTo>
                  <a:lnTo>
                    <a:pt x="4519" y="35125"/>
                  </a:lnTo>
                  <a:lnTo>
                    <a:pt x="0" y="57512"/>
                  </a:lnTo>
                  <a:lnTo>
                    <a:pt x="0" y="290223"/>
                  </a:lnTo>
                  <a:lnTo>
                    <a:pt x="4519" y="312609"/>
                  </a:lnTo>
                  <a:lnTo>
                    <a:pt x="16844" y="330890"/>
                  </a:lnTo>
                  <a:lnTo>
                    <a:pt x="35126" y="343216"/>
                  </a:lnTo>
                  <a:lnTo>
                    <a:pt x="57512" y="347735"/>
                  </a:lnTo>
                  <a:lnTo>
                    <a:pt x="1352353" y="347735"/>
                  </a:lnTo>
                  <a:lnTo>
                    <a:pt x="1374739" y="343216"/>
                  </a:lnTo>
                  <a:lnTo>
                    <a:pt x="1393020" y="330890"/>
                  </a:lnTo>
                  <a:lnTo>
                    <a:pt x="1405346" y="312609"/>
                  </a:lnTo>
                  <a:lnTo>
                    <a:pt x="1409865" y="290223"/>
                  </a:lnTo>
                  <a:lnTo>
                    <a:pt x="1409865" y="57512"/>
                  </a:lnTo>
                  <a:lnTo>
                    <a:pt x="1405346" y="35125"/>
                  </a:lnTo>
                  <a:lnTo>
                    <a:pt x="1393020" y="16844"/>
                  </a:lnTo>
                  <a:lnTo>
                    <a:pt x="1374739" y="4519"/>
                  </a:lnTo>
                  <a:lnTo>
                    <a:pt x="1352353" y="0"/>
                  </a:lnTo>
                  <a:close/>
                </a:path>
              </a:pathLst>
            </a:custGeom>
            <a:ln w="5751">
              <a:solidFill>
                <a:srgbClr val="B7CC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29144" y="694404"/>
            <a:ext cx="5415280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285615" algn="l"/>
              </a:tabLst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Justicia</a:t>
            </a:r>
            <a:r>
              <a:rPr sz="1050" spc="114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1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equidad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	Seguridad</a:t>
            </a:r>
            <a:r>
              <a:rPr sz="1050" spc="204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juridica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88485" y="2097693"/>
            <a:ext cx="1416685" cy="407034"/>
            <a:chOff x="588485" y="2097693"/>
            <a:chExt cx="1416685" cy="407034"/>
          </a:xfrm>
        </p:grpSpPr>
        <p:sp>
          <p:nvSpPr>
            <p:cNvPr id="14" name="object 14"/>
            <p:cNvSpPr/>
            <p:nvPr/>
          </p:nvSpPr>
          <p:spPr>
            <a:xfrm>
              <a:off x="591660" y="2100868"/>
              <a:ext cx="1410335" cy="400685"/>
            </a:xfrm>
            <a:custGeom>
              <a:avLst/>
              <a:gdLst/>
              <a:ahLst/>
              <a:cxnLst/>
              <a:rect l="l" t="t" r="r" b="b"/>
              <a:pathLst>
                <a:path w="1410335" h="400685">
                  <a:moveTo>
                    <a:pt x="1352352" y="0"/>
                  </a:moveTo>
                  <a:lnTo>
                    <a:pt x="57512" y="0"/>
                  </a:lnTo>
                  <a:lnTo>
                    <a:pt x="35126" y="4519"/>
                  </a:lnTo>
                  <a:lnTo>
                    <a:pt x="16844" y="16844"/>
                  </a:lnTo>
                  <a:lnTo>
                    <a:pt x="4519" y="35125"/>
                  </a:lnTo>
                  <a:lnTo>
                    <a:pt x="0" y="57512"/>
                  </a:lnTo>
                  <a:lnTo>
                    <a:pt x="0" y="343178"/>
                  </a:lnTo>
                  <a:lnTo>
                    <a:pt x="4519" y="365564"/>
                  </a:lnTo>
                  <a:lnTo>
                    <a:pt x="16844" y="383845"/>
                  </a:lnTo>
                  <a:lnTo>
                    <a:pt x="35126" y="396171"/>
                  </a:lnTo>
                  <a:lnTo>
                    <a:pt x="57512" y="400690"/>
                  </a:lnTo>
                  <a:lnTo>
                    <a:pt x="1352352" y="400690"/>
                  </a:lnTo>
                  <a:lnTo>
                    <a:pt x="1374739" y="396171"/>
                  </a:lnTo>
                  <a:lnTo>
                    <a:pt x="1393020" y="383845"/>
                  </a:lnTo>
                  <a:lnTo>
                    <a:pt x="1405346" y="365564"/>
                  </a:lnTo>
                  <a:lnTo>
                    <a:pt x="1409865" y="343178"/>
                  </a:lnTo>
                  <a:lnTo>
                    <a:pt x="1409865" y="57512"/>
                  </a:lnTo>
                  <a:lnTo>
                    <a:pt x="1405346" y="35125"/>
                  </a:lnTo>
                  <a:lnTo>
                    <a:pt x="1393020" y="16844"/>
                  </a:lnTo>
                  <a:lnTo>
                    <a:pt x="1374739" y="4519"/>
                  </a:lnTo>
                  <a:lnTo>
                    <a:pt x="135235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1660" y="2100868"/>
              <a:ext cx="1410335" cy="400685"/>
            </a:xfrm>
            <a:custGeom>
              <a:avLst/>
              <a:gdLst/>
              <a:ahLst/>
              <a:cxnLst/>
              <a:rect l="l" t="t" r="r" b="b"/>
              <a:pathLst>
                <a:path w="1410335" h="400685">
                  <a:moveTo>
                    <a:pt x="1352353" y="0"/>
                  </a:moveTo>
                  <a:lnTo>
                    <a:pt x="57512" y="0"/>
                  </a:lnTo>
                  <a:lnTo>
                    <a:pt x="35126" y="4519"/>
                  </a:lnTo>
                  <a:lnTo>
                    <a:pt x="16844" y="16844"/>
                  </a:lnTo>
                  <a:lnTo>
                    <a:pt x="4519" y="35125"/>
                  </a:lnTo>
                  <a:lnTo>
                    <a:pt x="0" y="57512"/>
                  </a:lnTo>
                  <a:lnTo>
                    <a:pt x="0" y="343178"/>
                  </a:lnTo>
                  <a:lnTo>
                    <a:pt x="4519" y="365564"/>
                  </a:lnTo>
                  <a:lnTo>
                    <a:pt x="16844" y="383845"/>
                  </a:lnTo>
                  <a:lnTo>
                    <a:pt x="35126" y="396171"/>
                  </a:lnTo>
                  <a:lnTo>
                    <a:pt x="57512" y="400690"/>
                  </a:lnTo>
                  <a:lnTo>
                    <a:pt x="1352353" y="400690"/>
                  </a:lnTo>
                  <a:lnTo>
                    <a:pt x="1374739" y="396171"/>
                  </a:lnTo>
                  <a:lnTo>
                    <a:pt x="1393020" y="383845"/>
                  </a:lnTo>
                  <a:lnTo>
                    <a:pt x="1405346" y="365564"/>
                  </a:lnTo>
                  <a:lnTo>
                    <a:pt x="1409865" y="343178"/>
                  </a:lnTo>
                  <a:lnTo>
                    <a:pt x="1409865" y="57512"/>
                  </a:lnTo>
                  <a:lnTo>
                    <a:pt x="1405346" y="35125"/>
                  </a:lnTo>
                  <a:lnTo>
                    <a:pt x="1393020" y="16844"/>
                  </a:lnTo>
                  <a:lnTo>
                    <a:pt x="1374739" y="4519"/>
                  </a:lnTo>
                  <a:lnTo>
                    <a:pt x="1352353" y="0"/>
                  </a:lnTo>
                  <a:close/>
                </a:path>
              </a:pathLst>
            </a:custGeom>
            <a:ln w="5751">
              <a:solidFill>
                <a:srgbClr val="B7CC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25029" y="2098859"/>
            <a:ext cx="943610" cy="36385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indent="33655">
              <a:lnSpc>
                <a:spcPct val="107800"/>
              </a:lnSpc>
              <a:spcBef>
                <a:spcPts val="35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Bien</a:t>
            </a:r>
            <a:r>
              <a:rPr sz="1050" spc="1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comun</a:t>
            </a:r>
            <a:r>
              <a:rPr sz="1050" spc="1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utilidad</a:t>
            </a:r>
            <a:r>
              <a:rPr sz="1050" spc="1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publica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865289" y="2097693"/>
            <a:ext cx="1416685" cy="379730"/>
            <a:chOff x="4865289" y="2097693"/>
            <a:chExt cx="1416685" cy="379730"/>
          </a:xfrm>
        </p:grpSpPr>
        <p:sp>
          <p:nvSpPr>
            <p:cNvPr id="18" name="object 18"/>
            <p:cNvSpPr/>
            <p:nvPr/>
          </p:nvSpPr>
          <p:spPr>
            <a:xfrm>
              <a:off x="4868464" y="2100868"/>
              <a:ext cx="1410335" cy="373380"/>
            </a:xfrm>
            <a:custGeom>
              <a:avLst/>
              <a:gdLst/>
              <a:ahLst/>
              <a:cxnLst/>
              <a:rect l="l" t="t" r="r" b="b"/>
              <a:pathLst>
                <a:path w="1410335" h="373380">
                  <a:moveTo>
                    <a:pt x="1352352" y="0"/>
                  </a:moveTo>
                  <a:lnTo>
                    <a:pt x="57512" y="0"/>
                  </a:lnTo>
                  <a:lnTo>
                    <a:pt x="35126" y="4519"/>
                  </a:lnTo>
                  <a:lnTo>
                    <a:pt x="16844" y="16844"/>
                  </a:lnTo>
                  <a:lnTo>
                    <a:pt x="4519" y="35125"/>
                  </a:lnTo>
                  <a:lnTo>
                    <a:pt x="0" y="57512"/>
                  </a:lnTo>
                  <a:lnTo>
                    <a:pt x="0" y="315709"/>
                  </a:lnTo>
                  <a:lnTo>
                    <a:pt x="4519" y="338096"/>
                  </a:lnTo>
                  <a:lnTo>
                    <a:pt x="16844" y="356377"/>
                  </a:lnTo>
                  <a:lnTo>
                    <a:pt x="35126" y="368702"/>
                  </a:lnTo>
                  <a:lnTo>
                    <a:pt x="57512" y="373222"/>
                  </a:lnTo>
                  <a:lnTo>
                    <a:pt x="1352352" y="373222"/>
                  </a:lnTo>
                  <a:lnTo>
                    <a:pt x="1374739" y="368702"/>
                  </a:lnTo>
                  <a:lnTo>
                    <a:pt x="1393020" y="356377"/>
                  </a:lnTo>
                  <a:lnTo>
                    <a:pt x="1405346" y="338096"/>
                  </a:lnTo>
                  <a:lnTo>
                    <a:pt x="1409865" y="315709"/>
                  </a:lnTo>
                  <a:lnTo>
                    <a:pt x="1409865" y="57512"/>
                  </a:lnTo>
                  <a:lnTo>
                    <a:pt x="1405346" y="35125"/>
                  </a:lnTo>
                  <a:lnTo>
                    <a:pt x="1393020" y="16844"/>
                  </a:lnTo>
                  <a:lnTo>
                    <a:pt x="1374739" y="4519"/>
                  </a:lnTo>
                  <a:lnTo>
                    <a:pt x="135235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68464" y="2100868"/>
              <a:ext cx="1410335" cy="373380"/>
            </a:xfrm>
            <a:custGeom>
              <a:avLst/>
              <a:gdLst/>
              <a:ahLst/>
              <a:cxnLst/>
              <a:rect l="l" t="t" r="r" b="b"/>
              <a:pathLst>
                <a:path w="1410335" h="373380">
                  <a:moveTo>
                    <a:pt x="1352353" y="0"/>
                  </a:moveTo>
                  <a:lnTo>
                    <a:pt x="57512" y="0"/>
                  </a:lnTo>
                  <a:lnTo>
                    <a:pt x="35126" y="4519"/>
                  </a:lnTo>
                  <a:lnTo>
                    <a:pt x="16844" y="16844"/>
                  </a:lnTo>
                  <a:lnTo>
                    <a:pt x="4519" y="35125"/>
                  </a:lnTo>
                  <a:lnTo>
                    <a:pt x="0" y="57512"/>
                  </a:lnTo>
                  <a:lnTo>
                    <a:pt x="0" y="315709"/>
                  </a:lnTo>
                  <a:lnTo>
                    <a:pt x="4519" y="338096"/>
                  </a:lnTo>
                  <a:lnTo>
                    <a:pt x="16844" y="356377"/>
                  </a:lnTo>
                  <a:lnTo>
                    <a:pt x="35126" y="368702"/>
                  </a:lnTo>
                  <a:lnTo>
                    <a:pt x="57512" y="373222"/>
                  </a:lnTo>
                  <a:lnTo>
                    <a:pt x="1352353" y="373222"/>
                  </a:lnTo>
                  <a:lnTo>
                    <a:pt x="1374739" y="368702"/>
                  </a:lnTo>
                  <a:lnTo>
                    <a:pt x="1393020" y="356377"/>
                  </a:lnTo>
                  <a:lnTo>
                    <a:pt x="1405346" y="338096"/>
                  </a:lnTo>
                  <a:lnTo>
                    <a:pt x="1409865" y="315709"/>
                  </a:lnTo>
                  <a:lnTo>
                    <a:pt x="1409865" y="57512"/>
                  </a:lnTo>
                  <a:lnTo>
                    <a:pt x="1405346" y="35125"/>
                  </a:lnTo>
                  <a:lnTo>
                    <a:pt x="1393020" y="16844"/>
                  </a:lnTo>
                  <a:lnTo>
                    <a:pt x="1374739" y="4519"/>
                  </a:lnTo>
                  <a:lnTo>
                    <a:pt x="1352353" y="0"/>
                  </a:lnTo>
                  <a:close/>
                </a:path>
              </a:pathLst>
            </a:custGeom>
            <a:ln w="5751">
              <a:solidFill>
                <a:srgbClr val="B7CC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046749" y="2098859"/>
            <a:ext cx="1053465" cy="36385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73660" marR="5080" indent="-61594">
              <a:lnSpc>
                <a:spcPct val="107800"/>
              </a:lnSpc>
              <a:spcBef>
                <a:spcPts val="35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Dignidad y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dere-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chos</a:t>
            </a:r>
            <a:r>
              <a:rPr sz="1050" spc="1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humanos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825269" y="984285"/>
            <a:ext cx="3219450" cy="1115695"/>
            <a:chOff x="1825269" y="984285"/>
            <a:chExt cx="3219450" cy="1115695"/>
          </a:xfrm>
        </p:grpSpPr>
        <p:sp>
          <p:nvSpPr>
            <p:cNvPr id="22" name="object 22"/>
            <p:cNvSpPr/>
            <p:nvPr/>
          </p:nvSpPr>
          <p:spPr>
            <a:xfrm>
              <a:off x="1863961" y="1004114"/>
              <a:ext cx="1075055" cy="368300"/>
            </a:xfrm>
            <a:custGeom>
              <a:avLst/>
              <a:gdLst/>
              <a:ahLst/>
              <a:cxnLst/>
              <a:rect l="l" t="t" r="r" b="b"/>
              <a:pathLst>
                <a:path w="1075055" h="368300">
                  <a:moveTo>
                    <a:pt x="1074717" y="368131"/>
                  </a:moveTo>
                  <a:lnTo>
                    <a:pt x="0" y="0"/>
                  </a:lnTo>
                </a:path>
              </a:pathLst>
            </a:custGeom>
            <a:ln w="17253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32862" y="991879"/>
              <a:ext cx="46990" cy="31750"/>
            </a:xfrm>
            <a:custGeom>
              <a:avLst/>
              <a:gdLst/>
              <a:ahLst/>
              <a:cxnLst/>
              <a:rect l="l" t="t" r="r" b="b"/>
              <a:pathLst>
                <a:path w="46989" h="31750">
                  <a:moveTo>
                    <a:pt x="36075" y="31584"/>
                  </a:moveTo>
                  <a:lnTo>
                    <a:pt x="27506" y="11004"/>
                  </a:lnTo>
                  <a:lnTo>
                    <a:pt x="46893" y="0"/>
                  </a:lnTo>
                  <a:lnTo>
                    <a:pt x="0" y="1582"/>
                  </a:lnTo>
                  <a:lnTo>
                    <a:pt x="36075" y="31584"/>
                  </a:lnTo>
                  <a:close/>
                </a:path>
              </a:pathLst>
            </a:custGeom>
            <a:solidFill>
              <a:srgbClr val="B88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832862" y="991879"/>
              <a:ext cx="46990" cy="31750"/>
            </a:xfrm>
            <a:custGeom>
              <a:avLst/>
              <a:gdLst/>
              <a:ahLst/>
              <a:cxnLst/>
              <a:rect l="l" t="t" r="r" b="b"/>
              <a:pathLst>
                <a:path w="46989" h="31750">
                  <a:moveTo>
                    <a:pt x="0" y="1582"/>
                  </a:moveTo>
                  <a:lnTo>
                    <a:pt x="36075" y="31584"/>
                  </a:lnTo>
                  <a:lnTo>
                    <a:pt x="27506" y="11004"/>
                  </a:lnTo>
                  <a:lnTo>
                    <a:pt x="46893" y="0"/>
                  </a:lnTo>
                  <a:lnTo>
                    <a:pt x="0" y="1582"/>
                  </a:lnTo>
                  <a:close/>
                </a:path>
              </a:pathLst>
            </a:custGeom>
            <a:ln w="15187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31311" y="1004114"/>
              <a:ext cx="1075055" cy="368300"/>
            </a:xfrm>
            <a:custGeom>
              <a:avLst/>
              <a:gdLst/>
              <a:ahLst/>
              <a:cxnLst/>
              <a:rect l="l" t="t" r="r" b="b"/>
              <a:pathLst>
                <a:path w="1075054" h="368300">
                  <a:moveTo>
                    <a:pt x="0" y="368131"/>
                  </a:moveTo>
                  <a:lnTo>
                    <a:pt x="1074717" y="0"/>
                  </a:lnTo>
                </a:path>
              </a:pathLst>
            </a:custGeom>
            <a:ln w="17253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90233" y="991879"/>
              <a:ext cx="46990" cy="31750"/>
            </a:xfrm>
            <a:custGeom>
              <a:avLst/>
              <a:gdLst/>
              <a:ahLst/>
              <a:cxnLst/>
              <a:rect l="l" t="t" r="r" b="b"/>
              <a:pathLst>
                <a:path w="46989" h="31750">
                  <a:moveTo>
                    <a:pt x="0" y="0"/>
                  </a:moveTo>
                  <a:lnTo>
                    <a:pt x="19387" y="11004"/>
                  </a:lnTo>
                  <a:lnTo>
                    <a:pt x="10818" y="31584"/>
                  </a:lnTo>
                  <a:lnTo>
                    <a:pt x="46893" y="1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8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990233" y="991879"/>
              <a:ext cx="46990" cy="31750"/>
            </a:xfrm>
            <a:custGeom>
              <a:avLst/>
              <a:gdLst/>
              <a:ahLst/>
              <a:cxnLst/>
              <a:rect l="l" t="t" r="r" b="b"/>
              <a:pathLst>
                <a:path w="46989" h="31750">
                  <a:moveTo>
                    <a:pt x="46893" y="1582"/>
                  </a:moveTo>
                  <a:lnTo>
                    <a:pt x="0" y="0"/>
                  </a:lnTo>
                  <a:lnTo>
                    <a:pt x="19387" y="11004"/>
                  </a:lnTo>
                  <a:lnTo>
                    <a:pt x="10818" y="31584"/>
                  </a:lnTo>
                  <a:lnTo>
                    <a:pt x="46893" y="1582"/>
                  </a:lnTo>
                  <a:close/>
                </a:path>
              </a:pathLst>
            </a:custGeom>
            <a:ln w="15187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20279" y="1714148"/>
              <a:ext cx="1030605" cy="365760"/>
            </a:xfrm>
            <a:custGeom>
              <a:avLst/>
              <a:gdLst/>
              <a:ahLst/>
              <a:cxnLst/>
              <a:rect l="l" t="t" r="r" b="b"/>
              <a:pathLst>
                <a:path w="1030605" h="365760">
                  <a:moveTo>
                    <a:pt x="1030226" y="0"/>
                  </a:moveTo>
                  <a:lnTo>
                    <a:pt x="0" y="365618"/>
                  </a:lnTo>
                </a:path>
              </a:pathLst>
            </a:custGeom>
            <a:ln w="17253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889301" y="2060364"/>
              <a:ext cx="46990" cy="31750"/>
            </a:xfrm>
            <a:custGeom>
              <a:avLst/>
              <a:gdLst/>
              <a:ahLst/>
              <a:cxnLst/>
              <a:rect l="l" t="t" r="r" b="b"/>
              <a:pathLst>
                <a:path w="46989" h="31750">
                  <a:moveTo>
                    <a:pt x="46906" y="31462"/>
                  </a:moveTo>
                  <a:lnTo>
                    <a:pt x="27400" y="20672"/>
                  </a:lnTo>
                  <a:lnTo>
                    <a:pt x="35741" y="0"/>
                  </a:lnTo>
                  <a:lnTo>
                    <a:pt x="0" y="30396"/>
                  </a:lnTo>
                  <a:lnTo>
                    <a:pt x="46906" y="31462"/>
                  </a:lnTo>
                  <a:close/>
                </a:path>
              </a:pathLst>
            </a:custGeom>
            <a:solidFill>
              <a:srgbClr val="B88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89301" y="2060364"/>
              <a:ext cx="46990" cy="31750"/>
            </a:xfrm>
            <a:custGeom>
              <a:avLst/>
              <a:gdLst/>
              <a:ahLst/>
              <a:cxnLst/>
              <a:rect l="l" t="t" r="r" b="b"/>
              <a:pathLst>
                <a:path w="46989" h="31750">
                  <a:moveTo>
                    <a:pt x="0" y="30396"/>
                  </a:moveTo>
                  <a:lnTo>
                    <a:pt x="46906" y="31462"/>
                  </a:lnTo>
                  <a:lnTo>
                    <a:pt x="27400" y="20672"/>
                  </a:lnTo>
                  <a:lnTo>
                    <a:pt x="35741" y="0"/>
                  </a:lnTo>
                  <a:lnTo>
                    <a:pt x="0" y="30396"/>
                  </a:lnTo>
                  <a:close/>
                </a:path>
              </a:pathLst>
            </a:custGeom>
            <a:ln w="15186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925536" y="1713151"/>
              <a:ext cx="1053465" cy="367030"/>
            </a:xfrm>
            <a:custGeom>
              <a:avLst/>
              <a:gdLst/>
              <a:ahLst/>
              <a:cxnLst/>
              <a:rect l="l" t="t" r="r" b="b"/>
              <a:pathLst>
                <a:path w="1053464" h="367030">
                  <a:moveTo>
                    <a:pt x="0" y="0"/>
                  </a:moveTo>
                  <a:lnTo>
                    <a:pt x="1052859" y="366907"/>
                  </a:lnTo>
                </a:path>
              </a:pathLst>
            </a:custGeom>
            <a:ln w="17253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962536" y="2060683"/>
              <a:ext cx="46990" cy="31750"/>
            </a:xfrm>
            <a:custGeom>
              <a:avLst/>
              <a:gdLst/>
              <a:ahLst/>
              <a:cxnLst/>
              <a:rect l="l" t="t" r="r" b="b"/>
              <a:pathLst>
                <a:path w="46989" h="31750">
                  <a:moveTo>
                    <a:pt x="10986" y="0"/>
                  </a:moveTo>
                  <a:lnTo>
                    <a:pt x="19444" y="20624"/>
                  </a:lnTo>
                  <a:lnTo>
                    <a:pt x="0" y="31525"/>
                  </a:lnTo>
                  <a:lnTo>
                    <a:pt x="46900" y="30192"/>
                  </a:lnTo>
                  <a:lnTo>
                    <a:pt x="10986" y="0"/>
                  </a:lnTo>
                  <a:close/>
                </a:path>
              </a:pathLst>
            </a:custGeom>
            <a:solidFill>
              <a:srgbClr val="B88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62536" y="2060683"/>
              <a:ext cx="46990" cy="31750"/>
            </a:xfrm>
            <a:custGeom>
              <a:avLst/>
              <a:gdLst/>
              <a:ahLst/>
              <a:cxnLst/>
              <a:rect l="l" t="t" r="r" b="b"/>
              <a:pathLst>
                <a:path w="46989" h="31750">
                  <a:moveTo>
                    <a:pt x="46900" y="30192"/>
                  </a:moveTo>
                  <a:lnTo>
                    <a:pt x="10986" y="0"/>
                  </a:lnTo>
                  <a:lnTo>
                    <a:pt x="19444" y="20624"/>
                  </a:lnTo>
                  <a:lnTo>
                    <a:pt x="0" y="31525"/>
                  </a:lnTo>
                  <a:lnTo>
                    <a:pt x="46900" y="30192"/>
                  </a:lnTo>
                  <a:close/>
                </a:path>
              </a:pathLst>
            </a:custGeom>
            <a:ln w="15187">
              <a:solidFill>
                <a:srgbClr val="B88A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4" name="object 3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205" y="2834487"/>
            <a:ext cx="6617681" cy="50609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185305" y="2580515"/>
            <a:ext cx="6291580" cy="97155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150" b="1" dirty="0">
                <a:solidFill>
                  <a:srgbClr val="B88A2A"/>
                </a:solidFill>
                <a:latin typeface="Arial"/>
                <a:cs typeface="Arial"/>
              </a:rPr>
              <a:t>Aplicacion</a:t>
            </a:r>
            <a:r>
              <a:rPr sz="1150" b="1" spc="-40" dirty="0">
                <a:solidFill>
                  <a:srgbClr val="B88A2A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B88A2A"/>
                </a:solidFill>
                <a:latin typeface="Arial"/>
                <a:cs typeface="Arial"/>
              </a:rPr>
              <a:t>al</a:t>
            </a:r>
            <a:r>
              <a:rPr sz="1150" b="1" spc="-40" dirty="0">
                <a:solidFill>
                  <a:srgbClr val="B88A2A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B88A2A"/>
                </a:solidFill>
                <a:latin typeface="Arial"/>
                <a:cs typeface="Arial"/>
              </a:rPr>
              <a:t>caso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7500"/>
              </a:lnSpc>
              <a:spcBef>
                <a:spcPts val="280"/>
              </a:spcBef>
            </a:pP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Ayotzinapa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muestra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que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los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fines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son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abstractos: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como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sostienen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Ruiz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Rodriguez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(2009)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Rojas-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Gonzalez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(2018),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miden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capacidad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proteger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personas,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controlar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autoridades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reparar danos.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sz="550" spc="10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(Ruiz</a:t>
            </a:r>
            <a:r>
              <a:rPr sz="550" spc="10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Rodriguez,</a:t>
            </a:r>
            <a:r>
              <a:rPr sz="550" spc="10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2009;</a:t>
            </a:r>
            <a:r>
              <a:rPr sz="550" spc="10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Rojas-Gonzalez,</a:t>
            </a:r>
            <a:r>
              <a:rPr sz="550" spc="10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5D6B66"/>
                </a:solidFill>
                <a:latin typeface="Arial"/>
                <a:cs typeface="Arial"/>
              </a:rPr>
              <a:t>2018).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37" name="object 37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spc="60" dirty="0"/>
              <a:t> </a:t>
            </a:r>
            <a:r>
              <a:rPr dirty="0"/>
              <a:t>del</a:t>
            </a:r>
            <a:r>
              <a:rPr spc="65" dirty="0"/>
              <a:t> </a:t>
            </a:r>
            <a:r>
              <a:rPr spc="-10" dirty="0"/>
              <a:t>Derecho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030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10" dirty="0"/>
              <a:t>11</a:t>
            </a:fld>
            <a:r>
              <a:rPr spc="-10" dirty="0"/>
              <a:t>/22</a:t>
            </a:r>
          </a:p>
        </p:txBody>
      </p:sp>
      <p:pic>
        <p:nvPicPr>
          <p:cNvPr id="45" name="Audio 44">
            <a:hlinkClick r:id="" action="ppaction://media"/>
            <a:extLst>
              <a:ext uri="{FF2B5EF4-FFF2-40B4-BE49-F238E27FC236}">
                <a16:creationId xmlns:a16="http://schemas.microsoft.com/office/drawing/2014/main" id="{D338322B-6362-9A57-4552-9E65F8A488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45781" t="-45781" r="-45781" b="-45781"/>
          <a:stretch>
            <a:fillRect/>
          </a:stretch>
        </p:blipFill>
        <p:spPr>
          <a:xfrm>
            <a:off x="5694324" y="2678074"/>
            <a:ext cx="1167765" cy="1167765"/>
          </a:xfrm>
          <a:prstGeom prst="ellipse">
            <a:avLst/>
          </a:prstGeom>
        </p:spPr>
      </p:pic>
    </p:spTree>
  </p:cSld>
  <p:clrMapOvr>
    <a:masterClrMapping/>
  </p:clrMapOvr>
  <p:transition advTm="19246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5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2967" y="1496607"/>
            <a:ext cx="2988945" cy="4044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50" dirty="0"/>
              <a:t>Normas</a:t>
            </a:r>
            <a:r>
              <a:rPr sz="2450" spc="185" dirty="0"/>
              <a:t> </a:t>
            </a:r>
            <a:r>
              <a:rPr sz="2450" dirty="0"/>
              <a:t>y</a:t>
            </a:r>
            <a:r>
              <a:rPr sz="2450" spc="200" dirty="0"/>
              <a:t> </a:t>
            </a:r>
            <a:r>
              <a:rPr sz="2450" spc="-10" dirty="0"/>
              <a:t>derechos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782967" y="2033981"/>
            <a:ext cx="198628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dirty="0">
                <a:solidFill>
                  <a:srgbClr val="FFFFFF"/>
                </a:solidFill>
                <a:latin typeface="Arial"/>
                <a:cs typeface="Arial"/>
              </a:rPr>
              <a:t>Actividad</a:t>
            </a:r>
            <a:r>
              <a:rPr sz="11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15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1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FFFFFF"/>
                </a:solidFill>
                <a:latin typeface="Arial"/>
                <a:cs typeface="Arial"/>
              </a:rPr>
              <a:t>Video</a:t>
            </a:r>
            <a:r>
              <a:rPr sz="115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rial"/>
                <a:cs typeface="Arial"/>
              </a:rPr>
              <a:t>academico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D06E50B2-78D3-B44B-4F02-80CFFAF9EF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45781" t="-45781" r="-45781" b="-45781"/>
          <a:stretch>
            <a:fillRect/>
          </a:stretch>
        </p:blipFill>
        <p:spPr>
          <a:xfrm>
            <a:off x="5694324" y="2678074"/>
            <a:ext cx="1167765" cy="1167765"/>
          </a:xfrm>
          <a:prstGeom prst="ellipse">
            <a:avLst/>
          </a:prstGeom>
        </p:spPr>
      </p:pic>
    </p:spTree>
  </p:cSld>
  <p:clrMapOvr>
    <a:masterClrMapping/>
  </p:clrMapOvr>
  <p:transition advTm="2496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15"/>
              </a:spcBef>
            </a:pPr>
            <a:endParaRPr/>
          </a:p>
          <a:p>
            <a:pPr marL="125730">
              <a:lnSpc>
                <a:spcPct val="100000"/>
              </a:lnSpc>
              <a:spcBef>
                <a:spcPts val="5"/>
              </a:spcBef>
            </a:pPr>
            <a:r>
              <a:rPr dirty="0"/>
              <a:t>Marco</a:t>
            </a:r>
            <a:r>
              <a:rPr spc="-50" dirty="0"/>
              <a:t> </a:t>
            </a:r>
            <a:r>
              <a:rPr dirty="0"/>
              <a:t>juridico</a:t>
            </a:r>
            <a:r>
              <a:rPr spc="-50" dirty="0"/>
              <a:t> </a:t>
            </a:r>
            <a:r>
              <a:rPr spc="-10" dirty="0"/>
              <a:t>relacionado</a:t>
            </a: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8005" y="1057160"/>
            <a:ext cx="6516370" cy="0"/>
          </a:xfrm>
          <a:custGeom>
            <a:avLst/>
            <a:gdLst/>
            <a:ahLst/>
            <a:cxnLst/>
            <a:rect l="l" t="t" r="r" b="b"/>
            <a:pathLst>
              <a:path w="6516370">
                <a:moveTo>
                  <a:pt x="0" y="0"/>
                </a:moveTo>
                <a:lnTo>
                  <a:pt x="6516001" y="0"/>
                </a:lnTo>
              </a:path>
            </a:pathLst>
          </a:custGeom>
          <a:ln w="11010">
            <a:solidFill>
              <a:srgbClr val="1F2A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5305" y="1074811"/>
            <a:ext cx="42418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b="1" spc="-10" dirty="0">
                <a:solidFill>
                  <a:srgbClr val="1F2A24"/>
                </a:solidFill>
                <a:latin typeface="Arial"/>
                <a:cs typeface="Arial"/>
              </a:rPr>
              <a:t>Fuente</a:t>
            </a:r>
            <a:endParaRPr sz="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35776" y="1074811"/>
            <a:ext cx="1189355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b="1" dirty="0">
                <a:solidFill>
                  <a:srgbClr val="1F2A24"/>
                </a:solidFill>
                <a:latin typeface="Arial"/>
                <a:cs typeface="Arial"/>
              </a:rPr>
              <a:t>Contenido</a:t>
            </a:r>
            <a:r>
              <a:rPr sz="950" b="1" spc="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1F2A24"/>
                </a:solidFill>
                <a:latin typeface="Arial"/>
                <a:cs typeface="Arial"/>
              </a:rPr>
              <a:t>relevante</a:t>
            </a:r>
            <a:endParaRPr sz="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44400" y="1074811"/>
            <a:ext cx="1119505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b="1" dirty="0">
                <a:solidFill>
                  <a:srgbClr val="1F2A24"/>
                </a:solidFill>
                <a:latin typeface="Arial"/>
                <a:cs typeface="Arial"/>
              </a:rPr>
              <a:t>Funcion</a:t>
            </a:r>
            <a:r>
              <a:rPr sz="950" b="1" spc="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sz="950" b="1" spc="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950" b="1" spc="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b="1" spc="-20" dirty="0">
                <a:solidFill>
                  <a:srgbClr val="1F2A24"/>
                </a:solidFill>
                <a:latin typeface="Arial"/>
                <a:cs typeface="Arial"/>
              </a:rPr>
              <a:t>caso</a:t>
            </a:r>
            <a:endParaRPr sz="9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8005" y="1282598"/>
            <a:ext cx="6516370" cy="0"/>
          </a:xfrm>
          <a:custGeom>
            <a:avLst/>
            <a:gdLst/>
            <a:ahLst/>
            <a:cxnLst/>
            <a:rect l="l" t="t" r="r" b="b"/>
            <a:pathLst>
              <a:path w="6516370">
                <a:moveTo>
                  <a:pt x="0" y="0"/>
                </a:moveTo>
                <a:lnTo>
                  <a:pt x="6516001" y="0"/>
                </a:lnTo>
              </a:path>
            </a:pathLst>
          </a:custGeom>
          <a:ln w="6883">
            <a:solidFill>
              <a:srgbClr val="1F2A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5305" y="1298178"/>
            <a:ext cx="1243965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Constitucion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 mexicana</a:t>
            </a:r>
            <a:endParaRPr sz="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35776" y="1298178"/>
            <a:ext cx="150241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Articulos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1,</a:t>
            </a:r>
            <a:r>
              <a:rPr sz="950" spc="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14,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16,</a:t>
            </a:r>
            <a:r>
              <a:rPr sz="950" spc="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17</a:t>
            </a:r>
            <a:r>
              <a:rPr sz="950" spc="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25" dirty="0">
                <a:solidFill>
                  <a:srgbClr val="1F2A24"/>
                </a:solidFill>
                <a:latin typeface="Arial"/>
                <a:cs typeface="Arial"/>
              </a:rPr>
              <a:t>20.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44400" y="1298178"/>
            <a:ext cx="2362200" cy="138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24130" indent="-635">
              <a:lnSpc>
                <a:spcPct val="104900"/>
              </a:lnSpc>
              <a:spcBef>
                <a:spcPts val="50"/>
              </a:spcBef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Derechos humanos, seguridad juridica, </a:t>
            </a:r>
            <a:r>
              <a:rPr sz="950" spc="-25" dirty="0">
                <a:solidFill>
                  <a:srgbClr val="1F2A24"/>
                </a:solidFill>
                <a:latin typeface="Arial"/>
                <a:cs typeface="Arial"/>
              </a:rPr>
              <a:t>de-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bido proceso,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acceso a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justicia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derechos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victimas.</a:t>
            </a:r>
            <a:endParaRPr sz="950">
              <a:latin typeface="Arial"/>
              <a:cs typeface="Arial"/>
            </a:endParaRPr>
          </a:p>
          <a:p>
            <a:pPr marL="12700" marR="43815">
              <a:lnSpc>
                <a:spcPct val="104900"/>
              </a:lnSpc>
            </a:pP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Traduce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 el dano en obligaciones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concretas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950" spc="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atencion</a:t>
            </a:r>
            <a:r>
              <a:rPr sz="950" spc="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950" spc="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reparacion.</a:t>
            </a:r>
            <a:endParaRPr sz="950">
              <a:latin typeface="Arial"/>
              <a:cs typeface="Arial"/>
            </a:endParaRPr>
          </a:p>
          <a:p>
            <a:pPr marL="12700" marR="5080">
              <a:lnSpc>
                <a:spcPct val="104900"/>
              </a:lnSpc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Convierte la desaparicion en deber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reforza-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do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Estado.</a:t>
            </a:r>
            <a:endParaRPr sz="950">
              <a:latin typeface="Arial"/>
              <a:cs typeface="Arial"/>
            </a:endParaRPr>
          </a:p>
          <a:p>
            <a:pPr marL="12700" marR="127635">
              <a:lnSpc>
                <a:spcPct val="104900"/>
              </a:lnSpc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Evitan que el caso sea tratado como </a:t>
            </a:r>
            <a:r>
              <a:rPr sz="950" spc="-20" dirty="0">
                <a:solidFill>
                  <a:srgbClr val="1F2A24"/>
                </a:solidFill>
                <a:latin typeface="Arial"/>
                <a:cs typeface="Arial"/>
              </a:rPr>
              <a:t>pro-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blema local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aislado.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5305" y="1753664"/>
            <a:ext cx="134493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Ley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General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Victimas</a:t>
            </a:r>
            <a:endParaRPr sz="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35776" y="1753664"/>
            <a:ext cx="2319020" cy="9309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-635">
              <a:lnSpc>
                <a:spcPct val="104900"/>
              </a:lnSpc>
              <a:spcBef>
                <a:spcPts val="50"/>
              </a:spcBef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Ayuda,</a:t>
            </a:r>
            <a:r>
              <a:rPr sz="950" spc="-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asistencia,</a:t>
            </a:r>
            <a:r>
              <a:rPr sz="950" spc="-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verdad,</a:t>
            </a:r>
            <a:r>
              <a:rPr sz="950" spc="-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reparacion</a:t>
            </a:r>
            <a:r>
              <a:rPr sz="950" spc="-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inte-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gral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garantias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repeticion.</a:t>
            </a:r>
            <a:endParaRPr sz="950">
              <a:latin typeface="Arial"/>
              <a:cs typeface="Arial"/>
            </a:endParaRPr>
          </a:p>
          <a:p>
            <a:pPr marL="12700" marR="135890">
              <a:lnSpc>
                <a:spcPct val="104900"/>
              </a:lnSpc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Busqueda,</a:t>
            </a:r>
            <a:r>
              <a:rPr sz="950" spc="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investigacion,</a:t>
            </a:r>
            <a:r>
              <a:rPr sz="950" spc="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coordinacion</a:t>
            </a:r>
            <a:r>
              <a:rPr sz="950" spc="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50" dirty="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respuesta</a:t>
            </a:r>
            <a:r>
              <a:rPr sz="950" spc="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institucional.</a:t>
            </a:r>
            <a:endParaRPr sz="950">
              <a:latin typeface="Arial"/>
              <a:cs typeface="Arial"/>
            </a:endParaRPr>
          </a:p>
          <a:p>
            <a:pPr marL="12700" marR="123189" indent="-635">
              <a:lnSpc>
                <a:spcPct val="104900"/>
              </a:lnSpc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Universalidad,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debida</a:t>
            </a:r>
            <a:r>
              <a:rPr sz="950" spc="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diligencia,</a:t>
            </a:r>
            <a:r>
              <a:rPr sz="950" spc="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verdad,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justicia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reparacion.</a:t>
            </a:r>
            <a:endParaRPr sz="9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5305" y="2057321"/>
            <a:ext cx="1524635" cy="47498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4900"/>
              </a:lnSpc>
              <a:spcBef>
                <a:spcPts val="50"/>
              </a:spcBef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Ley</a:t>
            </a:r>
            <a:r>
              <a:rPr sz="950" spc="1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General</a:t>
            </a:r>
            <a:r>
              <a:rPr sz="950" spc="1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sz="950" spc="1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Materia</a:t>
            </a:r>
            <a:r>
              <a:rPr sz="950" spc="1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25" dirty="0">
                <a:solidFill>
                  <a:srgbClr val="1F2A24"/>
                </a:solidFill>
                <a:latin typeface="Arial"/>
                <a:cs typeface="Arial"/>
              </a:rPr>
              <a:t>de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Desaparicion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Estandares</a:t>
            </a:r>
            <a:r>
              <a:rPr sz="950" spc="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internacionales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8005" y="2722664"/>
            <a:ext cx="6516370" cy="0"/>
          </a:xfrm>
          <a:custGeom>
            <a:avLst/>
            <a:gdLst/>
            <a:ahLst/>
            <a:cxnLst/>
            <a:rect l="l" t="t" r="r" b="b"/>
            <a:pathLst>
              <a:path w="6516370">
                <a:moveTo>
                  <a:pt x="0" y="0"/>
                </a:moveTo>
                <a:lnTo>
                  <a:pt x="6516001" y="0"/>
                </a:lnTo>
              </a:path>
            </a:pathLst>
          </a:custGeom>
          <a:ln w="11010">
            <a:solidFill>
              <a:srgbClr val="1F2A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5305" y="2708852"/>
            <a:ext cx="3439795" cy="113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sz="550" spc="7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(Camara</a:t>
            </a:r>
            <a:r>
              <a:rPr sz="550" spc="7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de</a:t>
            </a:r>
            <a:r>
              <a:rPr sz="550" spc="7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Diputados,</a:t>
            </a:r>
            <a:r>
              <a:rPr sz="550" spc="7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2024,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2026a,</a:t>
            </a:r>
            <a:r>
              <a:rPr sz="550" spc="7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2026b;</a:t>
            </a:r>
            <a:r>
              <a:rPr sz="550" spc="7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Suprema</a:t>
            </a:r>
            <a:r>
              <a:rPr sz="550" spc="7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Corte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de</a:t>
            </a:r>
            <a:r>
              <a:rPr sz="550" spc="7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Justicia</a:t>
            </a:r>
            <a:r>
              <a:rPr sz="550" spc="7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de</a:t>
            </a:r>
            <a:r>
              <a:rPr sz="550" spc="7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la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Nacion</a:t>
            </a:r>
            <a:r>
              <a:rPr sz="550" spc="7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[SCJN],</a:t>
            </a:r>
            <a:r>
              <a:rPr sz="550" spc="7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5D6B66"/>
                </a:solidFill>
                <a:latin typeface="Arial"/>
                <a:cs typeface="Arial"/>
              </a:rPr>
              <a:t>2016).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19" name="object 19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spc="60" dirty="0"/>
              <a:t> </a:t>
            </a:r>
            <a:r>
              <a:rPr dirty="0"/>
              <a:t>del</a:t>
            </a:r>
            <a:r>
              <a:rPr spc="65" dirty="0"/>
              <a:t> </a:t>
            </a:r>
            <a:r>
              <a:rPr spc="-10" dirty="0"/>
              <a:t>Derecho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030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10" dirty="0"/>
              <a:t>13</a:t>
            </a:fld>
            <a:r>
              <a:rPr spc="-10" dirty="0"/>
              <a:t>/22</a:t>
            </a:r>
          </a:p>
        </p:txBody>
      </p:sp>
      <p:pic>
        <p:nvPicPr>
          <p:cNvPr id="27" name="Audio 26">
            <a:hlinkClick r:id="" action="ppaction://media"/>
            <a:extLst>
              <a:ext uri="{FF2B5EF4-FFF2-40B4-BE49-F238E27FC236}">
                <a16:creationId xmlns:a16="http://schemas.microsoft.com/office/drawing/2014/main" id="{8F6B6CD6-8AF2-80D4-32E7-A915B7E5985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45781" t="-45781" r="-45781" b="-45781"/>
          <a:stretch>
            <a:fillRect/>
          </a:stretch>
        </p:blipFill>
        <p:spPr>
          <a:xfrm>
            <a:off x="5694324" y="2678074"/>
            <a:ext cx="1167765" cy="1167765"/>
          </a:xfrm>
          <a:prstGeom prst="ellipse">
            <a:avLst/>
          </a:prstGeom>
        </p:spPr>
      </p:pic>
    </p:spTree>
  </p:cSld>
  <p:clrMapOvr>
    <a:masterClrMapping/>
  </p:clrMapOvr>
  <p:transition advTm="24238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9"/>
              </a:spcBef>
            </a:pPr>
            <a:endParaRPr/>
          </a:p>
          <a:p>
            <a:pPr marL="125730">
              <a:lnSpc>
                <a:spcPct val="100000"/>
              </a:lnSpc>
            </a:pPr>
            <a:r>
              <a:rPr dirty="0"/>
              <a:t>Seguridad</a:t>
            </a:r>
            <a:r>
              <a:rPr spc="-60" dirty="0"/>
              <a:t> </a:t>
            </a:r>
            <a:r>
              <a:rPr dirty="0"/>
              <a:t>juridica</a:t>
            </a:r>
            <a:r>
              <a:rPr spc="-55" dirty="0"/>
              <a:t> </a:t>
            </a:r>
            <a:r>
              <a:rPr spc="-10" dirty="0"/>
              <a:t>transgredida</a:t>
            </a: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68096" y="1023365"/>
            <a:ext cx="3229610" cy="947419"/>
            <a:chOff x="168096" y="1023365"/>
            <a:chExt cx="3229610" cy="947419"/>
          </a:xfrm>
        </p:grpSpPr>
        <p:sp>
          <p:nvSpPr>
            <p:cNvPr id="6" name="object 6"/>
            <p:cNvSpPr/>
            <p:nvPr/>
          </p:nvSpPr>
          <p:spPr>
            <a:xfrm>
              <a:off x="168096" y="1023365"/>
              <a:ext cx="3229610" cy="202565"/>
            </a:xfrm>
            <a:custGeom>
              <a:avLst/>
              <a:gdLst/>
              <a:ahLst/>
              <a:cxnLst/>
              <a:rect l="l" t="t" r="r" b="b"/>
              <a:pathLst>
                <a:path w="3229610" h="202565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2168"/>
                  </a:lnTo>
                  <a:lnTo>
                    <a:pt x="3229292" y="202168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096" y="1212875"/>
              <a:ext cx="3229292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8096" y="1257150"/>
              <a:ext cx="3229610" cy="713740"/>
            </a:xfrm>
            <a:custGeom>
              <a:avLst/>
              <a:gdLst/>
              <a:ahLst/>
              <a:cxnLst/>
              <a:rect l="l" t="t" r="r" b="b"/>
              <a:pathLst>
                <a:path w="3229610" h="713739">
                  <a:moveTo>
                    <a:pt x="3229292" y="0"/>
                  </a:moveTo>
                  <a:lnTo>
                    <a:pt x="0" y="0"/>
                  </a:lnTo>
                  <a:lnTo>
                    <a:pt x="0" y="662581"/>
                  </a:lnTo>
                  <a:lnTo>
                    <a:pt x="4008" y="682306"/>
                  </a:lnTo>
                  <a:lnTo>
                    <a:pt x="14922" y="698459"/>
                  </a:lnTo>
                  <a:lnTo>
                    <a:pt x="31075" y="709373"/>
                  </a:lnTo>
                  <a:lnTo>
                    <a:pt x="50800" y="713382"/>
                  </a:lnTo>
                  <a:lnTo>
                    <a:pt x="3178491" y="713382"/>
                  </a:lnTo>
                  <a:lnTo>
                    <a:pt x="3198216" y="709373"/>
                  </a:lnTo>
                  <a:lnTo>
                    <a:pt x="3214369" y="698459"/>
                  </a:lnTo>
                  <a:lnTo>
                    <a:pt x="3225283" y="682306"/>
                  </a:lnTo>
                  <a:lnTo>
                    <a:pt x="3229292" y="662581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68096" y="2097061"/>
            <a:ext cx="3229610" cy="934085"/>
            <a:chOff x="168096" y="2097061"/>
            <a:chExt cx="3229610" cy="934085"/>
          </a:xfrm>
        </p:grpSpPr>
        <p:sp>
          <p:nvSpPr>
            <p:cNvPr id="10" name="object 10"/>
            <p:cNvSpPr/>
            <p:nvPr/>
          </p:nvSpPr>
          <p:spPr>
            <a:xfrm>
              <a:off x="168096" y="2097061"/>
              <a:ext cx="3229610" cy="189230"/>
            </a:xfrm>
            <a:custGeom>
              <a:avLst/>
              <a:gdLst/>
              <a:ahLst/>
              <a:cxnLst/>
              <a:rect l="l" t="t" r="r" b="b"/>
              <a:pathLst>
                <a:path w="3229610" h="189230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8716"/>
                  </a:lnTo>
                  <a:lnTo>
                    <a:pt x="3229292" y="188716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096" y="2273122"/>
              <a:ext cx="3229292" cy="5060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68096" y="2317396"/>
              <a:ext cx="3229610" cy="713740"/>
            </a:xfrm>
            <a:custGeom>
              <a:avLst/>
              <a:gdLst/>
              <a:ahLst/>
              <a:cxnLst/>
              <a:rect l="l" t="t" r="r" b="b"/>
              <a:pathLst>
                <a:path w="3229610" h="713739">
                  <a:moveTo>
                    <a:pt x="3229292" y="0"/>
                  </a:moveTo>
                  <a:lnTo>
                    <a:pt x="0" y="0"/>
                  </a:lnTo>
                  <a:lnTo>
                    <a:pt x="0" y="662581"/>
                  </a:lnTo>
                  <a:lnTo>
                    <a:pt x="4008" y="682306"/>
                  </a:lnTo>
                  <a:lnTo>
                    <a:pt x="14922" y="698459"/>
                  </a:lnTo>
                  <a:lnTo>
                    <a:pt x="31075" y="709373"/>
                  </a:lnTo>
                  <a:lnTo>
                    <a:pt x="50800" y="713382"/>
                  </a:lnTo>
                  <a:lnTo>
                    <a:pt x="3178491" y="713382"/>
                  </a:lnTo>
                  <a:lnTo>
                    <a:pt x="3198216" y="709373"/>
                  </a:lnTo>
                  <a:lnTo>
                    <a:pt x="3214369" y="698459"/>
                  </a:lnTo>
                  <a:lnTo>
                    <a:pt x="3225283" y="682306"/>
                  </a:lnTo>
                  <a:lnTo>
                    <a:pt x="3229292" y="662581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/>
              <a:t>Que</a:t>
            </a:r>
            <a:r>
              <a:rPr spc="-20" dirty="0"/>
              <a:t> </a:t>
            </a:r>
            <a:r>
              <a:rPr dirty="0"/>
              <a:t>se</a:t>
            </a:r>
            <a:r>
              <a:rPr spc="-15" dirty="0"/>
              <a:t> </a:t>
            </a:r>
            <a:r>
              <a:rPr spc="-10" dirty="0"/>
              <a:t>transgrede</a:t>
            </a:r>
          </a:p>
          <a:p>
            <a:pPr marL="12700" marR="5080">
              <a:lnSpc>
                <a:spcPct val="107500"/>
              </a:lnSpc>
              <a:spcBef>
                <a:spcPts val="300"/>
              </a:spcBef>
            </a:pP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sz="1050" b="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seguridad</a:t>
            </a:r>
            <a:r>
              <a:rPr sz="1050" b="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juridica</a:t>
            </a:r>
            <a:r>
              <a:rPr sz="1050" b="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se</a:t>
            </a:r>
            <a:r>
              <a:rPr sz="1050" b="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afecta</a:t>
            </a:r>
            <a:r>
              <a:rPr sz="1050" b="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cuando</a:t>
            </a:r>
            <a:r>
              <a:rPr sz="1050" b="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una</a:t>
            </a:r>
            <a:r>
              <a:rPr sz="1050" b="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spc="-10" dirty="0">
                <a:solidFill>
                  <a:srgbClr val="1F2A24"/>
                </a:solidFill>
                <a:latin typeface="Arial"/>
                <a:cs typeface="Arial"/>
              </a:rPr>
              <a:t>persona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sz="1050" b="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puede</a:t>
            </a:r>
            <a:r>
              <a:rPr sz="1050" b="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confiar</a:t>
            </a:r>
            <a:r>
              <a:rPr sz="1050" b="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sz="1050" b="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que</a:t>
            </a:r>
            <a:r>
              <a:rPr sz="1050" b="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sz="1050" b="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autoridad</a:t>
            </a:r>
            <a:r>
              <a:rPr sz="1050" b="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spc="-10" dirty="0">
                <a:solidFill>
                  <a:srgbClr val="1F2A24"/>
                </a:solidFill>
                <a:latin typeface="Arial"/>
                <a:cs typeface="Arial"/>
              </a:rPr>
              <a:t>respetara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libertad,</a:t>
            </a:r>
            <a:r>
              <a:rPr sz="1050" b="0" spc="-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integridad,</a:t>
            </a:r>
            <a:r>
              <a:rPr sz="1050" b="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legalidad,</a:t>
            </a:r>
            <a:r>
              <a:rPr sz="1050" b="0" spc="-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spc="-10" dirty="0">
                <a:solidFill>
                  <a:srgbClr val="1F2A24"/>
                </a:solidFill>
                <a:latin typeface="Arial"/>
                <a:cs typeface="Arial"/>
              </a:rPr>
              <a:t>busqueda, investigacion</a:t>
            </a:r>
            <a:r>
              <a:rPr sz="1050" b="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b="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acceso</a:t>
            </a:r>
            <a:r>
              <a:rPr sz="1050" b="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sz="1050" b="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sz="1050" b="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spc="-10" dirty="0">
                <a:solidFill>
                  <a:srgbClr val="1F2A24"/>
                </a:solidFill>
                <a:latin typeface="Arial"/>
                <a:cs typeface="Arial"/>
              </a:rPr>
              <a:t>justicia.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Como</a:t>
            </a:r>
            <a:r>
              <a:rPr spc="-5" dirty="0"/>
              <a:t> </a:t>
            </a:r>
            <a:r>
              <a:rPr dirty="0"/>
              <a:t>se</a:t>
            </a:r>
            <a:r>
              <a:rPr spc="-5" dirty="0"/>
              <a:t> </a:t>
            </a:r>
            <a:r>
              <a:rPr spc="-10" dirty="0"/>
              <a:t>observa</a:t>
            </a:r>
          </a:p>
          <a:p>
            <a:pPr marL="12700" marR="100965">
              <a:lnSpc>
                <a:spcPct val="107500"/>
              </a:lnSpc>
              <a:spcBef>
                <a:spcPts val="190"/>
              </a:spcBef>
            </a:pP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sz="1050" b="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falla</a:t>
            </a:r>
            <a:r>
              <a:rPr sz="1050" b="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sz="1050" b="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esta</a:t>
            </a:r>
            <a:r>
              <a:rPr sz="1050" b="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solo</a:t>
            </a:r>
            <a:r>
              <a:rPr sz="1050" b="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sz="1050" b="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1050" b="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hecho</a:t>
            </a:r>
            <a:r>
              <a:rPr sz="1050" b="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inicial,</a:t>
            </a:r>
            <a:r>
              <a:rPr sz="1050" b="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sino</a:t>
            </a:r>
            <a:r>
              <a:rPr sz="1050" b="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sz="1050" b="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spc="-25" dirty="0">
                <a:solidFill>
                  <a:srgbClr val="1F2A24"/>
                </a:solidFill>
                <a:latin typeface="Arial"/>
                <a:cs typeface="Arial"/>
              </a:rPr>
              <a:t>la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respuesta</a:t>
            </a:r>
            <a:r>
              <a:rPr sz="1050" b="0" spc="-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posterior:</a:t>
            </a:r>
            <a:r>
              <a:rPr sz="1050" b="0" spc="-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verdad</a:t>
            </a:r>
            <a:r>
              <a:rPr sz="1050" b="0" spc="-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incompleta,</a:t>
            </a:r>
            <a:r>
              <a:rPr sz="1050" b="0" spc="-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spc="-10" dirty="0">
                <a:solidFill>
                  <a:srgbClr val="1F2A24"/>
                </a:solidFill>
                <a:latin typeface="Arial"/>
                <a:cs typeface="Arial"/>
              </a:rPr>
              <a:t>busqueda insuficiente,</a:t>
            </a:r>
            <a:r>
              <a:rPr sz="1050" b="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coordinacion</a:t>
            </a:r>
            <a:r>
              <a:rPr sz="1050" b="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irregular</a:t>
            </a:r>
            <a:r>
              <a:rPr sz="1050" b="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b="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spc="-20" dirty="0">
                <a:solidFill>
                  <a:srgbClr val="1F2A24"/>
                </a:solidFill>
                <a:latin typeface="Arial"/>
                <a:cs typeface="Arial"/>
              </a:rPr>
              <a:t>dano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prolongado</a:t>
            </a:r>
            <a:r>
              <a:rPr sz="1050" b="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dirty="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sz="1050" b="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b="0" spc="-10" dirty="0">
                <a:solidFill>
                  <a:srgbClr val="1F2A24"/>
                </a:solidFill>
                <a:latin typeface="Arial"/>
                <a:cs typeface="Arial"/>
              </a:rPr>
              <a:t>familias.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14648" y="1210614"/>
            <a:ext cx="3229292" cy="50609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3514648" y="2063673"/>
            <a:ext cx="3229610" cy="588010"/>
            <a:chOff x="3514648" y="2063673"/>
            <a:chExt cx="3229610" cy="588010"/>
          </a:xfrm>
        </p:grpSpPr>
        <p:sp>
          <p:nvSpPr>
            <p:cNvPr id="16" name="object 16"/>
            <p:cNvSpPr/>
            <p:nvPr/>
          </p:nvSpPr>
          <p:spPr>
            <a:xfrm>
              <a:off x="3514648" y="2063673"/>
              <a:ext cx="3229610" cy="189230"/>
            </a:xfrm>
            <a:custGeom>
              <a:avLst/>
              <a:gdLst/>
              <a:ahLst/>
              <a:cxnLst/>
              <a:rect l="l" t="t" r="r" b="b"/>
              <a:pathLst>
                <a:path w="3229609" h="189230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8716"/>
                  </a:lnTo>
                  <a:lnTo>
                    <a:pt x="3229292" y="188716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14648" y="2239746"/>
              <a:ext cx="3229292" cy="506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514648" y="2284014"/>
              <a:ext cx="3229610" cy="367665"/>
            </a:xfrm>
            <a:custGeom>
              <a:avLst/>
              <a:gdLst/>
              <a:ahLst/>
              <a:cxnLst/>
              <a:rect l="l" t="t" r="r" b="b"/>
              <a:pathLst>
                <a:path w="3229609" h="367664">
                  <a:moveTo>
                    <a:pt x="3229292" y="0"/>
                  </a:moveTo>
                  <a:lnTo>
                    <a:pt x="0" y="0"/>
                  </a:lnTo>
                  <a:lnTo>
                    <a:pt x="0" y="316831"/>
                  </a:lnTo>
                  <a:lnTo>
                    <a:pt x="4008" y="336555"/>
                  </a:lnTo>
                  <a:lnTo>
                    <a:pt x="14922" y="352708"/>
                  </a:lnTo>
                  <a:lnTo>
                    <a:pt x="31075" y="363623"/>
                  </a:lnTo>
                  <a:lnTo>
                    <a:pt x="50800" y="367631"/>
                  </a:lnTo>
                  <a:lnTo>
                    <a:pt x="3178491" y="367631"/>
                  </a:lnTo>
                  <a:lnTo>
                    <a:pt x="3198216" y="363623"/>
                  </a:lnTo>
                  <a:lnTo>
                    <a:pt x="3214369" y="352708"/>
                  </a:lnTo>
                  <a:lnTo>
                    <a:pt x="3225283" y="336555"/>
                  </a:lnTo>
                  <a:lnTo>
                    <a:pt x="3229292" y="316831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552748" y="959982"/>
            <a:ext cx="3108325" cy="165862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150" b="1" dirty="0">
                <a:solidFill>
                  <a:srgbClr val="B88A2A"/>
                </a:solidFill>
                <a:latin typeface="Arial"/>
                <a:cs typeface="Arial"/>
              </a:rPr>
              <a:t>Por</a:t>
            </a:r>
            <a:r>
              <a:rPr sz="1150" b="1" spc="-70" dirty="0">
                <a:solidFill>
                  <a:srgbClr val="B88A2A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B88A2A"/>
                </a:solidFill>
                <a:latin typeface="Arial"/>
                <a:cs typeface="Arial"/>
              </a:rPr>
              <a:t>quien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7500"/>
              </a:lnSpc>
              <a:spcBef>
                <a:spcPts val="254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transgresion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se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atribuye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al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aparato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estatal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sus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deberes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prevenir,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proteger,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buscar,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investigar,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coordinar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reparar.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se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agota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una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persona: revela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una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falla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institucional.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Consecuencia</a:t>
            </a:r>
            <a:endParaRPr sz="1150">
              <a:latin typeface="Arial"/>
              <a:cs typeface="Arial"/>
            </a:endParaRPr>
          </a:p>
          <a:p>
            <a:pPr marL="12700" marR="535940">
              <a:lnSpc>
                <a:spcPct val="107500"/>
              </a:lnSpc>
              <a:spcBef>
                <a:spcPts val="195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norma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sigue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existiendo,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pero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su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eficacia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protectora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queda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duda.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5305" y="3027559"/>
            <a:ext cx="1870710" cy="113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sz="550" spc="7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(Camara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de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Diputados,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2024,</a:t>
            </a:r>
            <a:r>
              <a:rPr sz="550" spc="7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2026a;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CNDH,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5D6B66"/>
                </a:solidFill>
                <a:latin typeface="Arial"/>
                <a:cs typeface="Arial"/>
              </a:rPr>
              <a:t>2024).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22" name="object 22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spc="60" dirty="0"/>
              <a:t> </a:t>
            </a:r>
            <a:r>
              <a:rPr dirty="0"/>
              <a:t>del</a:t>
            </a:r>
            <a:r>
              <a:rPr spc="65" dirty="0"/>
              <a:t> </a:t>
            </a:r>
            <a:r>
              <a:rPr spc="-10" dirty="0"/>
              <a:t>Derecho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030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10" dirty="0"/>
              <a:t>14</a:t>
            </a:fld>
            <a:r>
              <a:rPr spc="-10" dirty="0"/>
              <a:t>/22</a:t>
            </a:r>
          </a:p>
        </p:txBody>
      </p:sp>
      <p:pic>
        <p:nvPicPr>
          <p:cNvPr id="30" name="Audio 29">
            <a:hlinkClick r:id="" action="ppaction://media"/>
            <a:extLst>
              <a:ext uri="{FF2B5EF4-FFF2-40B4-BE49-F238E27FC236}">
                <a16:creationId xmlns:a16="http://schemas.microsoft.com/office/drawing/2014/main" id="{AC3EAF0B-AF0A-0DC2-A56F-EEE42879E2D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45781" t="-45781" r="-45781" b="-45781"/>
          <a:stretch>
            <a:fillRect/>
          </a:stretch>
        </p:blipFill>
        <p:spPr>
          <a:xfrm>
            <a:off x="5694324" y="2678074"/>
            <a:ext cx="1167765" cy="1167765"/>
          </a:xfrm>
          <a:prstGeom prst="ellipse">
            <a:avLst/>
          </a:prstGeom>
        </p:spPr>
      </p:pic>
    </p:spTree>
  </p:cSld>
  <p:clrMapOvr>
    <a:masterClrMapping/>
  </p:clrMapOvr>
  <p:transition advTm="25595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/>
          </a:p>
          <a:p>
            <a:pPr marL="125730">
              <a:lnSpc>
                <a:spcPct val="100000"/>
              </a:lnSpc>
            </a:pPr>
            <a:r>
              <a:rPr dirty="0"/>
              <a:t>Derechos</a:t>
            </a:r>
            <a:r>
              <a:rPr spc="-15" dirty="0"/>
              <a:t> </a:t>
            </a:r>
            <a:r>
              <a:rPr dirty="0"/>
              <a:t>humanos</a:t>
            </a:r>
            <a:r>
              <a:rPr spc="-10" dirty="0"/>
              <a:t> violentados</a:t>
            </a: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8005" y="1117892"/>
            <a:ext cx="6516370" cy="0"/>
          </a:xfrm>
          <a:custGeom>
            <a:avLst/>
            <a:gdLst/>
            <a:ahLst/>
            <a:cxnLst/>
            <a:rect l="l" t="t" r="r" b="b"/>
            <a:pathLst>
              <a:path w="6516370">
                <a:moveTo>
                  <a:pt x="0" y="0"/>
                </a:moveTo>
                <a:lnTo>
                  <a:pt x="6516001" y="0"/>
                </a:lnTo>
              </a:path>
            </a:pathLst>
          </a:custGeom>
          <a:ln w="11010">
            <a:solidFill>
              <a:srgbClr val="1F2A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5305" y="1135542"/>
            <a:ext cx="51054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b="1" spc="-10" dirty="0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endParaRPr sz="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6109" y="1135542"/>
            <a:ext cx="1266825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b="1" dirty="0">
                <a:solidFill>
                  <a:srgbClr val="1F2A24"/>
                </a:solidFill>
                <a:latin typeface="Arial"/>
                <a:cs typeface="Arial"/>
              </a:rPr>
              <a:t>Afectacion</a:t>
            </a:r>
            <a:r>
              <a:rPr sz="950" b="1" spc="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sz="950" b="1" spc="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950" b="1" spc="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b="1" spc="-20" dirty="0">
                <a:solidFill>
                  <a:srgbClr val="1F2A24"/>
                </a:solidFill>
                <a:latin typeface="Arial"/>
                <a:cs typeface="Arial"/>
              </a:rPr>
              <a:t>caso</a:t>
            </a:r>
            <a:endParaRPr sz="9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8005" y="1343329"/>
            <a:ext cx="6516370" cy="0"/>
          </a:xfrm>
          <a:custGeom>
            <a:avLst/>
            <a:gdLst/>
            <a:ahLst/>
            <a:cxnLst/>
            <a:rect l="l" t="t" r="r" b="b"/>
            <a:pathLst>
              <a:path w="6516370">
                <a:moveTo>
                  <a:pt x="0" y="0"/>
                </a:moveTo>
                <a:lnTo>
                  <a:pt x="6516001" y="0"/>
                </a:lnTo>
              </a:path>
            </a:pathLst>
          </a:custGeom>
          <a:ln w="6883">
            <a:solidFill>
              <a:srgbClr val="1F2A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409627" y="1057933"/>
            <a:ext cx="2315210" cy="153543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950" b="1" dirty="0">
                <a:solidFill>
                  <a:srgbClr val="1F2A24"/>
                </a:solidFill>
                <a:latin typeface="Arial"/>
                <a:cs typeface="Arial"/>
              </a:rPr>
              <a:t>Lectura</a:t>
            </a:r>
            <a:r>
              <a:rPr sz="950" b="1" spc="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1F2A24"/>
                </a:solidFill>
                <a:latin typeface="Arial"/>
                <a:cs typeface="Arial"/>
              </a:rPr>
              <a:t>desde</a:t>
            </a:r>
            <a:r>
              <a:rPr sz="950" b="1" spc="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b="1" spc="-10" dirty="0">
                <a:solidFill>
                  <a:srgbClr val="1F2A24"/>
                </a:solidFill>
                <a:latin typeface="Arial"/>
                <a:cs typeface="Arial"/>
              </a:rPr>
              <a:t>universalidad</a:t>
            </a:r>
            <a:endParaRPr sz="950">
              <a:latin typeface="Arial"/>
              <a:cs typeface="Arial"/>
            </a:endParaRPr>
          </a:p>
          <a:p>
            <a:pPr marL="12700" marR="5080">
              <a:lnSpc>
                <a:spcPct val="104900"/>
              </a:lnSpc>
              <a:spcBef>
                <a:spcPts val="565"/>
              </a:spcBef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Ninguna autoridad puede tratar a la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perso-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na</a:t>
            </a:r>
            <a:r>
              <a:rPr sz="950" spc="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como</a:t>
            </a:r>
            <a:r>
              <a:rPr sz="950" spc="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objeto</a:t>
            </a:r>
            <a:r>
              <a:rPr sz="950" spc="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disponible.</a:t>
            </a:r>
            <a:endParaRPr sz="950">
              <a:latin typeface="Arial"/>
              <a:cs typeface="Arial"/>
            </a:endParaRPr>
          </a:p>
          <a:p>
            <a:pPr marL="12700" marR="145415">
              <a:lnSpc>
                <a:spcPct val="104900"/>
              </a:lnSpc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La proteccion no depende de origen </a:t>
            </a:r>
            <a:r>
              <a:rPr sz="950" spc="-25" dirty="0">
                <a:solidFill>
                  <a:srgbClr val="1F2A24"/>
                </a:solidFill>
                <a:latin typeface="Arial"/>
                <a:cs typeface="Arial"/>
              </a:rPr>
              <a:t>so-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cial,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edad,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oficio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o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lugar.</a:t>
            </a:r>
            <a:endParaRPr sz="950">
              <a:latin typeface="Arial"/>
              <a:cs typeface="Arial"/>
            </a:endParaRPr>
          </a:p>
          <a:p>
            <a:pPr marL="12700" marR="96520">
              <a:lnSpc>
                <a:spcPct val="104900"/>
              </a:lnSpc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Las victimas tienen derecho a saber, </a:t>
            </a:r>
            <a:r>
              <a:rPr sz="950" spc="-20" dirty="0">
                <a:solidFill>
                  <a:srgbClr val="1F2A24"/>
                </a:solidFill>
                <a:latin typeface="Arial"/>
                <a:cs typeface="Arial"/>
              </a:rPr>
              <a:t>exi-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gir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ser</a:t>
            </a:r>
            <a:r>
              <a:rPr sz="950" spc="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escuchadas.</a:t>
            </a:r>
            <a:endParaRPr sz="950">
              <a:latin typeface="Arial"/>
              <a:cs typeface="Arial"/>
            </a:endParaRPr>
          </a:p>
          <a:p>
            <a:pPr marL="12700" marR="114300">
              <a:lnSpc>
                <a:spcPct val="104900"/>
              </a:lnSpc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La dignidad opera como fundamento </a:t>
            </a:r>
            <a:r>
              <a:rPr sz="950" spc="-25" dirty="0">
                <a:solidFill>
                  <a:srgbClr val="1F2A24"/>
                </a:solidFill>
                <a:latin typeface="Arial"/>
                <a:cs typeface="Arial"/>
              </a:rPr>
              <a:t>co-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mun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todos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los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derechos.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5305" y="1358910"/>
            <a:ext cx="96901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Libertad</a:t>
            </a:r>
            <a:r>
              <a:rPr sz="950" spc="6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personal</a:t>
            </a:r>
            <a:endParaRPr sz="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66109" y="1358910"/>
            <a:ext cx="2273935" cy="123444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24765" indent="-635">
              <a:lnSpc>
                <a:spcPct val="104900"/>
              </a:lnSpc>
              <a:spcBef>
                <a:spcPts val="50"/>
              </a:spcBef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Desaparicion</a:t>
            </a:r>
            <a:r>
              <a:rPr sz="950" spc="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950" spc="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privacion</a:t>
            </a:r>
            <a:r>
              <a:rPr sz="950" spc="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950" spc="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control</a:t>
            </a:r>
            <a:r>
              <a:rPr sz="950" spc="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sobre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propia</a:t>
            </a:r>
            <a:r>
              <a:rPr sz="950" spc="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persona.</a:t>
            </a:r>
            <a:endParaRPr sz="950">
              <a:latin typeface="Arial"/>
              <a:cs typeface="Arial"/>
            </a:endParaRPr>
          </a:p>
          <a:p>
            <a:pPr marL="12700" marR="5080" indent="-635">
              <a:lnSpc>
                <a:spcPct val="104900"/>
              </a:lnSpc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Riesgo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extremo,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dano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fisico,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psicologico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50" dirty="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social.</a:t>
            </a:r>
            <a:endParaRPr sz="950">
              <a:latin typeface="Arial"/>
              <a:cs typeface="Arial"/>
            </a:endParaRPr>
          </a:p>
          <a:p>
            <a:pPr marL="12700" marR="202565" indent="-635">
              <a:lnSpc>
                <a:spcPct val="104900"/>
              </a:lnSpc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Incertidumbre</a:t>
            </a:r>
            <a:r>
              <a:rPr sz="950" spc="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prolongada</a:t>
            </a:r>
            <a:r>
              <a:rPr sz="950" spc="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950" spc="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respuesta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institucional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insuficiente.</a:t>
            </a:r>
            <a:endParaRPr sz="950">
              <a:latin typeface="Arial"/>
              <a:cs typeface="Arial"/>
            </a:endParaRPr>
          </a:p>
          <a:p>
            <a:pPr marL="12700" marR="166370" indent="-635">
              <a:lnSpc>
                <a:spcPct val="104900"/>
              </a:lnSpc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Familias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estudiantes</a:t>
            </a:r>
            <a:r>
              <a:rPr sz="950" spc="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son</a:t>
            </a:r>
            <a:r>
              <a:rPr sz="950" spc="1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reducidos</a:t>
            </a:r>
            <a:r>
              <a:rPr sz="950" spc="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50" dirty="0">
                <a:solidFill>
                  <a:srgbClr val="1F2A24"/>
                </a:solidFill>
                <a:latin typeface="Arial"/>
                <a:cs typeface="Arial"/>
              </a:rPr>
              <a:t>a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dano</a:t>
            </a:r>
            <a:r>
              <a:rPr sz="950" spc="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administrado.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5305" y="1662567"/>
            <a:ext cx="917575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Integridad</a:t>
            </a:r>
            <a:r>
              <a:rPr sz="950" spc="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950" spc="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20" dirty="0">
                <a:solidFill>
                  <a:srgbClr val="1F2A24"/>
                </a:solidFill>
                <a:latin typeface="Arial"/>
                <a:cs typeface="Arial"/>
              </a:rPr>
              <a:t>vida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5305" y="1966224"/>
            <a:ext cx="90678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Verdad</a:t>
            </a:r>
            <a:r>
              <a:rPr sz="9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9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justicia</a:t>
            </a:r>
            <a:endParaRPr sz="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5305" y="2269893"/>
            <a:ext cx="97790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dirty="0">
                <a:solidFill>
                  <a:srgbClr val="1F2A24"/>
                </a:solidFill>
                <a:latin typeface="Arial"/>
                <a:cs typeface="Arial"/>
              </a:rPr>
              <a:t>Dignidad </a:t>
            </a:r>
            <a:r>
              <a:rPr sz="950" spc="-10" dirty="0">
                <a:solidFill>
                  <a:srgbClr val="1F2A24"/>
                </a:solidFill>
                <a:latin typeface="Arial"/>
                <a:cs typeface="Arial"/>
              </a:rPr>
              <a:t>humana</a:t>
            </a:r>
            <a:endParaRPr sz="9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8005" y="2631566"/>
            <a:ext cx="6516370" cy="0"/>
          </a:xfrm>
          <a:custGeom>
            <a:avLst/>
            <a:gdLst/>
            <a:ahLst/>
            <a:cxnLst/>
            <a:rect l="l" t="t" r="r" b="b"/>
            <a:pathLst>
              <a:path w="6516370">
                <a:moveTo>
                  <a:pt x="0" y="0"/>
                </a:moveTo>
                <a:lnTo>
                  <a:pt x="6516001" y="0"/>
                </a:lnTo>
              </a:path>
            </a:pathLst>
          </a:custGeom>
          <a:ln w="11010">
            <a:solidFill>
              <a:srgbClr val="1F2A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85305" y="2617755"/>
            <a:ext cx="2101850" cy="113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sz="550" spc="7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(Camara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de</a:t>
            </a:r>
            <a:r>
              <a:rPr sz="550" spc="7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Diputados,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2026a;</a:t>
            </a:r>
            <a:r>
              <a:rPr sz="550" spc="7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CNDH,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2024;</a:t>
            </a:r>
            <a:r>
              <a:rPr sz="550" spc="7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SCJN,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5D6B66"/>
                </a:solidFill>
                <a:latin typeface="Arial"/>
                <a:cs typeface="Arial"/>
              </a:rPr>
              <a:t>2016).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18" name="object 18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spc="60" dirty="0"/>
              <a:t> </a:t>
            </a:r>
            <a:r>
              <a:rPr dirty="0"/>
              <a:t>del</a:t>
            </a:r>
            <a:r>
              <a:rPr spc="65" dirty="0"/>
              <a:t> </a:t>
            </a:r>
            <a:r>
              <a:rPr spc="-10" dirty="0"/>
              <a:t>Derecho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030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10" dirty="0"/>
              <a:t>15</a:t>
            </a:fld>
            <a:r>
              <a:rPr spc="-10" dirty="0"/>
              <a:t>/22</a:t>
            </a:r>
          </a:p>
        </p:txBody>
      </p:sp>
      <p:pic>
        <p:nvPicPr>
          <p:cNvPr id="26" name="Audio 25">
            <a:hlinkClick r:id="" action="ppaction://media"/>
            <a:extLst>
              <a:ext uri="{FF2B5EF4-FFF2-40B4-BE49-F238E27FC236}">
                <a16:creationId xmlns:a16="http://schemas.microsoft.com/office/drawing/2014/main" id="{7318BFF9-28FB-B894-0821-BE3C5FE2F3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45781" t="-45781" r="-45781" b="-45781"/>
          <a:stretch>
            <a:fillRect/>
          </a:stretch>
        </p:blipFill>
        <p:spPr>
          <a:xfrm>
            <a:off x="5694324" y="2678074"/>
            <a:ext cx="1167765" cy="1167765"/>
          </a:xfrm>
          <a:prstGeom prst="ellipse">
            <a:avLst/>
          </a:prstGeom>
        </p:spPr>
      </p:pic>
    </p:spTree>
  </p:cSld>
  <p:clrMapOvr>
    <a:masterClrMapping/>
  </p:clrMapOvr>
  <p:transition advTm="22880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15"/>
              </a:spcBef>
            </a:pPr>
            <a:endParaRPr/>
          </a:p>
          <a:p>
            <a:pPr marL="125730">
              <a:lnSpc>
                <a:spcPct val="100000"/>
              </a:lnSpc>
              <a:spcBef>
                <a:spcPts val="5"/>
              </a:spcBef>
            </a:pPr>
            <a:r>
              <a:rPr dirty="0"/>
              <a:t>Importancia</a:t>
            </a:r>
            <a:r>
              <a:rPr spc="-2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los</a:t>
            </a:r>
            <a:r>
              <a:rPr spc="-20" dirty="0"/>
              <a:t> </a:t>
            </a:r>
            <a:r>
              <a:rPr dirty="0"/>
              <a:t>derechos</a:t>
            </a:r>
            <a:r>
              <a:rPr spc="-25" dirty="0"/>
              <a:t> </a:t>
            </a:r>
            <a:r>
              <a:rPr dirty="0"/>
              <a:t>humanos</a:t>
            </a:r>
            <a:r>
              <a:rPr spc="-20" dirty="0"/>
              <a:t> </a:t>
            </a:r>
            <a:r>
              <a:rPr dirty="0"/>
              <a:t>en</a:t>
            </a:r>
            <a:r>
              <a:rPr spc="-25" dirty="0"/>
              <a:t> </a:t>
            </a:r>
            <a:r>
              <a:rPr spc="-10" dirty="0"/>
              <a:t>Mexico</a:t>
            </a: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62241" y="1044485"/>
            <a:ext cx="2122170" cy="1106170"/>
            <a:chOff x="162241" y="1044485"/>
            <a:chExt cx="2122170" cy="1106170"/>
          </a:xfrm>
        </p:grpSpPr>
        <p:sp>
          <p:nvSpPr>
            <p:cNvPr id="6" name="object 6"/>
            <p:cNvSpPr/>
            <p:nvPr/>
          </p:nvSpPr>
          <p:spPr>
            <a:xfrm>
              <a:off x="162241" y="1044485"/>
              <a:ext cx="2122170" cy="189230"/>
            </a:xfrm>
            <a:custGeom>
              <a:avLst/>
              <a:gdLst/>
              <a:ahLst/>
              <a:cxnLst/>
              <a:rect l="l" t="t" r="r" b="b"/>
              <a:pathLst>
                <a:path w="2122170" h="189230">
                  <a:moveTo>
                    <a:pt x="2070769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8716"/>
                  </a:lnTo>
                  <a:lnTo>
                    <a:pt x="2121570" y="188716"/>
                  </a:lnTo>
                  <a:lnTo>
                    <a:pt x="2121570" y="50800"/>
                  </a:lnTo>
                  <a:lnTo>
                    <a:pt x="2117561" y="31075"/>
                  </a:lnTo>
                  <a:lnTo>
                    <a:pt x="2106647" y="14922"/>
                  </a:lnTo>
                  <a:lnTo>
                    <a:pt x="2090494" y="4008"/>
                  </a:lnTo>
                  <a:lnTo>
                    <a:pt x="2070769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2241" y="1220558"/>
              <a:ext cx="212157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2241" y="1264828"/>
              <a:ext cx="2122170" cy="885825"/>
            </a:xfrm>
            <a:custGeom>
              <a:avLst/>
              <a:gdLst/>
              <a:ahLst/>
              <a:cxnLst/>
              <a:rect l="l" t="t" r="r" b="b"/>
              <a:pathLst>
                <a:path w="2122170" h="885825">
                  <a:moveTo>
                    <a:pt x="2121570" y="0"/>
                  </a:moveTo>
                  <a:lnTo>
                    <a:pt x="0" y="0"/>
                  </a:lnTo>
                  <a:lnTo>
                    <a:pt x="0" y="834659"/>
                  </a:lnTo>
                  <a:lnTo>
                    <a:pt x="4008" y="854383"/>
                  </a:lnTo>
                  <a:lnTo>
                    <a:pt x="14922" y="870536"/>
                  </a:lnTo>
                  <a:lnTo>
                    <a:pt x="31075" y="881450"/>
                  </a:lnTo>
                  <a:lnTo>
                    <a:pt x="50800" y="885459"/>
                  </a:lnTo>
                  <a:lnTo>
                    <a:pt x="2070769" y="885459"/>
                  </a:lnTo>
                  <a:lnTo>
                    <a:pt x="2090494" y="881450"/>
                  </a:lnTo>
                  <a:lnTo>
                    <a:pt x="2106647" y="870536"/>
                  </a:lnTo>
                  <a:lnTo>
                    <a:pt x="2117561" y="854383"/>
                  </a:lnTo>
                  <a:lnTo>
                    <a:pt x="2121570" y="834659"/>
                  </a:lnTo>
                  <a:lnTo>
                    <a:pt x="2121570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00342" y="990036"/>
            <a:ext cx="2020570" cy="43751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Limite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Funcionan</a:t>
            </a:r>
            <a:r>
              <a:rPr sz="1050" spc="-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como</a:t>
            </a:r>
            <a:r>
              <a:rPr sz="1050" spc="-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frontera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frente</a:t>
            </a:r>
            <a:r>
              <a:rPr sz="1050" spc="-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al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0342" y="1401871"/>
            <a:ext cx="1860550" cy="713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0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poder: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ninguna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politica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publica, investigacion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o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razon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de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seguridad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puede</a:t>
            </a:r>
            <a:r>
              <a:rPr sz="1050" spc="-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cancelar</a:t>
            </a:r>
            <a:r>
              <a:rPr sz="1050" spc="-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la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dignidad.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95232" y="1044485"/>
            <a:ext cx="2122170" cy="929005"/>
            <a:chOff x="2395232" y="1044485"/>
            <a:chExt cx="2122170" cy="929005"/>
          </a:xfrm>
        </p:grpSpPr>
        <p:sp>
          <p:nvSpPr>
            <p:cNvPr id="12" name="object 12"/>
            <p:cNvSpPr/>
            <p:nvPr/>
          </p:nvSpPr>
          <p:spPr>
            <a:xfrm>
              <a:off x="2395232" y="1044485"/>
              <a:ext cx="2122170" cy="186055"/>
            </a:xfrm>
            <a:custGeom>
              <a:avLst/>
              <a:gdLst/>
              <a:ahLst/>
              <a:cxnLst/>
              <a:rect l="l" t="t" r="r" b="b"/>
              <a:pathLst>
                <a:path w="2122170" h="186055">
                  <a:moveTo>
                    <a:pt x="2070769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582"/>
                  </a:lnTo>
                  <a:lnTo>
                    <a:pt x="2121570" y="185582"/>
                  </a:lnTo>
                  <a:lnTo>
                    <a:pt x="2121570" y="50800"/>
                  </a:lnTo>
                  <a:lnTo>
                    <a:pt x="2117561" y="31075"/>
                  </a:lnTo>
                  <a:lnTo>
                    <a:pt x="2106647" y="14922"/>
                  </a:lnTo>
                  <a:lnTo>
                    <a:pt x="2090494" y="4008"/>
                  </a:lnTo>
                  <a:lnTo>
                    <a:pt x="2070769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5232" y="1217421"/>
              <a:ext cx="2121570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395232" y="1261693"/>
              <a:ext cx="2122170" cy="711835"/>
            </a:xfrm>
            <a:custGeom>
              <a:avLst/>
              <a:gdLst/>
              <a:ahLst/>
              <a:cxnLst/>
              <a:rect l="l" t="t" r="r" b="b"/>
              <a:pathLst>
                <a:path w="2122170" h="711835">
                  <a:moveTo>
                    <a:pt x="2121570" y="0"/>
                  </a:moveTo>
                  <a:lnTo>
                    <a:pt x="0" y="0"/>
                  </a:lnTo>
                  <a:lnTo>
                    <a:pt x="0" y="660985"/>
                  </a:lnTo>
                  <a:lnTo>
                    <a:pt x="4008" y="680709"/>
                  </a:lnTo>
                  <a:lnTo>
                    <a:pt x="14922" y="696862"/>
                  </a:lnTo>
                  <a:lnTo>
                    <a:pt x="31075" y="707777"/>
                  </a:lnTo>
                  <a:lnTo>
                    <a:pt x="50800" y="711785"/>
                  </a:lnTo>
                  <a:lnTo>
                    <a:pt x="2070769" y="711785"/>
                  </a:lnTo>
                  <a:lnTo>
                    <a:pt x="2090494" y="707777"/>
                  </a:lnTo>
                  <a:lnTo>
                    <a:pt x="2106647" y="696862"/>
                  </a:lnTo>
                  <a:lnTo>
                    <a:pt x="2117561" y="680709"/>
                  </a:lnTo>
                  <a:lnTo>
                    <a:pt x="2121570" y="660985"/>
                  </a:lnTo>
                  <a:lnTo>
                    <a:pt x="2121570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433332" y="986900"/>
            <a:ext cx="1882775" cy="43751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Metodo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Obligan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razonar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con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persona,</a:t>
            </a:r>
            <a:endParaRPr sz="1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33332" y="1398734"/>
            <a:ext cx="1776730" cy="541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0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dano,</a:t>
            </a:r>
            <a:r>
              <a:rPr sz="1050" spc="-5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deber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institucional,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reparacion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repeticion;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no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solo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con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expediente.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628209" y="1044485"/>
            <a:ext cx="2122170" cy="902969"/>
            <a:chOff x="4628209" y="1044485"/>
            <a:chExt cx="2122170" cy="902969"/>
          </a:xfrm>
        </p:grpSpPr>
        <p:sp>
          <p:nvSpPr>
            <p:cNvPr id="18" name="object 18"/>
            <p:cNvSpPr/>
            <p:nvPr/>
          </p:nvSpPr>
          <p:spPr>
            <a:xfrm>
              <a:off x="4628209" y="1044485"/>
              <a:ext cx="2122170" cy="189230"/>
            </a:xfrm>
            <a:custGeom>
              <a:avLst/>
              <a:gdLst/>
              <a:ahLst/>
              <a:cxnLst/>
              <a:rect l="l" t="t" r="r" b="b"/>
              <a:pathLst>
                <a:path w="2122170" h="189230">
                  <a:moveTo>
                    <a:pt x="2070769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8716"/>
                  </a:lnTo>
                  <a:lnTo>
                    <a:pt x="2121570" y="188716"/>
                  </a:lnTo>
                  <a:lnTo>
                    <a:pt x="2121570" y="50800"/>
                  </a:lnTo>
                  <a:lnTo>
                    <a:pt x="2117561" y="31075"/>
                  </a:lnTo>
                  <a:lnTo>
                    <a:pt x="2106647" y="14922"/>
                  </a:lnTo>
                  <a:lnTo>
                    <a:pt x="2090494" y="4008"/>
                  </a:lnTo>
                  <a:lnTo>
                    <a:pt x="2070769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28209" y="1220558"/>
              <a:ext cx="2121570" cy="506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628209" y="1264830"/>
              <a:ext cx="2122170" cy="682625"/>
            </a:xfrm>
            <a:custGeom>
              <a:avLst/>
              <a:gdLst/>
              <a:ahLst/>
              <a:cxnLst/>
              <a:rect l="l" t="t" r="r" b="b"/>
              <a:pathLst>
                <a:path w="2122170" h="682625">
                  <a:moveTo>
                    <a:pt x="2121570" y="0"/>
                  </a:moveTo>
                  <a:lnTo>
                    <a:pt x="0" y="0"/>
                  </a:lnTo>
                  <a:lnTo>
                    <a:pt x="0" y="631457"/>
                  </a:lnTo>
                  <a:lnTo>
                    <a:pt x="4008" y="651181"/>
                  </a:lnTo>
                  <a:lnTo>
                    <a:pt x="14922" y="667334"/>
                  </a:lnTo>
                  <a:lnTo>
                    <a:pt x="31075" y="678249"/>
                  </a:lnTo>
                  <a:lnTo>
                    <a:pt x="50800" y="682257"/>
                  </a:lnTo>
                  <a:lnTo>
                    <a:pt x="2070769" y="682257"/>
                  </a:lnTo>
                  <a:lnTo>
                    <a:pt x="2090494" y="678249"/>
                  </a:lnTo>
                  <a:lnTo>
                    <a:pt x="2106647" y="667334"/>
                  </a:lnTo>
                  <a:lnTo>
                    <a:pt x="2117561" y="651181"/>
                  </a:lnTo>
                  <a:lnTo>
                    <a:pt x="2121570" y="631457"/>
                  </a:lnTo>
                  <a:lnTo>
                    <a:pt x="2121570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666310" y="993391"/>
            <a:ext cx="2011045" cy="43116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Confianza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Permiten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evaluar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si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es</a:t>
            </a:r>
            <a:endParaRPr sz="10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66310" y="1398810"/>
            <a:ext cx="1847214" cy="541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100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una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garantia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real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solo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una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promesa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declarativa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frente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la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violencia.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7205" y="2526906"/>
            <a:ext cx="6617681" cy="5060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85305" y="2272934"/>
            <a:ext cx="6462395" cy="836294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150" b="1" dirty="0">
                <a:solidFill>
                  <a:srgbClr val="B88A2A"/>
                </a:solidFill>
                <a:latin typeface="Arial"/>
                <a:cs typeface="Arial"/>
              </a:rPr>
              <a:t>Cierre</a:t>
            </a:r>
            <a:r>
              <a:rPr sz="1150" b="1" spc="-30" dirty="0">
                <a:solidFill>
                  <a:srgbClr val="B88A2A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B88A2A"/>
                </a:solidFill>
                <a:latin typeface="Arial"/>
                <a:cs typeface="Arial"/>
              </a:rPr>
              <a:t>del</a:t>
            </a:r>
            <a:r>
              <a:rPr sz="1150" b="1" spc="-30" dirty="0">
                <a:solidFill>
                  <a:srgbClr val="B88A2A"/>
                </a:solidFill>
                <a:latin typeface="Arial"/>
                <a:cs typeface="Arial"/>
              </a:rPr>
              <a:t> </a:t>
            </a:r>
            <a:r>
              <a:rPr sz="1150" b="1" spc="-25" dirty="0">
                <a:solidFill>
                  <a:srgbClr val="B88A2A"/>
                </a:solidFill>
                <a:latin typeface="Arial"/>
                <a:cs typeface="Arial"/>
              </a:rPr>
              <a:t>eje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7500"/>
              </a:lnSpc>
              <a:spcBef>
                <a:spcPts val="280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Como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explica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Ansuategui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Roig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(2007),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Mexico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los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derechos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humanos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importan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porque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hacen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exigible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que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Estado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responda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con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verdad,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justicia,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reparacion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control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poder.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(Ansuategui</a:t>
            </a:r>
            <a:r>
              <a:rPr sz="550" spc="8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Roig,</a:t>
            </a:r>
            <a:r>
              <a:rPr sz="550" spc="8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2007;</a:t>
            </a:r>
            <a:r>
              <a:rPr sz="550" spc="8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SCJN,</a:t>
            </a:r>
            <a:r>
              <a:rPr sz="550" spc="8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5D6B66"/>
                </a:solidFill>
                <a:latin typeface="Arial"/>
                <a:cs typeface="Arial"/>
              </a:rPr>
              <a:t>2016).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26" name="object 26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spc="60" dirty="0"/>
              <a:t> </a:t>
            </a:r>
            <a:r>
              <a:rPr dirty="0"/>
              <a:t>del</a:t>
            </a:r>
            <a:r>
              <a:rPr spc="65" dirty="0"/>
              <a:t> </a:t>
            </a:r>
            <a:r>
              <a:rPr spc="-10" dirty="0"/>
              <a:t>Derecho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030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10" dirty="0"/>
              <a:t>16</a:t>
            </a:fld>
            <a:r>
              <a:rPr spc="-10" dirty="0"/>
              <a:t>/22</a:t>
            </a:r>
          </a:p>
        </p:txBody>
      </p:sp>
      <p:pic>
        <p:nvPicPr>
          <p:cNvPr id="34" name="Audio 33">
            <a:hlinkClick r:id="" action="ppaction://media"/>
            <a:extLst>
              <a:ext uri="{FF2B5EF4-FFF2-40B4-BE49-F238E27FC236}">
                <a16:creationId xmlns:a16="http://schemas.microsoft.com/office/drawing/2014/main" id="{00215103-461E-03E0-A23E-702C7253CC7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45781" t="-45781" r="-45781" b="-45781"/>
          <a:stretch>
            <a:fillRect/>
          </a:stretch>
        </p:blipFill>
        <p:spPr>
          <a:xfrm>
            <a:off x="5694324" y="2678074"/>
            <a:ext cx="1167765" cy="1167765"/>
          </a:xfrm>
          <a:prstGeom prst="ellipse">
            <a:avLst/>
          </a:prstGeom>
        </p:spPr>
      </p:pic>
    </p:spTree>
  </p:cSld>
  <p:clrMapOvr>
    <a:masterClrMapping/>
  </p:clrMapOvr>
  <p:transition advTm="22687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4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2967" y="1499998"/>
            <a:ext cx="2985770" cy="4044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50" dirty="0"/>
              <a:t>Propuestas</a:t>
            </a:r>
            <a:r>
              <a:rPr sz="2450" spc="195" dirty="0"/>
              <a:t> </a:t>
            </a:r>
            <a:r>
              <a:rPr sz="2450" dirty="0"/>
              <a:t>y</a:t>
            </a:r>
            <a:r>
              <a:rPr sz="2450" spc="190" dirty="0"/>
              <a:t> </a:t>
            </a:r>
            <a:r>
              <a:rPr sz="2450" spc="-10" dirty="0"/>
              <a:t>cierre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782967" y="2033981"/>
            <a:ext cx="198628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dirty="0">
                <a:solidFill>
                  <a:srgbClr val="FFFFFF"/>
                </a:solidFill>
                <a:latin typeface="Arial"/>
                <a:cs typeface="Arial"/>
              </a:rPr>
              <a:t>Actividad</a:t>
            </a:r>
            <a:r>
              <a:rPr sz="11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15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15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dirty="0">
                <a:solidFill>
                  <a:srgbClr val="FFFFFF"/>
                </a:solidFill>
                <a:latin typeface="Arial"/>
                <a:cs typeface="Arial"/>
              </a:rPr>
              <a:t>Video</a:t>
            </a:r>
            <a:r>
              <a:rPr sz="115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spc="-10" dirty="0">
                <a:solidFill>
                  <a:srgbClr val="FFFFFF"/>
                </a:solidFill>
                <a:latin typeface="Arial"/>
                <a:cs typeface="Arial"/>
              </a:rPr>
              <a:t>academico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670E6ACC-7A73-DFAF-CA91-605D531C8AB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45781" t="-45781" r="-45781" b="-45781"/>
          <a:stretch>
            <a:fillRect/>
          </a:stretch>
        </p:blipFill>
        <p:spPr>
          <a:xfrm>
            <a:off x="5694324" y="2678074"/>
            <a:ext cx="1167765" cy="1167765"/>
          </a:xfrm>
          <a:prstGeom prst="ellipse">
            <a:avLst/>
          </a:prstGeom>
        </p:spPr>
      </p:pic>
    </p:spTree>
  </p:cSld>
  <p:clrMapOvr>
    <a:masterClrMapping/>
  </p:clrMapOvr>
  <p:transition advTm="3133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15"/>
              </a:spcBef>
            </a:pPr>
            <a:endParaRPr/>
          </a:p>
          <a:p>
            <a:pPr marL="125730">
              <a:lnSpc>
                <a:spcPct val="100000"/>
              </a:lnSpc>
              <a:spcBef>
                <a:spcPts val="5"/>
              </a:spcBef>
            </a:pPr>
            <a:r>
              <a:rPr dirty="0"/>
              <a:t>Propuestas</a:t>
            </a:r>
            <a:r>
              <a:rPr spc="-40" dirty="0"/>
              <a:t> </a:t>
            </a:r>
            <a:r>
              <a:rPr dirty="0"/>
              <a:t>para</a:t>
            </a:r>
            <a:r>
              <a:rPr spc="-35" dirty="0"/>
              <a:t> </a:t>
            </a:r>
            <a:r>
              <a:rPr dirty="0"/>
              <a:t>prevenir</a:t>
            </a:r>
            <a:r>
              <a:rPr spc="-40" dirty="0"/>
              <a:t> </a:t>
            </a:r>
            <a:r>
              <a:rPr dirty="0"/>
              <a:t>casos</a:t>
            </a:r>
            <a:r>
              <a:rPr spc="-35" dirty="0"/>
              <a:t> </a:t>
            </a:r>
            <a:r>
              <a:rPr spc="-10" dirty="0"/>
              <a:t>similares</a:t>
            </a: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68096" y="1158404"/>
            <a:ext cx="3229610" cy="768350"/>
            <a:chOff x="168096" y="1158404"/>
            <a:chExt cx="3229610" cy="768350"/>
          </a:xfrm>
        </p:grpSpPr>
        <p:sp>
          <p:nvSpPr>
            <p:cNvPr id="6" name="object 6"/>
            <p:cNvSpPr/>
            <p:nvPr/>
          </p:nvSpPr>
          <p:spPr>
            <a:xfrm>
              <a:off x="168096" y="1158404"/>
              <a:ext cx="3229610" cy="200025"/>
            </a:xfrm>
            <a:custGeom>
              <a:avLst/>
              <a:gdLst/>
              <a:ahLst/>
              <a:cxnLst/>
              <a:rect l="l" t="t" r="r" b="b"/>
              <a:pathLst>
                <a:path w="3229610" h="200025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9909"/>
                  </a:lnTo>
                  <a:lnTo>
                    <a:pt x="3229292" y="199909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096" y="1345666"/>
              <a:ext cx="3229292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8096" y="1389941"/>
              <a:ext cx="3229610" cy="537210"/>
            </a:xfrm>
            <a:custGeom>
              <a:avLst/>
              <a:gdLst/>
              <a:ahLst/>
              <a:cxnLst/>
              <a:rect l="l" t="t" r="r" b="b"/>
              <a:pathLst>
                <a:path w="3229610" h="537210">
                  <a:moveTo>
                    <a:pt x="3229292" y="0"/>
                  </a:moveTo>
                  <a:lnTo>
                    <a:pt x="0" y="0"/>
                  </a:lnTo>
                  <a:lnTo>
                    <a:pt x="0" y="485848"/>
                  </a:lnTo>
                  <a:lnTo>
                    <a:pt x="4008" y="505573"/>
                  </a:lnTo>
                  <a:lnTo>
                    <a:pt x="14922" y="521726"/>
                  </a:lnTo>
                  <a:lnTo>
                    <a:pt x="31075" y="532640"/>
                  </a:lnTo>
                  <a:lnTo>
                    <a:pt x="50800" y="536648"/>
                  </a:lnTo>
                  <a:lnTo>
                    <a:pt x="3178491" y="536648"/>
                  </a:lnTo>
                  <a:lnTo>
                    <a:pt x="3198216" y="532640"/>
                  </a:lnTo>
                  <a:lnTo>
                    <a:pt x="3214369" y="521726"/>
                  </a:lnTo>
                  <a:lnTo>
                    <a:pt x="3225283" y="505573"/>
                  </a:lnTo>
                  <a:lnTo>
                    <a:pt x="3229292" y="485848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68096" y="2053119"/>
            <a:ext cx="3229610" cy="775335"/>
            <a:chOff x="168096" y="2053119"/>
            <a:chExt cx="3229610" cy="775335"/>
          </a:xfrm>
        </p:grpSpPr>
        <p:sp>
          <p:nvSpPr>
            <p:cNvPr id="10" name="object 10"/>
            <p:cNvSpPr/>
            <p:nvPr/>
          </p:nvSpPr>
          <p:spPr>
            <a:xfrm>
              <a:off x="168096" y="2053119"/>
              <a:ext cx="3229610" cy="202565"/>
            </a:xfrm>
            <a:custGeom>
              <a:avLst/>
              <a:gdLst/>
              <a:ahLst/>
              <a:cxnLst/>
              <a:rect l="l" t="t" r="r" b="b"/>
              <a:pathLst>
                <a:path w="3229610" h="202564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2168"/>
                  </a:lnTo>
                  <a:lnTo>
                    <a:pt x="3229292" y="202168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8096" y="2242629"/>
              <a:ext cx="3229292" cy="5060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68096" y="2286908"/>
              <a:ext cx="3229610" cy="541655"/>
            </a:xfrm>
            <a:custGeom>
              <a:avLst/>
              <a:gdLst/>
              <a:ahLst/>
              <a:cxnLst/>
              <a:rect l="l" t="t" r="r" b="b"/>
              <a:pathLst>
                <a:path w="3229610" h="541655">
                  <a:moveTo>
                    <a:pt x="3229292" y="0"/>
                  </a:moveTo>
                  <a:lnTo>
                    <a:pt x="0" y="0"/>
                  </a:lnTo>
                  <a:lnTo>
                    <a:pt x="0" y="490504"/>
                  </a:lnTo>
                  <a:lnTo>
                    <a:pt x="4008" y="510229"/>
                  </a:lnTo>
                  <a:lnTo>
                    <a:pt x="14922" y="526382"/>
                  </a:lnTo>
                  <a:lnTo>
                    <a:pt x="31075" y="537296"/>
                  </a:lnTo>
                  <a:lnTo>
                    <a:pt x="50800" y="541305"/>
                  </a:lnTo>
                  <a:lnTo>
                    <a:pt x="3178491" y="541305"/>
                  </a:lnTo>
                  <a:lnTo>
                    <a:pt x="3198216" y="537296"/>
                  </a:lnTo>
                  <a:lnTo>
                    <a:pt x="3214369" y="526382"/>
                  </a:lnTo>
                  <a:lnTo>
                    <a:pt x="3225283" y="510229"/>
                  </a:lnTo>
                  <a:lnTo>
                    <a:pt x="3229292" y="490504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85305" y="1095048"/>
            <a:ext cx="3049905" cy="184340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94945" indent="-161925">
              <a:lnSpc>
                <a:spcPct val="100000"/>
              </a:lnSpc>
              <a:spcBef>
                <a:spcPts val="484"/>
              </a:spcBef>
              <a:buAutoNum type="arabicPeriod"/>
              <a:tabLst>
                <a:tab pos="194945" algn="l"/>
              </a:tabLst>
            </a:pPr>
            <a:r>
              <a:rPr sz="1150" b="1" dirty="0">
                <a:solidFill>
                  <a:srgbClr val="FFFFFF"/>
                </a:solidFill>
                <a:latin typeface="Arial"/>
                <a:cs typeface="Arial"/>
              </a:rPr>
              <a:t>Busqueda</a:t>
            </a:r>
            <a:r>
              <a:rPr sz="115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FFFFFF"/>
                </a:solidFill>
                <a:latin typeface="Arial"/>
                <a:cs typeface="Arial"/>
              </a:rPr>
              <a:t>inmediata</a:t>
            </a:r>
            <a:r>
              <a:rPr sz="115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coordinada</a:t>
            </a:r>
            <a:endParaRPr sz="1150">
              <a:latin typeface="Arial"/>
              <a:cs typeface="Arial"/>
            </a:endParaRPr>
          </a:p>
          <a:p>
            <a:pPr marL="33020" marR="5080">
              <a:lnSpc>
                <a:spcPct val="107500"/>
              </a:lnSpc>
              <a:spcBef>
                <a:spcPts val="254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Registros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interoperables,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alertas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tempranas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responsables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claros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desde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las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primeras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horas.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Fin: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eficacia,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verdad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proteccion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vida.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050">
              <a:latin typeface="Arial"/>
              <a:cs typeface="Arial"/>
            </a:endParaRPr>
          </a:p>
          <a:p>
            <a:pPr marL="194945" indent="-161925" algn="just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194945" algn="l"/>
              </a:tabLst>
            </a:pP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Investigacion</a:t>
            </a:r>
            <a:r>
              <a:rPr sz="115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independiente</a:t>
            </a:r>
            <a:endParaRPr sz="1150">
              <a:latin typeface="Arial"/>
              <a:cs typeface="Arial"/>
            </a:endParaRPr>
          </a:p>
          <a:p>
            <a:pPr marL="33020" marR="146685" algn="just">
              <a:lnSpc>
                <a:spcPct val="107500"/>
              </a:lnSpc>
              <a:spcBef>
                <a:spcPts val="295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Cadena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custodia,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control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judicial,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sancion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por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ocultamiento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proteccion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testigos.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Fin: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justicia correctiva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seguridad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juridica.</a:t>
            </a:r>
            <a:endParaRPr sz="105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475"/>
              </a:spcBef>
            </a:pP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sz="550" spc="7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(Camara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de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Diputados,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2024,</a:t>
            </a:r>
            <a:r>
              <a:rPr sz="550" spc="7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2026b;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CNDH,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5D6B66"/>
                </a:solidFill>
                <a:latin typeface="Arial"/>
                <a:cs typeface="Arial"/>
              </a:rPr>
              <a:t>2024).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514648" y="1158404"/>
            <a:ext cx="3229610" cy="775335"/>
            <a:chOff x="3514648" y="1158404"/>
            <a:chExt cx="3229610" cy="775335"/>
          </a:xfrm>
        </p:grpSpPr>
        <p:sp>
          <p:nvSpPr>
            <p:cNvPr id="15" name="object 15"/>
            <p:cNvSpPr/>
            <p:nvPr/>
          </p:nvSpPr>
          <p:spPr>
            <a:xfrm>
              <a:off x="3514648" y="1158404"/>
              <a:ext cx="3229610" cy="202565"/>
            </a:xfrm>
            <a:custGeom>
              <a:avLst/>
              <a:gdLst/>
              <a:ahLst/>
              <a:cxnLst/>
              <a:rect l="l" t="t" r="r" b="b"/>
              <a:pathLst>
                <a:path w="3229609" h="202565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2168"/>
                  </a:lnTo>
                  <a:lnTo>
                    <a:pt x="3229292" y="202168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14648" y="1347927"/>
              <a:ext cx="3229292" cy="5060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514648" y="1392206"/>
              <a:ext cx="3229610" cy="541655"/>
            </a:xfrm>
            <a:custGeom>
              <a:avLst/>
              <a:gdLst/>
              <a:ahLst/>
              <a:cxnLst/>
              <a:rect l="l" t="t" r="r" b="b"/>
              <a:pathLst>
                <a:path w="3229609" h="541655">
                  <a:moveTo>
                    <a:pt x="3229292" y="0"/>
                  </a:moveTo>
                  <a:lnTo>
                    <a:pt x="0" y="0"/>
                  </a:lnTo>
                  <a:lnTo>
                    <a:pt x="0" y="490504"/>
                  </a:lnTo>
                  <a:lnTo>
                    <a:pt x="4008" y="510229"/>
                  </a:lnTo>
                  <a:lnTo>
                    <a:pt x="14922" y="526382"/>
                  </a:lnTo>
                  <a:lnTo>
                    <a:pt x="31075" y="537296"/>
                  </a:lnTo>
                  <a:lnTo>
                    <a:pt x="50800" y="541305"/>
                  </a:lnTo>
                  <a:lnTo>
                    <a:pt x="3178491" y="541305"/>
                  </a:lnTo>
                  <a:lnTo>
                    <a:pt x="3198216" y="537296"/>
                  </a:lnTo>
                  <a:lnTo>
                    <a:pt x="3214369" y="526382"/>
                  </a:lnTo>
                  <a:lnTo>
                    <a:pt x="3225283" y="510229"/>
                  </a:lnTo>
                  <a:lnTo>
                    <a:pt x="3229292" y="490504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3514648" y="2060028"/>
            <a:ext cx="3229610" cy="760095"/>
            <a:chOff x="3514648" y="2060028"/>
            <a:chExt cx="3229610" cy="760095"/>
          </a:xfrm>
        </p:grpSpPr>
        <p:sp>
          <p:nvSpPr>
            <p:cNvPr id="19" name="object 19"/>
            <p:cNvSpPr/>
            <p:nvPr/>
          </p:nvSpPr>
          <p:spPr>
            <a:xfrm>
              <a:off x="3514648" y="2060028"/>
              <a:ext cx="3229610" cy="189230"/>
            </a:xfrm>
            <a:custGeom>
              <a:avLst/>
              <a:gdLst/>
              <a:ahLst/>
              <a:cxnLst/>
              <a:rect l="l" t="t" r="r" b="b"/>
              <a:pathLst>
                <a:path w="3229609" h="189230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8716"/>
                  </a:lnTo>
                  <a:lnTo>
                    <a:pt x="3229292" y="188716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14648" y="2236088"/>
              <a:ext cx="3229292" cy="5060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514648" y="2280365"/>
              <a:ext cx="3229610" cy="539750"/>
            </a:xfrm>
            <a:custGeom>
              <a:avLst/>
              <a:gdLst/>
              <a:ahLst/>
              <a:cxnLst/>
              <a:rect l="l" t="t" r="r" b="b"/>
              <a:pathLst>
                <a:path w="3229609" h="539750">
                  <a:moveTo>
                    <a:pt x="3229292" y="0"/>
                  </a:moveTo>
                  <a:lnTo>
                    <a:pt x="0" y="0"/>
                  </a:lnTo>
                  <a:lnTo>
                    <a:pt x="0" y="488908"/>
                  </a:lnTo>
                  <a:lnTo>
                    <a:pt x="4008" y="508632"/>
                  </a:lnTo>
                  <a:lnTo>
                    <a:pt x="14922" y="524785"/>
                  </a:lnTo>
                  <a:lnTo>
                    <a:pt x="31075" y="535699"/>
                  </a:lnTo>
                  <a:lnTo>
                    <a:pt x="50800" y="539708"/>
                  </a:lnTo>
                  <a:lnTo>
                    <a:pt x="3178491" y="539708"/>
                  </a:lnTo>
                  <a:lnTo>
                    <a:pt x="3198216" y="535699"/>
                  </a:lnTo>
                  <a:lnTo>
                    <a:pt x="3214369" y="524785"/>
                  </a:lnTo>
                  <a:lnTo>
                    <a:pt x="3225283" y="508632"/>
                  </a:lnTo>
                  <a:lnTo>
                    <a:pt x="3229292" y="488908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552748" y="1089217"/>
            <a:ext cx="3136265" cy="1697989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74625" indent="-161925">
              <a:lnSpc>
                <a:spcPct val="100000"/>
              </a:lnSpc>
              <a:spcBef>
                <a:spcPts val="530"/>
              </a:spcBef>
              <a:buAutoNum type="arabicPeriod" startAt="3"/>
              <a:tabLst>
                <a:tab pos="174625" algn="l"/>
              </a:tabLst>
            </a:pPr>
            <a:r>
              <a:rPr sz="1150" b="1" dirty="0">
                <a:solidFill>
                  <a:srgbClr val="FFFFFF"/>
                </a:solidFill>
                <a:latin typeface="Arial"/>
                <a:cs typeface="Arial"/>
              </a:rPr>
              <a:t>Reparacion</a:t>
            </a:r>
            <a:r>
              <a:rPr sz="11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integral</a:t>
            </a:r>
            <a:endParaRPr sz="1150">
              <a:latin typeface="Arial"/>
              <a:cs typeface="Arial"/>
            </a:endParaRPr>
          </a:p>
          <a:p>
            <a:pPr marL="12700" marR="160020">
              <a:lnSpc>
                <a:spcPct val="107500"/>
              </a:lnSpc>
              <a:spcBef>
                <a:spcPts val="300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Atencion</a:t>
            </a:r>
            <a:r>
              <a:rPr sz="1050" spc="-6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psicologica,</a:t>
            </a:r>
            <a:r>
              <a:rPr sz="1050" spc="-6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informacion</a:t>
            </a:r>
            <a:r>
              <a:rPr sz="1050" spc="-6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constante,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medidas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economicas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garantias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repeticion.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Fin: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equidad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dignidad.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050">
              <a:latin typeface="Arial"/>
              <a:cs typeface="Arial"/>
            </a:endParaRPr>
          </a:p>
          <a:p>
            <a:pPr marL="174625" indent="-161925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174625" algn="l"/>
              </a:tabLst>
            </a:pPr>
            <a:r>
              <a:rPr sz="1150" b="1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sz="115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democratico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7500"/>
              </a:lnSpc>
              <a:spcBef>
                <a:spcPts val="190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Capacitacion,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supervision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civil,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transparencia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protocolos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uso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fuerza.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Fin: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bien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comun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limite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al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poder.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24" name="object 24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spc="60" dirty="0"/>
              <a:t> </a:t>
            </a:r>
            <a:r>
              <a:rPr dirty="0"/>
              <a:t>del</a:t>
            </a:r>
            <a:r>
              <a:rPr spc="65" dirty="0"/>
              <a:t> </a:t>
            </a:r>
            <a:r>
              <a:rPr spc="-10" dirty="0"/>
              <a:t>Derecho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030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10" dirty="0"/>
              <a:t>18</a:t>
            </a:fld>
            <a:r>
              <a:rPr spc="-10" dirty="0"/>
              <a:t>/22</a:t>
            </a:r>
          </a:p>
        </p:txBody>
      </p:sp>
      <p:pic>
        <p:nvPicPr>
          <p:cNvPr id="32" name="Audio 31">
            <a:hlinkClick r:id="" action="ppaction://media"/>
            <a:extLst>
              <a:ext uri="{FF2B5EF4-FFF2-40B4-BE49-F238E27FC236}">
                <a16:creationId xmlns:a16="http://schemas.microsoft.com/office/drawing/2014/main" id="{ED5A7871-67E4-5B65-F8FC-39344E429E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-45781" t="-45781" r="-45781" b="-45781"/>
          <a:stretch>
            <a:fillRect/>
          </a:stretch>
        </p:blipFill>
        <p:spPr>
          <a:xfrm>
            <a:off x="5694324" y="2678074"/>
            <a:ext cx="1167765" cy="1167765"/>
          </a:xfrm>
          <a:prstGeom prst="ellipse">
            <a:avLst/>
          </a:prstGeom>
        </p:spPr>
      </p:pic>
    </p:spTree>
  </p:cSld>
  <p:clrMapOvr>
    <a:masterClrMapping/>
  </p:clrMapOvr>
  <p:transition advTm="33230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/>
          </a:p>
          <a:p>
            <a:pPr marL="125730">
              <a:lnSpc>
                <a:spcPct val="100000"/>
              </a:lnSpc>
            </a:pPr>
            <a:r>
              <a:rPr spc="-10" dirty="0"/>
              <a:t>Postura</a:t>
            </a:r>
            <a:r>
              <a:rPr spc="-25" dirty="0"/>
              <a:t> </a:t>
            </a:r>
            <a:r>
              <a:rPr spc="-10" dirty="0"/>
              <a:t>personal</a:t>
            </a: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68096" y="1025549"/>
            <a:ext cx="3229610" cy="906144"/>
            <a:chOff x="168096" y="1025549"/>
            <a:chExt cx="3229610" cy="906144"/>
          </a:xfrm>
        </p:grpSpPr>
        <p:sp>
          <p:nvSpPr>
            <p:cNvPr id="6" name="object 6"/>
            <p:cNvSpPr/>
            <p:nvPr/>
          </p:nvSpPr>
          <p:spPr>
            <a:xfrm>
              <a:off x="168096" y="1025549"/>
              <a:ext cx="3229610" cy="189230"/>
            </a:xfrm>
            <a:custGeom>
              <a:avLst/>
              <a:gdLst/>
              <a:ahLst/>
              <a:cxnLst/>
              <a:rect l="l" t="t" r="r" b="b"/>
              <a:pathLst>
                <a:path w="3229610" h="189230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8716"/>
                  </a:lnTo>
                  <a:lnTo>
                    <a:pt x="3229292" y="188716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096" y="1201610"/>
              <a:ext cx="3229292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8096" y="1245883"/>
              <a:ext cx="3229610" cy="685800"/>
            </a:xfrm>
            <a:custGeom>
              <a:avLst/>
              <a:gdLst/>
              <a:ahLst/>
              <a:cxnLst/>
              <a:rect l="l" t="t" r="r" b="b"/>
              <a:pathLst>
                <a:path w="3229610" h="685800">
                  <a:moveTo>
                    <a:pt x="3229292" y="0"/>
                  </a:moveTo>
                  <a:lnTo>
                    <a:pt x="0" y="0"/>
                  </a:lnTo>
                  <a:lnTo>
                    <a:pt x="0" y="634516"/>
                  </a:lnTo>
                  <a:lnTo>
                    <a:pt x="4008" y="654241"/>
                  </a:lnTo>
                  <a:lnTo>
                    <a:pt x="14922" y="670394"/>
                  </a:lnTo>
                  <a:lnTo>
                    <a:pt x="31075" y="681308"/>
                  </a:lnTo>
                  <a:lnTo>
                    <a:pt x="50800" y="685317"/>
                  </a:lnTo>
                  <a:lnTo>
                    <a:pt x="3178491" y="685317"/>
                  </a:lnTo>
                  <a:lnTo>
                    <a:pt x="3198216" y="681308"/>
                  </a:lnTo>
                  <a:lnTo>
                    <a:pt x="3214369" y="670394"/>
                  </a:lnTo>
                  <a:lnTo>
                    <a:pt x="3225283" y="654241"/>
                  </a:lnTo>
                  <a:lnTo>
                    <a:pt x="3229292" y="634516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68096" y="2057729"/>
            <a:ext cx="3229610" cy="756920"/>
            <a:chOff x="168096" y="2057729"/>
            <a:chExt cx="3229610" cy="756920"/>
          </a:xfrm>
        </p:grpSpPr>
        <p:sp>
          <p:nvSpPr>
            <p:cNvPr id="10" name="object 10"/>
            <p:cNvSpPr/>
            <p:nvPr/>
          </p:nvSpPr>
          <p:spPr>
            <a:xfrm>
              <a:off x="168096" y="2057729"/>
              <a:ext cx="3229610" cy="186055"/>
            </a:xfrm>
            <a:custGeom>
              <a:avLst/>
              <a:gdLst/>
              <a:ahLst/>
              <a:cxnLst/>
              <a:rect l="l" t="t" r="r" b="b"/>
              <a:pathLst>
                <a:path w="3229610" h="186055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582"/>
                  </a:lnTo>
                  <a:lnTo>
                    <a:pt x="3229292" y="185582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8096" y="2230653"/>
              <a:ext cx="3229292" cy="5060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68096" y="2274929"/>
              <a:ext cx="3229610" cy="539750"/>
            </a:xfrm>
            <a:custGeom>
              <a:avLst/>
              <a:gdLst/>
              <a:ahLst/>
              <a:cxnLst/>
              <a:rect l="l" t="t" r="r" b="b"/>
              <a:pathLst>
                <a:path w="3229610" h="539750">
                  <a:moveTo>
                    <a:pt x="3229292" y="0"/>
                  </a:moveTo>
                  <a:lnTo>
                    <a:pt x="0" y="0"/>
                  </a:lnTo>
                  <a:lnTo>
                    <a:pt x="0" y="488908"/>
                  </a:lnTo>
                  <a:lnTo>
                    <a:pt x="4008" y="508632"/>
                  </a:lnTo>
                  <a:lnTo>
                    <a:pt x="14922" y="524785"/>
                  </a:lnTo>
                  <a:lnTo>
                    <a:pt x="31075" y="535699"/>
                  </a:lnTo>
                  <a:lnTo>
                    <a:pt x="50800" y="539708"/>
                  </a:lnTo>
                  <a:lnTo>
                    <a:pt x="3178491" y="539708"/>
                  </a:lnTo>
                  <a:lnTo>
                    <a:pt x="3198216" y="535699"/>
                  </a:lnTo>
                  <a:lnTo>
                    <a:pt x="3214369" y="524785"/>
                  </a:lnTo>
                  <a:lnTo>
                    <a:pt x="3225283" y="508632"/>
                  </a:lnTo>
                  <a:lnTo>
                    <a:pt x="3229292" y="488908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06197" y="971088"/>
            <a:ext cx="3153410" cy="181102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Posicion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7500"/>
              </a:lnSpc>
              <a:spcBef>
                <a:spcPts val="190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caso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Ayotzinapa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demuestra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insuficiencia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una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lectura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puramente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formal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Derecho.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Un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sistema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juridico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defiende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solo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porque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tenga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normas escritas.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Razon</a:t>
            </a:r>
            <a:endParaRPr sz="1150">
              <a:latin typeface="Arial"/>
              <a:cs typeface="Arial"/>
            </a:endParaRPr>
          </a:p>
          <a:p>
            <a:pPr marL="12700" marR="137795">
              <a:lnSpc>
                <a:spcPct val="107500"/>
              </a:lnSpc>
              <a:spcBef>
                <a:spcPts val="190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Se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defiende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cuando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esas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estructuras</a:t>
            </a:r>
            <a:r>
              <a:rPr sz="1050" spc="-4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actuan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como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limite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frente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arbitrariedad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como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garantia efectiva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para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las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victimas.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14648" y="1201610"/>
            <a:ext cx="3229292" cy="50609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3514648" y="2084196"/>
            <a:ext cx="3229610" cy="943610"/>
            <a:chOff x="3514648" y="2084196"/>
            <a:chExt cx="3229610" cy="943610"/>
          </a:xfrm>
        </p:grpSpPr>
        <p:sp>
          <p:nvSpPr>
            <p:cNvPr id="16" name="object 16"/>
            <p:cNvSpPr/>
            <p:nvPr/>
          </p:nvSpPr>
          <p:spPr>
            <a:xfrm>
              <a:off x="3514648" y="2084196"/>
              <a:ext cx="3229610" cy="200025"/>
            </a:xfrm>
            <a:custGeom>
              <a:avLst/>
              <a:gdLst/>
              <a:ahLst/>
              <a:cxnLst/>
              <a:rect l="l" t="t" r="r" b="b"/>
              <a:pathLst>
                <a:path w="3229609" h="200025">
                  <a:moveTo>
                    <a:pt x="317849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9909"/>
                  </a:lnTo>
                  <a:lnTo>
                    <a:pt x="3229292" y="199909"/>
                  </a:lnTo>
                  <a:lnTo>
                    <a:pt x="3229292" y="50800"/>
                  </a:lnTo>
                  <a:lnTo>
                    <a:pt x="3225283" y="31075"/>
                  </a:lnTo>
                  <a:lnTo>
                    <a:pt x="3214369" y="14922"/>
                  </a:lnTo>
                  <a:lnTo>
                    <a:pt x="3198216" y="4008"/>
                  </a:lnTo>
                  <a:lnTo>
                    <a:pt x="317849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14648" y="2271445"/>
              <a:ext cx="3229292" cy="506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514648" y="2315729"/>
              <a:ext cx="3229610" cy="711835"/>
            </a:xfrm>
            <a:custGeom>
              <a:avLst/>
              <a:gdLst/>
              <a:ahLst/>
              <a:cxnLst/>
              <a:rect l="l" t="t" r="r" b="b"/>
              <a:pathLst>
                <a:path w="3229609" h="711835">
                  <a:moveTo>
                    <a:pt x="3229292" y="0"/>
                  </a:moveTo>
                  <a:lnTo>
                    <a:pt x="0" y="0"/>
                  </a:lnTo>
                  <a:lnTo>
                    <a:pt x="0" y="660985"/>
                  </a:lnTo>
                  <a:lnTo>
                    <a:pt x="4008" y="680709"/>
                  </a:lnTo>
                  <a:lnTo>
                    <a:pt x="14922" y="696862"/>
                  </a:lnTo>
                  <a:lnTo>
                    <a:pt x="31075" y="707777"/>
                  </a:lnTo>
                  <a:lnTo>
                    <a:pt x="50800" y="711785"/>
                  </a:lnTo>
                  <a:lnTo>
                    <a:pt x="3178491" y="711785"/>
                  </a:lnTo>
                  <a:lnTo>
                    <a:pt x="3198216" y="707777"/>
                  </a:lnTo>
                  <a:lnTo>
                    <a:pt x="3214369" y="696862"/>
                  </a:lnTo>
                  <a:lnTo>
                    <a:pt x="3225283" y="680709"/>
                  </a:lnTo>
                  <a:lnTo>
                    <a:pt x="3229292" y="660985"/>
                  </a:lnTo>
                  <a:lnTo>
                    <a:pt x="3229292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552748" y="971088"/>
            <a:ext cx="3153410" cy="202374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150" b="1" spc="-10" dirty="0">
                <a:solidFill>
                  <a:srgbClr val="B88A2A"/>
                </a:solidFill>
                <a:latin typeface="Arial"/>
                <a:cs typeface="Arial"/>
              </a:rPr>
              <a:t>Consecuencia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7500"/>
              </a:lnSpc>
              <a:spcBef>
                <a:spcPts val="190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Si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Estado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falla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justo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donde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debe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proteger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con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mayor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firmeza,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problema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deja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ser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marginal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se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vuelve</a:t>
            </a:r>
            <a:r>
              <a:rPr sz="1050" spc="-5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estructural: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afecta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legitimidad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orden juridico.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50" b="1" dirty="0">
                <a:solidFill>
                  <a:srgbClr val="FFFFFF"/>
                </a:solidFill>
                <a:latin typeface="Arial"/>
                <a:cs typeface="Arial"/>
              </a:rPr>
              <a:t>Criterio</a:t>
            </a:r>
            <a:r>
              <a:rPr sz="115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profesional</a:t>
            </a:r>
            <a:endParaRPr sz="1150">
              <a:latin typeface="Arial"/>
              <a:cs typeface="Arial"/>
            </a:endParaRPr>
          </a:p>
          <a:p>
            <a:pPr marL="12700" marR="29209">
              <a:lnSpc>
                <a:spcPct val="107500"/>
              </a:lnSpc>
              <a:spcBef>
                <a:spcPts val="280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Como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advierten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Ronquillo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Armas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(2018)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Singer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(1995),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argumentar</a:t>
            </a:r>
            <a:r>
              <a:rPr sz="1050" spc="-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exige</a:t>
            </a:r>
            <a:r>
              <a:rPr sz="1050" spc="-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encadenar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hecho,</a:t>
            </a:r>
            <a:r>
              <a:rPr sz="1050" spc="-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derecho afectado,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norma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aplicable,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deber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incumplido,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dano</a:t>
            </a:r>
            <a:r>
              <a:rPr sz="1050" spc="-1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y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reparacion.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5305" y="3024282"/>
            <a:ext cx="1858010" cy="113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sz="550" spc="7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(Ronquillo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Armas,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2018;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Singer,</a:t>
            </a:r>
            <a:r>
              <a:rPr sz="550" spc="7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1995;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Laun,</a:t>
            </a:r>
            <a:r>
              <a:rPr sz="550" spc="8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5D6B66"/>
                </a:solidFill>
                <a:latin typeface="Arial"/>
                <a:cs typeface="Arial"/>
              </a:rPr>
              <a:t>2021).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22" name="object 22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spc="60" dirty="0"/>
              <a:t> </a:t>
            </a:r>
            <a:r>
              <a:rPr dirty="0"/>
              <a:t>del</a:t>
            </a:r>
            <a:r>
              <a:rPr spc="65" dirty="0"/>
              <a:t> </a:t>
            </a:r>
            <a:r>
              <a:rPr spc="-10" dirty="0"/>
              <a:t>Derecho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030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10" dirty="0"/>
              <a:t>19</a:t>
            </a:fld>
            <a:r>
              <a:rPr spc="-10" dirty="0"/>
              <a:t>/22</a:t>
            </a:r>
          </a:p>
        </p:txBody>
      </p:sp>
      <p:pic>
        <p:nvPicPr>
          <p:cNvPr id="30" name="Audio 29">
            <a:hlinkClick r:id="" action="ppaction://media"/>
            <a:extLst>
              <a:ext uri="{FF2B5EF4-FFF2-40B4-BE49-F238E27FC236}">
                <a16:creationId xmlns:a16="http://schemas.microsoft.com/office/drawing/2014/main" id="{B43F1195-3140-87A0-FCE2-C91C7A427C6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 l="-45781" t="-45781" r="-45781" b="-45781"/>
          <a:stretch>
            <a:fillRect/>
          </a:stretch>
        </p:blipFill>
        <p:spPr>
          <a:xfrm>
            <a:off x="5694324" y="2678074"/>
            <a:ext cx="1167765" cy="1167765"/>
          </a:xfrm>
          <a:prstGeom prst="ellipse">
            <a:avLst/>
          </a:prstGeom>
        </p:spPr>
      </p:pic>
    </p:spTree>
  </p:cSld>
  <p:clrMapOvr>
    <a:masterClrMapping/>
  </p:clrMapOvr>
  <p:transition advTm="24260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30"/>
              </a:spcBef>
            </a:pPr>
            <a:endParaRPr/>
          </a:p>
          <a:p>
            <a:pPr marL="125730">
              <a:lnSpc>
                <a:spcPct val="100000"/>
              </a:lnSpc>
            </a:pPr>
            <a:r>
              <a:rPr spc="-10" dirty="0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47205" y="939202"/>
            <a:ext cx="6617970" cy="598805"/>
            <a:chOff x="147205" y="939202"/>
            <a:chExt cx="6617970" cy="598805"/>
          </a:xfrm>
        </p:grpSpPr>
        <p:sp>
          <p:nvSpPr>
            <p:cNvPr id="6" name="object 6"/>
            <p:cNvSpPr/>
            <p:nvPr/>
          </p:nvSpPr>
          <p:spPr>
            <a:xfrm>
              <a:off x="147205" y="939202"/>
              <a:ext cx="6617970" cy="199390"/>
            </a:xfrm>
            <a:custGeom>
              <a:avLst/>
              <a:gdLst/>
              <a:ahLst/>
              <a:cxnLst/>
              <a:rect l="l" t="t" r="r" b="b"/>
              <a:pathLst>
                <a:path w="6617970" h="199390">
                  <a:moveTo>
                    <a:pt x="656688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9033"/>
                  </a:lnTo>
                  <a:lnTo>
                    <a:pt x="6617681" y="199033"/>
                  </a:lnTo>
                  <a:lnTo>
                    <a:pt x="6617681" y="50800"/>
                  </a:lnTo>
                  <a:lnTo>
                    <a:pt x="6613673" y="31075"/>
                  </a:lnTo>
                  <a:lnTo>
                    <a:pt x="6602759" y="14922"/>
                  </a:lnTo>
                  <a:lnTo>
                    <a:pt x="6586606" y="4008"/>
                  </a:lnTo>
                  <a:lnTo>
                    <a:pt x="656688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205" y="1125575"/>
              <a:ext cx="6617681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7205" y="1169856"/>
              <a:ext cx="6617970" cy="367665"/>
            </a:xfrm>
            <a:custGeom>
              <a:avLst/>
              <a:gdLst/>
              <a:ahLst/>
              <a:cxnLst/>
              <a:rect l="l" t="t" r="r" b="b"/>
              <a:pathLst>
                <a:path w="6617970" h="367665">
                  <a:moveTo>
                    <a:pt x="6617681" y="0"/>
                  </a:moveTo>
                  <a:lnTo>
                    <a:pt x="0" y="0"/>
                  </a:lnTo>
                  <a:lnTo>
                    <a:pt x="0" y="316831"/>
                  </a:lnTo>
                  <a:lnTo>
                    <a:pt x="4008" y="336555"/>
                  </a:lnTo>
                  <a:lnTo>
                    <a:pt x="14922" y="352708"/>
                  </a:lnTo>
                  <a:lnTo>
                    <a:pt x="31075" y="363623"/>
                  </a:lnTo>
                  <a:lnTo>
                    <a:pt x="50800" y="367631"/>
                  </a:lnTo>
                  <a:lnTo>
                    <a:pt x="6566881" y="367631"/>
                  </a:lnTo>
                  <a:lnTo>
                    <a:pt x="6586606" y="363623"/>
                  </a:lnTo>
                  <a:lnTo>
                    <a:pt x="6602759" y="352708"/>
                  </a:lnTo>
                  <a:lnTo>
                    <a:pt x="6613673" y="336555"/>
                  </a:lnTo>
                  <a:lnTo>
                    <a:pt x="6617681" y="316831"/>
                  </a:lnTo>
                  <a:lnTo>
                    <a:pt x="6617681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47205" y="1664017"/>
            <a:ext cx="6617970" cy="585470"/>
            <a:chOff x="147205" y="1664017"/>
            <a:chExt cx="6617970" cy="585470"/>
          </a:xfrm>
        </p:grpSpPr>
        <p:sp>
          <p:nvSpPr>
            <p:cNvPr id="10" name="object 10"/>
            <p:cNvSpPr/>
            <p:nvPr/>
          </p:nvSpPr>
          <p:spPr>
            <a:xfrm>
              <a:off x="147205" y="1664017"/>
              <a:ext cx="6617970" cy="189230"/>
            </a:xfrm>
            <a:custGeom>
              <a:avLst/>
              <a:gdLst/>
              <a:ahLst/>
              <a:cxnLst/>
              <a:rect l="l" t="t" r="r" b="b"/>
              <a:pathLst>
                <a:path w="6617970" h="189230">
                  <a:moveTo>
                    <a:pt x="6566881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8716"/>
                  </a:lnTo>
                  <a:lnTo>
                    <a:pt x="6617681" y="188716"/>
                  </a:lnTo>
                  <a:lnTo>
                    <a:pt x="6617681" y="50800"/>
                  </a:lnTo>
                  <a:lnTo>
                    <a:pt x="6613673" y="31075"/>
                  </a:lnTo>
                  <a:lnTo>
                    <a:pt x="6602759" y="14922"/>
                  </a:lnTo>
                  <a:lnTo>
                    <a:pt x="6586606" y="4008"/>
                  </a:lnTo>
                  <a:lnTo>
                    <a:pt x="656688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205" y="1840077"/>
              <a:ext cx="6617681" cy="5060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47205" y="1884357"/>
              <a:ext cx="6617970" cy="365125"/>
            </a:xfrm>
            <a:custGeom>
              <a:avLst/>
              <a:gdLst/>
              <a:ahLst/>
              <a:cxnLst/>
              <a:rect l="l" t="t" r="r" b="b"/>
              <a:pathLst>
                <a:path w="6617970" h="365125">
                  <a:moveTo>
                    <a:pt x="6617681" y="0"/>
                  </a:moveTo>
                  <a:lnTo>
                    <a:pt x="0" y="0"/>
                  </a:lnTo>
                  <a:lnTo>
                    <a:pt x="0" y="313771"/>
                  </a:lnTo>
                  <a:lnTo>
                    <a:pt x="4008" y="333496"/>
                  </a:lnTo>
                  <a:lnTo>
                    <a:pt x="14922" y="349649"/>
                  </a:lnTo>
                  <a:lnTo>
                    <a:pt x="31075" y="360563"/>
                  </a:lnTo>
                  <a:lnTo>
                    <a:pt x="50800" y="364571"/>
                  </a:lnTo>
                  <a:lnTo>
                    <a:pt x="6566881" y="364571"/>
                  </a:lnTo>
                  <a:lnTo>
                    <a:pt x="6586606" y="360563"/>
                  </a:lnTo>
                  <a:lnTo>
                    <a:pt x="6602759" y="349649"/>
                  </a:lnTo>
                  <a:lnTo>
                    <a:pt x="6613673" y="333496"/>
                  </a:lnTo>
                  <a:lnTo>
                    <a:pt x="6617681" y="313771"/>
                  </a:lnTo>
                  <a:lnTo>
                    <a:pt x="6617681" y="0"/>
                  </a:lnTo>
                  <a:close/>
                </a:path>
              </a:pathLst>
            </a:custGeom>
            <a:solidFill>
              <a:srgbClr val="F6F7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7205" y="2551518"/>
            <a:ext cx="6617681" cy="5060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85305" y="866892"/>
            <a:ext cx="6541770" cy="226504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Hallazgo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7500"/>
              </a:lnSpc>
              <a:spcBef>
                <a:spcPts val="300"/>
              </a:spcBef>
            </a:pP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Ayotzinapa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permite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comprender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que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Filosofia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del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Derecho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es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un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plano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abstracto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separado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la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realidad: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sirve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para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evaluar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si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orden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juridico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conserva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sentido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cuando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enfrenta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sus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pruebas</a:t>
            </a:r>
            <a:r>
              <a:rPr sz="1050" spc="-3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mas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duras.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Sintesis</a:t>
            </a:r>
            <a:endParaRPr sz="1150">
              <a:latin typeface="Arial"/>
              <a:cs typeface="Arial"/>
            </a:endParaRPr>
          </a:p>
          <a:p>
            <a:pPr marL="12700" marR="55880">
              <a:lnSpc>
                <a:spcPct val="107500"/>
              </a:lnSpc>
              <a:spcBef>
                <a:spcPts val="170"/>
              </a:spcBef>
            </a:pP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Derecho,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moral,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justicia,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equidad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dignidad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pueden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analizarse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por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separado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cuando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problema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involucra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desaparicion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personas,</a:t>
            </a:r>
            <a:r>
              <a:rPr sz="1050" spc="-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impunidad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4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falla</a:t>
            </a:r>
            <a:r>
              <a:rPr sz="1050" spc="-5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institucional.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50" b="1" dirty="0">
                <a:solidFill>
                  <a:srgbClr val="B88A2A"/>
                </a:solidFill>
                <a:latin typeface="Arial"/>
                <a:cs typeface="Arial"/>
              </a:rPr>
              <a:t>Ultima</a:t>
            </a:r>
            <a:r>
              <a:rPr sz="1150" b="1" spc="-45" dirty="0">
                <a:solidFill>
                  <a:srgbClr val="B88A2A"/>
                </a:solidFill>
                <a:latin typeface="Arial"/>
                <a:cs typeface="Arial"/>
              </a:rPr>
              <a:t> </a:t>
            </a:r>
            <a:r>
              <a:rPr sz="1150" b="1" spc="-20" dirty="0">
                <a:solidFill>
                  <a:srgbClr val="B88A2A"/>
                </a:solidFill>
                <a:latin typeface="Arial"/>
                <a:cs typeface="Arial"/>
              </a:rPr>
              <a:t>idea</a:t>
            </a:r>
            <a:endParaRPr sz="1150">
              <a:latin typeface="Arial"/>
              <a:cs typeface="Arial"/>
            </a:endParaRPr>
          </a:p>
          <a:p>
            <a:pPr marL="12700" marR="134620">
              <a:lnSpc>
                <a:spcPct val="107500"/>
              </a:lnSpc>
              <a:spcBef>
                <a:spcPts val="170"/>
              </a:spcBef>
            </a:pP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valor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de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este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analisis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no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esta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repetir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que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hubo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una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violacion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grave,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sino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en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mostrar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como</a:t>
            </a:r>
            <a:r>
              <a:rPr sz="1050" spc="-3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esa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violacion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pone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prueba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todo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el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sistema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y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F2A24"/>
                </a:solidFill>
                <a:latin typeface="Arial"/>
                <a:cs typeface="Arial"/>
              </a:rPr>
              <a:t>obliga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tomar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posicion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frente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1F2A24"/>
                </a:solidFill>
                <a:latin typeface="Arial"/>
                <a:cs typeface="Arial"/>
              </a:rPr>
              <a:t>a</a:t>
            </a:r>
            <a:r>
              <a:rPr sz="1050" spc="-20" dirty="0">
                <a:solidFill>
                  <a:srgbClr val="1F2A24"/>
                </a:solidFill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1F2A24"/>
                </a:solidFill>
                <a:latin typeface="Arial"/>
                <a:cs typeface="Arial"/>
              </a:rPr>
              <a:t>el.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Cita:</a:t>
            </a:r>
            <a:r>
              <a:rPr sz="550" spc="9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(Ruiz</a:t>
            </a:r>
            <a:r>
              <a:rPr sz="550" spc="9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Rodriguez,</a:t>
            </a:r>
            <a:r>
              <a:rPr sz="550" spc="9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2009;</a:t>
            </a:r>
            <a:r>
              <a:rPr sz="550" spc="9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Rojas-Gonzalez,</a:t>
            </a:r>
            <a:r>
              <a:rPr sz="550" spc="9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2018;</a:t>
            </a:r>
            <a:r>
              <a:rPr sz="550" spc="9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Camara</a:t>
            </a:r>
            <a:r>
              <a:rPr sz="550" spc="9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de</a:t>
            </a:r>
            <a:r>
              <a:rPr sz="550" spc="9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Diputados,</a:t>
            </a:r>
            <a:r>
              <a:rPr sz="550" spc="9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2026a;</a:t>
            </a:r>
            <a:r>
              <a:rPr sz="550" spc="90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5D6B66"/>
                </a:solidFill>
                <a:latin typeface="Arial"/>
                <a:cs typeface="Arial"/>
              </a:rPr>
              <a:t>CNDH,</a:t>
            </a:r>
            <a:r>
              <a:rPr sz="550" spc="95" dirty="0">
                <a:solidFill>
                  <a:srgbClr val="5D6B66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5D6B66"/>
                </a:solidFill>
                <a:latin typeface="Arial"/>
                <a:cs typeface="Arial"/>
              </a:rPr>
              <a:t>2024).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16" name="object 16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spc="60" dirty="0"/>
              <a:t> </a:t>
            </a:r>
            <a:r>
              <a:rPr dirty="0"/>
              <a:t>del</a:t>
            </a:r>
            <a:r>
              <a:rPr spc="65" dirty="0"/>
              <a:t> </a:t>
            </a:r>
            <a:r>
              <a:rPr spc="-10" dirty="0"/>
              <a:t>Derecho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030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10" dirty="0"/>
              <a:t>20</a:t>
            </a:fld>
            <a:r>
              <a:rPr spc="-10" dirty="0"/>
              <a:t>/22</a:t>
            </a:r>
          </a:p>
        </p:txBody>
      </p:sp>
      <p:pic>
        <p:nvPicPr>
          <p:cNvPr id="24" name="Audio 23">
            <a:hlinkClick r:id="" action="ppaction://media"/>
            <a:extLst>
              <a:ext uri="{FF2B5EF4-FFF2-40B4-BE49-F238E27FC236}">
                <a16:creationId xmlns:a16="http://schemas.microsoft.com/office/drawing/2014/main" id="{55FA7A64-A147-6D09-C79A-818FB5A455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45781" t="-45781" r="-45781" b="-45781"/>
          <a:stretch>
            <a:fillRect/>
          </a:stretch>
        </p:blipFill>
        <p:spPr>
          <a:xfrm>
            <a:off x="5694324" y="2678074"/>
            <a:ext cx="1167765" cy="1167765"/>
          </a:xfrm>
          <a:prstGeom prst="ellipse">
            <a:avLst/>
          </a:prstGeom>
        </p:spPr>
      </p:pic>
    </p:spTree>
  </p:cSld>
  <p:clrMapOvr>
    <a:masterClrMapping/>
  </p:clrMapOvr>
  <p:transition advTm="73308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9"/>
              </a:spcBef>
            </a:pPr>
            <a:endParaRPr/>
          </a:p>
          <a:p>
            <a:pPr marL="125730">
              <a:lnSpc>
                <a:spcPct val="100000"/>
              </a:lnSpc>
            </a:pPr>
            <a:r>
              <a:rPr spc="-10" dirty="0"/>
              <a:t>Referencias</a:t>
            </a:r>
            <a:r>
              <a:rPr spc="35" dirty="0"/>
              <a:t> </a:t>
            </a:r>
            <a:r>
              <a:rPr spc="-10" dirty="0"/>
              <a:t>bibliograficas</a:t>
            </a:r>
            <a:r>
              <a:rPr spc="35" dirty="0"/>
              <a:t> </a:t>
            </a:r>
            <a:r>
              <a:rPr spc="-10" dirty="0"/>
              <a:t>(1/2)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200025" marR="159385" indent="-187960">
              <a:lnSpc>
                <a:spcPct val="95600"/>
              </a:lnSpc>
              <a:spcBef>
                <a:spcPts val="155"/>
              </a:spcBef>
            </a:pPr>
            <a:r>
              <a:rPr sz="1200" dirty="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sz="1200" spc="245" dirty="0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/>
              <a:t>Ansuategui</a:t>
            </a:r>
            <a:r>
              <a:rPr spc="35" dirty="0"/>
              <a:t> </a:t>
            </a:r>
            <a:r>
              <a:rPr dirty="0"/>
              <a:t>Roig,</a:t>
            </a:r>
            <a:r>
              <a:rPr spc="30" dirty="0"/>
              <a:t> </a:t>
            </a:r>
            <a:r>
              <a:rPr spc="-60" dirty="0"/>
              <a:t>F.</a:t>
            </a:r>
            <a:r>
              <a:rPr spc="35" dirty="0"/>
              <a:t> </a:t>
            </a:r>
            <a:r>
              <a:rPr dirty="0"/>
              <a:t>J.</a:t>
            </a:r>
            <a:r>
              <a:rPr spc="30" dirty="0"/>
              <a:t> </a:t>
            </a:r>
            <a:r>
              <a:rPr dirty="0"/>
              <a:t>(2007).</a:t>
            </a:r>
            <a:r>
              <a:rPr spc="35" dirty="0"/>
              <a:t> </a:t>
            </a:r>
            <a:r>
              <a:rPr i="1" dirty="0">
                <a:latin typeface="Arial"/>
                <a:cs typeface="Arial"/>
              </a:rPr>
              <a:t>De</a:t>
            </a:r>
            <a:r>
              <a:rPr i="1" spc="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los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derechos</a:t>
            </a:r>
            <a:r>
              <a:rPr i="1" spc="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y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el</a:t>
            </a:r>
            <a:r>
              <a:rPr i="1" spc="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Estado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de</a:t>
            </a:r>
            <a:r>
              <a:rPr i="1" spc="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derecho: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aportaciones</a:t>
            </a:r>
            <a:r>
              <a:rPr i="1" spc="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a</a:t>
            </a:r>
            <a:r>
              <a:rPr i="1" spc="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una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teoria</a:t>
            </a:r>
            <a:r>
              <a:rPr i="1" spc="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juridica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de</a:t>
            </a:r>
            <a:r>
              <a:rPr i="1" spc="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los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derechos</a:t>
            </a:r>
            <a:r>
              <a:rPr dirty="0"/>
              <a:t>.</a:t>
            </a:r>
            <a:r>
              <a:rPr spc="35" dirty="0"/>
              <a:t> </a:t>
            </a:r>
            <a:r>
              <a:rPr spc="-10" dirty="0"/>
              <a:t>Universidad </a:t>
            </a:r>
            <a:r>
              <a:rPr dirty="0"/>
              <a:t>Externado</a:t>
            </a:r>
            <a:r>
              <a:rPr spc="60" dirty="0"/>
              <a:t> </a:t>
            </a:r>
            <a:r>
              <a:rPr dirty="0"/>
              <a:t>de</a:t>
            </a:r>
            <a:r>
              <a:rPr spc="60" dirty="0"/>
              <a:t> </a:t>
            </a:r>
            <a:r>
              <a:rPr spc="-10" dirty="0"/>
              <a:t>Colombia.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00"/>
              </a:lnSpc>
            </a:pPr>
            <a:r>
              <a:rPr sz="1200" dirty="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sz="1200" spc="240" dirty="0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/>
              <a:t>Camara</a:t>
            </a:r>
            <a:r>
              <a:rPr spc="30" dirty="0"/>
              <a:t> </a:t>
            </a:r>
            <a:r>
              <a:rPr dirty="0"/>
              <a:t>de</a:t>
            </a:r>
            <a:r>
              <a:rPr spc="35" dirty="0"/>
              <a:t> </a:t>
            </a:r>
            <a:r>
              <a:rPr dirty="0"/>
              <a:t>Diputados</a:t>
            </a:r>
            <a:r>
              <a:rPr spc="30" dirty="0"/>
              <a:t> </a:t>
            </a:r>
            <a:r>
              <a:rPr dirty="0"/>
              <a:t>del</a:t>
            </a:r>
            <a:r>
              <a:rPr spc="30" dirty="0"/>
              <a:t> </a:t>
            </a:r>
            <a:r>
              <a:rPr dirty="0"/>
              <a:t>H.</a:t>
            </a:r>
            <a:r>
              <a:rPr spc="30" dirty="0"/>
              <a:t> </a:t>
            </a:r>
            <a:r>
              <a:rPr dirty="0"/>
              <a:t>Congreso</a:t>
            </a:r>
            <a:r>
              <a:rPr spc="30" dirty="0"/>
              <a:t> </a:t>
            </a:r>
            <a:r>
              <a:rPr dirty="0"/>
              <a:t>de</a:t>
            </a:r>
            <a:r>
              <a:rPr spc="35" dirty="0"/>
              <a:t> </a:t>
            </a:r>
            <a:r>
              <a:rPr dirty="0"/>
              <a:t>la</a:t>
            </a:r>
            <a:r>
              <a:rPr spc="30" dirty="0"/>
              <a:t> </a:t>
            </a:r>
            <a:r>
              <a:rPr dirty="0"/>
              <a:t>Union.</a:t>
            </a:r>
            <a:r>
              <a:rPr spc="30" dirty="0"/>
              <a:t> </a:t>
            </a:r>
            <a:r>
              <a:rPr dirty="0"/>
              <a:t>(2024).</a:t>
            </a:r>
            <a:r>
              <a:rPr spc="30" dirty="0"/>
              <a:t> </a:t>
            </a:r>
            <a:r>
              <a:rPr i="1" dirty="0">
                <a:latin typeface="Arial"/>
                <a:cs typeface="Arial"/>
              </a:rPr>
              <a:t>Ley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General</a:t>
            </a:r>
            <a:r>
              <a:rPr i="1" spc="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de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Victimas</a:t>
            </a:r>
            <a:r>
              <a:rPr dirty="0"/>
              <a:t>.</a:t>
            </a:r>
            <a:r>
              <a:rPr spc="30" dirty="0"/>
              <a:t> </a:t>
            </a:r>
            <a:r>
              <a:rPr dirty="0"/>
              <a:t>Diario</a:t>
            </a:r>
            <a:r>
              <a:rPr spc="30" dirty="0"/>
              <a:t> </a:t>
            </a:r>
            <a:r>
              <a:rPr dirty="0"/>
              <a:t>Oficial</a:t>
            </a:r>
            <a:r>
              <a:rPr spc="30" dirty="0"/>
              <a:t> </a:t>
            </a:r>
            <a:r>
              <a:rPr dirty="0"/>
              <a:t>de</a:t>
            </a:r>
            <a:r>
              <a:rPr spc="35" dirty="0"/>
              <a:t> </a:t>
            </a:r>
            <a:r>
              <a:rPr dirty="0"/>
              <a:t>la</a:t>
            </a:r>
            <a:r>
              <a:rPr spc="30" dirty="0"/>
              <a:t> </a:t>
            </a:r>
            <a:r>
              <a:rPr spc="-10" dirty="0"/>
              <a:t>Federacion.</a:t>
            </a:r>
            <a:endParaRPr sz="1200">
              <a:latin typeface="Arial"/>
              <a:cs typeface="Arial"/>
            </a:endParaRPr>
          </a:p>
          <a:p>
            <a:pPr marL="200025">
              <a:lnSpc>
                <a:spcPts val="819"/>
              </a:lnSpc>
            </a:pPr>
            <a:r>
              <a:rPr spc="-10" dirty="0">
                <a:solidFill>
                  <a:srgbClr val="174A39"/>
                </a:solidFill>
                <a:latin typeface="SimSun"/>
                <a:cs typeface="SimSun"/>
                <a:hlinkClick r:id="rId3"/>
              </a:rPr>
              <a:t>https://www.diputados.gob.mx/LeyesBiblio/pdf/LGV.pdf</a:t>
            </a:r>
          </a:p>
          <a:p>
            <a:pPr marL="200025" marR="30480" indent="-187960">
              <a:lnSpc>
                <a:spcPct val="95600"/>
              </a:lnSpc>
              <a:spcBef>
                <a:spcPts val="5"/>
              </a:spcBef>
            </a:pPr>
            <a:r>
              <a:rPr sz="1200" dirty="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sz="1200" spc="240" dirty="0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/>
              <a:t>Camara</a:t>
            </a:r>
            <a:r>
              <a:rPr spc="30" dirty="0"/>
              <a:t> </a:t>
            </a:r>
            <a:r>
              <a:rPr dirty="0"/>
              <a:t>de</a:t>
            </a:r>
            <a:r>
              <a:rPr spc="35" dirty="0"/>
              <a:t> </a:t>
            </a:r>
            <a:r>
              <a:rPr dirty="0"/>
              <a:t>Diputados</a:t>
            </a:r>
            <a:r>
              <a:rPr spc="30" dirty="0"/>
              <a:t> </a:t>
            </a:r>
            <a:r>
              <a:rPr dirty="0"/>
              <a:t>del</a:t>
            </a:r>
            <a:r>
              <a:rPr spc="30" dirty="0"/>
              <a:t> </a:t>
            </a:r>
            <a:r>
              <a:rPr dirty="0"/>
              <a:t>H.</a:t>
            </a:r>
            <a:r>
              <a:rPr spc="30" dirty="0"/>
              <a:t> </a:t>
            </a:r>
            <a:r>
              <a:rPr dirty="0"/>
              <a:t>Congreso</a:t>
            </a:r>
            <a:r>
              <a:rPr spc="30" dirty="0"/>
              <a:t> </a:t>
            </a:r>
            <a:r>
              <a:rPr dirty="0"/>
              <a:t>de</a:t>
            </a:r>
            <a:r>
              <a:rPr spc="30" dirty="0"/>
              <a:t> </a:t>
            </a:r>
            <a:r>
              <a:rPr dirty="0"/>
              <a:t>la</a:t>
            </a:r>
            <a:r>
              <a:rPr spc="30" dirty="0"/>
              <a:t> </a:t>
            </a:r>
            <a:r>
              <a:rPr dirty="0"/>
              <a:t>Union.</a:t>
            </a:r>
            <a:r>
              <a:rPr spc="35" dirty="0"/>
              <a:t> </a:t>
            </a:r>
            <a:r>
              <a:rPr dirty="0"/>
              <a:t>(2026a).</a:t>
            </a:r>
            <a:r>
              <a:rPr spc="30" dirty="0"/>
              <a:t> </a:t>
            </a:r>
            <a:r>
              <a:rPr i="1" dirty="0">
                <a:latin typeface="Arial"/>
                <a:cs typeface="Arial"/>
              </a:rPr>
              <a:t>Constitucion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Politica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de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los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Estados</a:t>
            </a:r>
            <a:r>
              <a:rPr i="1" spc="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Unidos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Mexicanos</a:t>
            </a:r>
            <a:r>
              <a:rPr dirty="0"/>
              <a:t>.</a:t>
            </a:r>
            <a:r>
              <a:rPr spc="30" dirty="0"/>
              <a:t> </a:t>
            </a:r>
            <a:r>
              <a:rPr spc="-10" dirty="0"/>
              <a:t>Texto</a:t>
            </a:r>
            <a:r>
              <a:rPr spc="30" dirty="0"/>
              <a:t> </a:t>
            </a:r>
            <a:r>
              <a:rPr dirty="0"/>
              <a:t>vigente;</a:t>
            </a:r>
            <a:r>
              <a:rPr spc="30" dirty="0"/>
              <a:t> </a:t>
            </a:r>
            <a:r>
              <a:rPr spc="-10" dirty="0"/>
              <a:t>ultima </a:t>
            </a:r>
            <a:r>
              <a:rPr dirty="0"/>
              <a:t>reforma</a:t>
            </a:r>
            <a:r>
              <a:rPr spc="270" dirty="0"/>
              <a:t>  </a:t>
            </a:r>
            <a:r>
              <a:rPr dirty="0"/>
              <a:t>DOF</a:t>
            </a:r>
            <a:r>
              <a:rPr spc="280" dirty="0"/>
              <a:t>  </a:t>
            </a:r>
            <a:r>
              <a:rPr dirty="0"/>
              <a:t>03-03-2026.</a:t>
            </a:r>
            <a:r>
              <a:rPr spc="285" dirty="0"/>
              <a:t>  </a:t>
            </a:r>
            <a:r>
              <a:rPr spc="-10" dirty="0">
                <a:solidFill>
                  <a:srgbClr val="174A39"/>
                </a:solidFill>
                <a:latin typeface="SimSun"/>
                <a:cs typeface="SimSun"/>
                <a:hlinkClick r:id="rId4"/>
              </a:rPr>
              <a:t>https://www.diputados.gob.mx/LeyesBiblio/ref/cpeum.htm</a:t>
            </a:r>
            <a:endParaRPr sz="1200">
              <a:latin typeface="SimSun"/>
              <a:cs typeface="SimSun"/>
            </a:endParaRPr>
          </a:p>
          <a:p>
            <a:pPr marL="12700">
              <a:lnSpc>
                <a:spcPts val="1300"/>
              </a:lnSpc>
            </a:pPr>
            <a:r>
              <a:rPr sz="1200" dirty="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sz="1200" spc="245" dirty="0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/>
              <a:t>Camara</a:t>
            </a:r>
            <a:r>
              <a:rPr spc="35" dirty="0"/>
              <a:t> </a:t>
            </a:r>
            <a:r>
              <a:rPr dirty="0"/>
              <a:t>de</a:t>
            </a:r>
            <a:r>
              <a:rPr spc="35" dirty="0"/>
              <a:t> </a:t>
            </a:r>
            <a:r>
              <a:rPr dirty="0"/>
              <a:t>Diputados</a:t>
            </a:r>
            <a:r>
              <a:rPr spc="30" dirty="0"/>
              <a:t> </a:t>
            </a:r>
            <a:r>
              <a:rPr dirty="0"/>
              <a:t>del</a:t>
            </a:r>
            <a:r>
              <a:rPr spc="35" dirty="0"/>
              <a:t> </a:t>
            </a:r>
            <a:r>
              <a:rPr dirty="0"/>
              <a:t>H.</a:t>
            </a:r>
            <a:r>
              <a:rPr spc="30" dirty="0"/>
              <a:t> </a:t>
            </a:r>
            <a:r>
              <a:rPr dirty="0"/>
              <a:t>Congreso</a:t>
            </a:r>
            <a:r>
              <a:rPr spc="35" dirty="0"/>
              <a:t> </a:t>
            </a:r>
            <a:r>
              <a:rPr dirty="0"/>
              <a:t>de</a:t>
            </a:r>
            <a:r>
              <a:rPr spc="35" dirty="0"/>
              <a:t> </a:t>
            </a:r>
            <a:r>
              <a:rPr dirty="0"/>
              <a:t>la</a:t>
            </a:r>
            <a:r>
              <a:rPr spc="30" dirty="0"/>
              <a:t> </a:t>
            </a:r>
            <a:r>
              <a:rPr dirty="0"/>
              <a:t>Union.</a:t>
            </a:r>
            <a:r>
              <a:rPr spc="35" dirty="0"/>
              <a:t> </a:t>
            </a:r>
            <a:r>
              <a:rPr dirty="0"/>
              <a:t>(2026b).</a:t>
            </a:r>
            <a:r>
              <a:rPr spc="35" dirty="0"/>
              <a:t> </a:t>
            </a:r>
            <a:r>
              <a:rPr i="1" dirty="0">
                <a:latin typeface="Arial"/>
                <a:cs typeface="Arial"/>
              </a:rPr>
              <a:t>Ley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General</a:t>
            </a:r>
            <a:r>
              <a:rPr i="1" spc="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en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Materia</a:t>
            </a:r>
            <a:r>
              <a:rPr i="1" spc="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de</a:t>
            </a:r>
            <a:r>
              <a:rPr i="1" spc="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Desaparicion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Forzada</a:t>
            </a:r>
            <a:r>
              <a:rPr i="1" spc="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de</a:t>
            </a:r>
            <a:r>
              <a:rPr i="1" spc="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Personas,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Desaparicion</a:t>
            </a:r>
            <a:endParaRPr sz="1200">
              <a:latin typeface="Arial"/>
              <a:cs typeface="Arial"/>
            </a:endParaRPr>
          </a:p>
          <a:p>
            <a:pPr marL="200025">
              <a:lnSpc>
                <a:spcPts val="880"/>
              </a:lnSpc>
            </a:pPr>
            <a:r>
              <a:rPr i="1" dirty="0">
                <a:latin typeface="Arial"/>
                <a:cs typeface="Arial"/>
              </a:rPr>
              <a:t>Cometida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por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Particulares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y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del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Sistema</a:t>
            </a:r>
            <a:r>
              <a:rPr i="1" spc="4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Nacional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de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Busqueda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de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Personas</a:t>
            </a:r>
            <a:r>
              <a:rPr dirty="0"/>
              <a:t>.</a:t>
            </a:r>
            <a:r>
              <a:rPr spc="45" dirty="0"/>
              <a:t> </a:t>
            </a:r>
            <a:r>
              <a:rPr dirty="0"/>
              <a:t>Diario</a:t>
            </a:r>
            <a:r>
              <a:rPr spc="40" dirty="0"/>
              <a:t> </a:t>
            </a:r>
            <a:r>
              <a:rPr dirty="0"/>
              <a:t>Oficial</a:t>
            </a:r>
            <a:r>
              <a:rPr spc="40" dirty="0"/>
              <a:t> </a:t>
            </a:r>
            <a:r>
              <a:rPr dirty="0"/>
              <a:t>de</a:t>
            </a:r>
            <a:r>
              <a:rPr spc="40" dirty="0"/>
              <a:t> </a:t>
            </a:r>
            <a:r>
              <a:rPr dirty="0"/>
              <a:t>la</a:t>
            </a:r>
            <a:r>
              <a:rPr spc="40" dirty="0"/>
              <a:t> </a:t>
            </a:r>
            <a:r>
              <a:rPr spc="-10" dirty="0"/>
              <a:t>Federacion.</a:t>
            </a:r>
          </a:p>
          <a:p>
            <a:pPr marL="200025">
              <a:lnSpc>
                <a:spcPts val="840"/>
              </a:lnSpc>
              <a:spcBef>
                <a:spcPts val="45"/>
              </a:spcBef>
            </a:pPr>
            <a:r>
              <a:rPr spc="-10" dirty="0">
                <a:solidFill>
                  <a:srgbClr val="174A39"/>
                </a:solidFill>
                <a:latin typeface="SimSun"/>
                <a:cs typeface="SimSun"/>
                <a:hlinkClick r:id="rId5"/>
              </a:rPr>
              <a:t>https://www.diputados.gob.mx/LeyesBiblio/pdf/LGMDFP.pdf</a:t>
            </a:r>
          </a:p>
          <a:p>
            <a:pPr marL="12700">
              <a:lnSpc>
                <a:spcPts val="1360"/>
              </a:lnSpc>
            </a:pPr>
            <a:r>
              <a:rPr sz="1200" dirty="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sz="1200" spc="245" dirty="0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/>
              <a:t>Comision</a:t>
            </a:r>
            <a:r>
              <a:rPr spc="30" dirty="0"/>
              <a:t> </a:t>
            </a:r>
            <a:r>
              <a:rPr dirty="0"/>
              <a:t>Nacional</a:t>
            </a:r>
            <a:r>
              <a:rPr spc="30" dirty="0"/>
              <a:t> </a:t>
            </a:r>
            <a:r>
              <a:rPr dirty="0"/>
              <a:t>de</a:t>
            </a:r>
            <a:r>
              <a:rPr spc="35" dirty="0"/>
              <a:t> </a:t>
            </a:r>
            <a:r>
              <a:rPr dirty="0"/>
              <a:t>los</a:t>
            </a:r>
            <a:r>
              <a:rPr spc="30" dirty="0"/>
              <a:t> </a:t>
            </a:r>
            <a:r>
              <a:rPr dirty="0"/>
              <a:t>Derechos</a:t>
            </a:r>
            <a:r>
              <a:rPr spc="35" dirty="0"/>
              <a:t> </a:t>
            </a:r>
            <a:r>
              <a:rPr dirty="0"/>
              <a:t>Humanos.</a:t>
            </a:r>
            <a:r>
              <a:rPr spc="30" dirty="0"/>
              <a:t> </a:t>
            </a:r>
            <a:r>
              <a:rPr dirty="0"/>
              <a:t>(2024).</a:t>
            </a:r>
            <a:r>
              <a:rPr spc="30" dirty="0"/>
              <a:t> </a:t>
            </a:r>
            <a:r>
              <a:rPr i="1" dirty="0">
                <a:latin typeface="Arial"/>
                <a:cs typeface="Arial"/>
              </a:rPr>
              <a:t>Recomendacion</a:t>
            </a:r>
            <a:r>
              <a:rPr i="1" spc="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No.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VG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2024</a:t>
            </a:r>
            <a:r>
              <a:rPr i="1" spc="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sobre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el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caso</a:t>
            </a:r>
            <a:r>
              <a:rPr i="1" spc="3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Ayotzinapa</a:t>
            </a:r>
            <a:r>
              <a:rPr spc="-10" dirty="0"/>
              <a:t>.</a:t>
            </a:r>
            <a:endParaRPr sz="1200">
              <a:latin typeface="Arial"/>
              <a:cs typeface="Arial"/>
            </a:endParaRPr>
          </a:p>
          <a:p>
            <a:pPr marL="200025">
              <a:lnSpc>
                <a:spcPts val="819"/>
              </a:lnSpc>
            </a:pPr>
            <a:r>
              <a:rPr dirty="0">
                <a:solidFill>
                  <a:srgbClr val="174A39"/>
                </a:solidFill>
                <a:latin typeface="SimSun"/>
                <a:cs typeface="SimSun"/>
                <a:hlinkClick r:id="rId6"/>
              </a:rPr>
              <a:t>https://www.cndh.org.mx/documento/recomendacion-</a:t>
            </a:r>
            <a:r>
              <a:rPr spc="60" dirty="0">
                <a:solidFill>
                  <a:srgbClr val="174A39"/>
                </a:solidFill>
                <a:latin typeface="SimSun"/>
                <a:cs typeface="SimSun"/>
                <a:hlinkClick r:id="rId6"/>
              </a:rPr>
              <a:t>no-vg-</a:t>
            </a:r>
            <a:r>
              <a:rPr spc="50" dirty="0">
                <a:solidFill>
                  <a:srgbClr val="174A39"/>
                </a:solidFill>
                <a:latin typeface="SimSun"/>
                <a:cs typeface="SimSun"/>
                <a:hlinkClick r:id="rId6"/>
              </a:rPr>
              <a:t>2024-sobre-</a:t>
            </a:r>
            <a:r>
              <a:rPr spc="60" dirty="0">
                <a:solidFill>
                  <a:srgbClr val="174A39"/>
                </a:solidFill>
                <a:latin typeface="SimSun"/>
                <a:cs typeface="SimSun"/>
                <a:hlinkClick r:id="rId6"/>
              </a:rPr>
              <a:t>el-</a:t>
            </a:r>
            <a:r>
              <a:rPr spc="50" dirty="0">
                <a:solidFill>
                  <a:srgbClr val="174A39"/>
                </a:solidFill>
                <a:latin typeface="SimSun"/>
                <a:cs typeface="SimSun"/>
                <a:hlinkClick r:id="rId6"/>
              </a:rPr>
              <a:t>caso-</a:t>
            </a:r>
            <a:r>
              <a:rPr spc="-10" dirty="0">
                <a:solidFill>
                  <a:srgbClr val="174A39"/>
                </a:solidFill>
                <a:latin typeface="SimSun"/>
                <a:cs typeface="SimSun"/>
                <a:hlinkClick r:id="rId6"/>
              </a:rPr>
              <a:t>ayotzinapa</a:t>
            </a:r>
          </a:p>
          <a:p>
            <a:pPr marL="12700">
              <a:lnSpc>
                <a:spcPts val="1380"/>
              </a:lnSpc>
            </a:pPr>
            <a:r>
              <a:rPr sz="1200" dirty="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sz="1200" spc="210" dirty="0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/>
              <a:t>Kelsen,</a:t>
            </a:r>
            <a:r>
              <a:rPr spc="15" dirty="0"/>
              <a:t> </a:t>
            </a:r>
            <a:r>
              <a:rPr dirty="0"/>
              <a:t>H.</a:t>
            </a:r>
            <a:r>
              <a:rPr spc="20" dirty="0"/>
              <a:t> </a:t>
            </a:r>
            <a:r>
              <a:rPr dirty="0"/>
              <a:t>(1982).</a:t>
            </a:r>
            <a:r>
              <a:rPr spc="20" dirty="0"/>
              <a:t> </a:t>
            </a:r>
            <a:r>
              <a:rPr i="1" dirty="0">
                <a:latin typeface="Arial"/>
                <a:cs typeface="Arial"/>
              </a:rPr>
              <a:t>Teoria</a:t>
            </a:r>
            <a:r>
              <a:rPr i="1" spc="1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pura</a:t>
            </a:r>
            <a:r>
              <a:rPr i="1" spc="2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del</a:t>
            </a:r>
            <a:r>
              <a:rPr i="1" spc="2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derecho</a:t>
            </a:r>
            <a:r>
              <a:rPr i="1" spc="45" dirty="0">
                <a:latin typeface="Arial"/>
                <a:cs typeface="Arial"/>
              </a:rPr>
              <a:t> </a:t>
            </a:r>
            <a:r>
              <a:rPr dirty="0"/>
              <a:t>(R.</a:t>
            </a:r>
            <a:r>
              <a:rPr spc="15" dirty="0"/>
              <a:t> </a:t>
            </a:r>
            <a:r>
              <a:rPr dirty="0"/>
              <a:t>J.</a:t>
            </a:r>
            <a:r>
              <a:rPr spc="20" dirty="0"/>
              <a:t> </a:t>
            </a:r>
            <a:r>
              <a:rPr dirty="0"/>
              <a:t>Vernengo,</a:t>
            </a:r>
            <a:r>
              <a:rPr spc="20" dirty="0"/>
              <a:t> </a:t>
            </a:r>
            <a:r>
              <a:rPr spc="-10" dirty="0"/>
              <a:t>Trad.).</a:t>
            </a:r>
            <a:r>
              <a:rPr spc="15" dirty="0"/>
              <a:t> </a:t>
            </a:r>
            <a:r>
              <a:rPr dirty="0"/>
              <a:t>Universidad</a:t>
            </a:r>
            <a:r>
              <a:rPr spc="20" dirty="0"/>
              <a:t> </a:t>
            </a:r>
            <a:r>
              <a:rPr dirty="0"/>
              <a:t>Nacional</a:t>
            </a:r>
            <a:r>
              <a:rPr spc="20" dirty="0"/>
              <a:t> </a:t>
            </a:r>
            <a:r>
              <a:rPr dirty="0"/>
              <a:t>Autonoma</a:t>
            </a:r>
            <a:r>
              <a:rPr spc="15" dirty="0"/>
              <a:t> </a:t>
            </a:r>
            <a:r>
              <a:rPr dirty="0"/>
              <a:t>de</a:t>
            </a:r>
            <a:r>
              <a:rPr spc="20" dirty="0"/>
              <a:t> </a:t>
            </a:r>
            <a:r>
              <a:rPr spc="-10" dirty="0"/>
              <a:t>Mexico.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7" name="object 7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spc="60" dirty="0"/>
              <a:t> </a:t>
            </a:r>
            <a:r>
              <a:rPr dirty="0"/>
              <a:t>del</a:t>
            </a:r>
            <a:r>
              <a:rPr spc="65" dirty="0"/>
              <a:t> </a:t>
            </a:r>
            <a:r>
              <a:rPr spc="-10" dirty="0"/>
              <a:t>Derecho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030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10" dirty="0"/>
              <a:t>21</a:t>
            </a:fld>
            <a:r>
              <a:rPr spc="-10" dirty="0"/>
              <a:t>/22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9"/>
              </a:spcBef>
            </a:pPr>
            <a:endParaRPr/>
          </a:p>
          <a:p>
            <a:pPr marL="125730">
              <a:lnSpc>
                <a:spcPct val="100000"/>
              </a:lnSpc>
            </a:pPr>
            <a:r>
              <a:rPr spc="-10" dirty="0"/>
              <a:t>Referencias</a:t>
            </a:r>
            <a:r>
              <a:rPr spc="35" dirty="0"/>
              <a:t> </a:t>
            </a:r>
            <a:r>
              <a:rPr spc="-10" dirty="0"/>
              <a:t>bibliograficas</a:t>
            </a:r>
            <a:r>
              <a:rPr spc="35" dirty="0"/>
              <a:t> </a:t>
            </a:r>
            <a:r>
              <a:rPr spc="-10" dirty="0"/>
              <a:t>(2/2)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8389" y="209275"/>
            <a:ext cx="305617" cy="1719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8005" y="508431"/>
            <a:ext cx="6516370" cy="16510"/>
          </a:xfrm>
          <a:custGeom>
            <a:avLst/>
            <a:gdLst/>
            <a:ahLst/>
            <a:cxnLst/>
            <a:rect l="l" t="t" r="r" b="b"/>
            <a:pathLst>
              <a:path w="6516370" h="16509">
                <a:moveTo>
                  <a:pt x="6516001" y="0"/>
                </a:moveTo>
                <a:lnTo>
                  <a:pt x="0" y="0"/>
                </a:lnTo>
                <a:lnTo>
                  <a:pt x="0" y="16446"/>
                </a:lnTo>
                <a:lnTo>
                  <a:pt x="6516001" y="16446"/>
                </a:lnTo>
                <a:lnTo>
                  <a:pt x="6516001" y="0"/>
                </a:lnTo>
                <a:close/>
              </a:path>
            </a:pathLst>
          </a:custGeom>
          <a:solidFill>
            <a:srgbClr val="B88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04381" rIns="0" bIns="0" rtlCol="0">
            <a:spAutoFit/>
          </a:bodyPr>
          <a:lstStyle/>
          <a:p>
            <a:pPr marL="12700">
              <a:lnSpc>
                <a:spcPts val="1335"/>
              </a:lnSpc>
              <a:spcBef>
                <a:spcPts val="95"/>
              </a:spcBef>
            </a:pPr>
            <a:r>
              <a:rPr sz="1200" dirty="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sz="1200" spc="80" dirty="0">
                <a:solidFill>
                  <a:srgbClr val="5F8E39"/>
                </a:solidFill>
                <a:latin typeface="Lucida Sans Unicode"/>
                <a:cs typeface="Lucida Sans Unicode"/>
              </a:rPr>
              <a:t>  </a:t>
            </a:r>
            <a:r>
              <a:rPr dirty="0"/>
              <a:t>Laun,</a:t>
            </a:r>
            <a:r>
              <a:rPr spc="145" dirty="0"/>
              <a:t> </a:t>
            </a:r>
            <a:r>
              <a:rPr dirty="0"/>
              <a:t>R.</a:t>
            </a:r>
            <a:r>
              <a:rPr spc="145" dirty="0"/>
              <a:t> </a:t>
            </a:r>
            <a:r>
              <a:rPr dirty="0"/>
              <a:t>(2021).</a:t>
            </a:r>
            <a:r>
              <a:rPr spc="145" dirty="0"/>
              <a:t> </a:t>
            </a:r>
            <a:r>
              <a:rPr i="1" dirty="0">
                <a:latin typeface="Arial"/>
                <a:cs typeface="Arial"/>
              </a:rPr>
              <a:t>Derecho</a:t>
            </a:r>
            <a:r>
              <a:rPr i="1" spc="14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y</a:t>
            </a:r>
            <a:r>
              <a:rPr i="1" spc="15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moral</a:t>
            </a:r>
            <a:r>
              <a:rPr dirty="0"/>
              <a:t>.</a:t>
            </a:r>
            <a:r>
              <a:rPr spc="145" dirty="0"/>
              <a:t> </a:t>
            </a:r>
            <a:r>
              <a:rPr dirty="0"/>
              <a:t>Ediciones</a:t>
            </a:r>
            <a:r>
              <a:rPr spc="145" dirty="0"/>
              <a:t> </a:t>
            </a:r>
            <a:r>
              <a:rPr dirty="0"/>
              <a:t>Olejnik.</a:t>
            </a:r>
            <a:r>
              <a:rPr spc="145" dirty="0"/>
              <a:t> </a:t>
            </a:r>
            <a:r>
              <a:rPr spc="-10" dirty="0">
                <a:solidFill>
                  <a:srgbClr val="174A39"/>
                </a:solidFill>
                <a:latin typeface="SimSun"/>
                <a:cs typeface="SimSun"/>
                <a:hlinkClick r:id="rId3"/>
              </a:rPr>
              <a:t>https://doi.org/10.5771/9789563929119</a:t>
            </a:r>
            <a:endParaRPr sz="1200">
              <a:latin typeface="SimSun"/>
              <a:cs typeface="SimSun"/>
            </a:endParaRPr>
          </a:p>
          <a:p>
            <a:pPr marL="12700">
              <a:lnSpc>
                <a:spcPts val="1230"/>
              </a:lnSpc>
            </a:pPr>
            <a:r>
              <a:rPr sz="1200" dirty="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sz="1200" spc="250" dirty="0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/>
              <a:t>Rojas-Gonzalez,</a:t>
            </a:r>
            <a:r>
              <a:rPr spc="35" dirty="0"/>
              <a:t> </a:t>
            </a:r>
            <a:r>
              <a:rPr dirty="0"/>
              <a:t>G.</a:t>
            </a:r>
            <a:r>
              <a:rPr spc="35" dirty="0"/>
              <a:t> </a:t>
            </a:r>
            <a:r>
              <a:rPr dirty="0"/>
              <a:t>(2018).</a:t>
            </a:r>
            <a:r>
              <a:rPr spc="35" dirty="0"/>
              <a:t> </a:t>
            </a:r>
            <a:r>
              <a:rPr i="1" dirty="0">
                <a:latin typeface="Arial"/>
                <a:cs typeface="Arial"/>
              </a:rPr>
              <a:t>Filosofia</a:t>
            </a:r>
            <a:r>
              <a:rPr i="1" spc="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del</a:t>
            </a:r>
            <a:r>
              <a:rPr i="1" spc="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Derecho</a:t>
            </a:r>
            <a:r>
              <a:rPr dirty="0"/>
              <a:t>.</a:t>
            </a:r>
            <a:r>
              <a:rPr spc="35" dirty="0"/>
              <a:t> </a:t>
            </a:r>
            <a:r>
              <a:rPr dirty="0"/>
              <a:t>Universidad</a:t>
            </a:r>
            <a:r>
              <a:rPr spc="35" dirty="0"/>
              <a:t> </a:t>
            </a:r>
            <a:r>
              <a:rPr dirty="0"/>
              <a:t>Catolica</a:t>
            </a:r>
            <a:r>
              <a:rPr spc="35" dirty="0"/>
              <a:t> </a:t>
            </a:r>
            <a:r>
              <a:rPr dirty="0"/>
              <a:t>de</a:t>
            </a:r>
            <a:r>
              <a:rPr spc="35" dirty="0"/>
              <a:t> </a:t>
            </a:r>
            <a:r>
              <a:rPr spc="-10" dirty="0"/>
              <a:t>Colombia.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230"/>
              </a:lnSpc>
            </a:pPr>
            <a:r>
              <a:rPr sz="1200" dirty="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sz="1200" spc="240" dirty="0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/>
              <a:t>Ronquillo</a:t>
            </a:r>
            <a:r>
              <a:rPr spc="25" dirty="0"/>
              <a:t> </a:t>
            </a:r>
            <a:r>
              <a:rPr dirty="0"/>
              <a:t>Armas,</a:t>
            </a:r>
            <a:r>
              <a:rPr spc="30" dirty="0"/>
              <a:t> </a:t>
            </a:r>
            <a:r>
              <a:rPr dirty="0"/>
              <a:t>L.</a:t>
            </a:r>
            <a:r>
              <a:rPr spc="30" dirty="0"/>
              <a:t> </a:t>
            </a:r>
            <a:r>
              <a:rPr dirty="0"/>
              <a:t>A.</a:t>
            </a:r>
            <a:r>
              <a:rPr spc="30" dirty="0"/>
              <a:t> </a:t>
            </a:r>
            <a:r>
              <a:rPr dirty="0"/>
              <a:t>(2018).</a:t>
            </a:r>
            <a:r>
              <a:rPr spc="30" dirty="0"/>
              <a:t> </a:t>
            </a:r>
            <a:r>
              <a:rPr i="1" dirty="0">
                <a:latin typeface="Arial"/>
                <a:cs typeface="Arial"/>
              </a:rPr>
              <a:t>Etica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general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y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profesional</a:t>
            </a:r>
            <a:r>
              <a:rPr i="1" spc="110" dirty="0">
                <a:latin typeface="Arial"/>
                <a:cs typeface="Arial"/>
              </a:rPr>
              <a:t> </a:t>
            </a:r>
            <a:r>
              <a:rPr dirty="0"/>
              <a:t>(2.a</a:t>
            </a:r>
            <a:r>
              <a:rPr spc="30" dirty="0"/>
              <a:t> </a:t>
            </a:r>
            <a:r>
              <a:rPr dirty="0"/>
              <a:t>ed.).</a:t>
            </a:r>
            <a:r>
              <a:rPr spc="30" dirty="0"/>
              <a:t> </a:t>
            </a:r>
            <a:r>
              <a:rPr dirty="0"/>
              <a:t>Editorial</a:t>
            </a:r>
            <a:r>
              <a:rPr spc="25" dirty="0"/>
              <a:t> </a:t>
            </a:r>
            <a:r>
              <a:rPr dirty="0"/>
              <a:t>Mar</a:t>
            </a:r>
            <a:r>
              <a:rPr spc="30" dirty="0"/>
              <a:t> </a:t>
            </a:r>
            <a:r>
              <a:rPr dirty="0"/>
              <a:t>y</a:t>
            </a:r>
            <a:r>
              <a:rPr spc="30" dirty="0"/>
              <a:t> </a:t>
            </a:r>
            <a:r>
              <a:rPr spc="-10" dirty="0"/>
              <a:t>Trinchera.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230"/>
              </a:lnSpc>
            </a:pPr>
            <a:r>
              <a:rPr sz="1200" dirty="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sz="1200" spc="245" dirty="0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/>
              <a:t>Ruiz</a:t>
            </a:r>
            <a:r>
              <a:rPr spc="35" dirty="0"/>
              <a:t> </a:t>
            </a:r>
            <a:r>
              <a:rPr dirty="0"/>
              <a:t>Rodriguez,</a:t>
            </a:r>
            <a:r>
              <a:rPr spc="30" dirty="0"/>
              <a:t> </a:t>
            </a:r>
            <a:r>
              <a:rPr spc="-45" dirty="0"/>
              <a:t>V.</a:t>
            </a:r>
            <a:r>
              <a:rPr spc="35" dirty="0"/>
              <a:t> </a:t>
            </a:r>
            <a:r>
              <a:rPr dirty="0"/>
              <a:t>(2009).</a:t>
            </a:r>
            <a:r>
              <a:rPr spc="35" dirty="0"/>
              <a:t> </a:t>
            </a:r>
            <a:r>
              <a:rPr i="1" dirty="0">
                <a:latin typeface="Arial"/>
                <a:cs typeface="Arial"/>
              </a:rPr>
              <a:t>Filosofia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del</a:t>
            </a:r>
            <a:r>
              <a:rPr i="1" spc="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derecho</a:t>
            </a:r>
            <a:r>
              <a:rPr dirty="0"/>
              <a:t>.</a:t>
            </a:r>
            <a:r>
              <a:rPr spc="30" dirty="0"/>
              <a:t> </a:t>
            </a:r>
            <a:r>
              <a:rPr dirty="0"/>
              <a:t>Instituto</a:t>
            </a:r>
            <a:r>
              <a:rPr spc="35" dirty="0"/>
              <a:t> </a:t>
            </a:r>
            <a:r>
              <a:rPr dirty="0"/>
              <a:t>Electoral</a:t>
            </a:r>
            <a:r>
              <a:rPr spc="35" dirty="0"/>
              <a:t> </a:t>
            </a:r>
            <a:r>
              <a:rPr dirty="0"/>
              <a:t>del</a:t>
            </a:r>
            <a:r>
              <a:rPr spc="30" dirty="0"/>
              <a:t> </a:t>
            </a:r>
            <a:r>
              <a:rPr dirty="0"/>
              <a:t>Estado</a:t>
            </a:r>
            <a:r>
              <a:rPr spc="35" dirty="0"/>
              <a:t> </a:t>
            </a:r>
            <a:r>
              <a:rPr dirty="0"/>
              <a:t>de</a:t>
            </a:r>
            <a:r>
              <a:rPr spc="30" dirty="0"/>
              <a:t> </a:t>
            </a:r>
            <a:r>
              <a:rPr spc="-10" dirty="0"/>
              <a:t>Mexico.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230"/>
              </a:lnSpc>
            </a:pPr>
            <a:r>
              <a:rPr sz="1200" dirty="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sz="1200" spc="215" dirty="0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/>
              <a:t>Singer,</a:t>
            </a:r>
            <a:r>
              <a:rPr spc="20" dirty="0"/>
              <a:t> </a:t>
            </a:r>
            <a:r>
              <a:rPr spc="-65" dirty="0"/>
              <a:t>P.</a:t>
            </a:r>
            <a:r>
              <a:rPr spc="25" dirty="0"/>
              <a:t> </a:t>
            </a:r>
            <a:r>
              <a:rPr dirty="0"/>
              <a:t>(Ed.).</a:t>
            </a:r>
            <a:r>
              <a:rPr spc="20" dirty="0"/>
              <a:t> </a:t>
            </a:r>
            <a:r>
              <a:rPr dirty="0"/>
              <a:t>(1995).</a:t>
            </a:r>
            <a:r>
              <a:rPr spc="20" dirty="0"/>
              <a:t> </a:t>
            </a:r>
            <a:r>
              <a:rPr i="1" dirty="0">
                <a:latin typeface="Arial"/>
                <a:cs typeface="Arial"/>
              </a:rPr>
              <a:t>Compendio</a:t>
            </a:r>
            <a:r>
              <a:rPr i="1" spc="2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de</a:t>
            </a:r>
            <a:r>
              <a:rPr i="1" spc="2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etica</a:t>
            </a:r>
            <a:r>
              <a:rPr dirty="0"/>
              <a:t>.</a:t>
            </a:r>
            <a:r>
              <a:rPr spc="25" dirty="0"/>
              <a:t> </a:t>
            </a:r>
            <a:r>
              <a:rPr dirty="0"/>
              <a:t>Alianza</a:t>
            </a:r>
            <a:r>
              <a:rPr spc="20" dirty="0"/>
              <a:t> </a:t>
            </a:r>
            <a:r>
              <a:rPr spc="-10" dirty="0"/>
              <a:t>Editorial.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315"/>
              </a:lnSpc>
            </a:pPr>
            <a:r>
              <a:rPr sz="1200" dirty="0">
                <a:solidFill>
                  <a:srgbClr val="5F8E39"/>
                </a:solidFill>
                <a:latin typeface="Lucida Sans Unicode"/>
                <a:cs typeface="Lucida Sans Unicode"/>
              </a:rPr>
              <a:t>▶</a:t>
            </a:r>
            <a:r>
              <a:rPr sz="1200" spc="265" dirty="0">
                <a:solidFill>
                  <a:srgbClr val="5F8E39"/>
                </a:solidFill>
                <a:latin typeface="Lucida Sans Unicode"/>
                <a:cs typeface="Lucida Sans Unicode"/>
              </a:rPr>
              <a:t> </a:t>
            </a:r>
            <a:r>
              <a:rPr dirty="0"/>
              <a:t>Suprema</a:t>
            </a:r>
            <a:r>
              <a:rPr spc="40" dirty="0"/>
              <a:t> </a:t>
            </a:r>
            <a:r>
              <a:rPr dirty="0"/>
              <a:t>Corte</a:t>
            </a:r>
            <a:r>
              <a:rPr spc="40" dirty="0"/>
              <a:t> </a:t>
            </a:r>
            <a:r>
              <a:rPr dirty="0"/>
              <a:t>de</a:t>
            </a:r>
            <a:r>
              <a:rPr spc="40" dirty="0"/>
              <a:t> </a:t>
            </a:r>
            <a:r>
              <a:rPr dirty="0"/>
              <a:t>Justicia</a:t>
            </a:r>
            <a:r>
              <a:rPr spc="35" dirty="0"/>
              <a:t> </a:t>
            </a:r>
            <a:r>
              <a:rPr dirty="0"/>
              <a:t>de</a:t>
            </a:r>
            <a:r>
              <a:rPr spc="40" dirty="0"/>
              <a:t> </a:t>
            </a:r>
            <a:r>
              <a:rPr dirty="0"/>
              <a:t>la</a:t>
            </a:r>
            <a:r>
              <a:rPr spc="40" dirty="0"/>
              <a:t> </a:t>
            </a:r>
            <a:r>
              <a:rPr dirty="0"/>
              <a:t>Nacion,</a:t>
            </a:r>
            <a:r>
              <a:rPr spc="40" dirty="0"/>
              <a:t> </a:t>
            </a:r>
            <a:r>
              <a:rPr dirty="0"/>
              <a:t>Primera</a:t>
            </a:r>
            <a:r>
              <a:rPr spc="40" dirty="0"/>
              <a:t> </a:t>
            </a:r>
            <a:r>
              <a:rPr dirty="0"/>
              <a:t>Sala.</a:t>
            </a:r>
            <a:r>
              <a:rPr spc="40" dirty="0"/>
              <a:t> </a:t>
            </a:r>
            <a:r>
              <a:rPr dirty="0"/>
              <a:t>(2016).</a:t>
            </a:r>
            <a:r>
              <a:rPr spc="40" dirty="0"/>
              <a:t> </a:t>
            </a:r>
            <a:r>
              <a:rPr i="1" dirty="0">
                <a:latin typeface="Arial"/>
                <a:cs typeface="Arial"/>
              </a:rPr>
              <a:t>Dignidad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humana.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Constituye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una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norma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juridica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que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consagra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un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derecho</a:t>
            </a:r>
            <a:endParaRPr sz="1200">
              <a:latin typeface="Arial"/>
              <a:cs typeface="Arial"/>
            </a:endParaRPr>
          </a:p>
          <a:p>
            <a:pPr marL="200025">
              <a:lnSpc>
                <a:spcPts val="880"/>
              </a:lnSpc>
            </a:pPr>
            <a:r>
              <a:rPr i="1" dirty="0">
                <a:latin typeface="Arial"/>
                <a:cs typeface="Arial"/>
              </a:rPr>
              <a:t>fundamental</a:t>
            </a:r>
            <a:r>
              <a:rPr i="1" spc="3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a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favor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de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las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personas.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Jurisprudencia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1a./J.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37/2016</a:t>
            </a:r>
            <a:r>
              <a:rPr i="1" spc="4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(10a.)</a:t>
            </a:r>
            <a:r>
              <a:rPr dirty="0"/>
              <a:t>.</a:t>
            </a:r>
            <a:r>
              <a:rPr spc="40" dirty="0"/>
              <a:t> </a:t>
            </a:r>
            <a:r>
              <a:rPr dirty="0"/>
              <a:t>Registro</a:t>
            </a:r>
            <a:r>
              <a:rPr spc="40" dirty="0"/>
              <a:t> </a:t>
            </a:r>
            <a:r>
              <a:rPr dirty="0"/>
              <a:t>digital:</a:t>
            </a:r>
            <a:r>
              <a:rPr spc="40" dirty="0"/>
              <a:t> </a:t>
            </a:r>
            <a:r>
              <a:rPr spc="-10" dirty="0"/>
              <a:t>2012363.</a:t>
            </a:r>
          </a:p>
          <a:p>
            <a:pPr marL="200025">
              <a:lnSpc>
                <a:spcPct val="100000"/>
              </a:lnSpc>
              <a:spcBef>
                <a:spcPts val="45"/>
              </a:spcBef>
            </a:pPr>
            <a:r>
              <a:rPr spc="-10" dirty="0">
                <a:solidFill>
                  <a:srgbClr val="174A39"/>
                </a:solidFill>
                <a:latin typeface="SimSun"/>
                <a:cs typeface="SimSun"/>
                <a:hlinkClick r:id="rId4"/>
              </a:rPr>
              <a:t>https://sjf2.scjn.gob.mx/detalle/tesis/2012363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0" y="3746969"/>
            <a:ext cx="6911975" cy="141605"/>
            <a:chOff x="0" y="3746969"/>
            <a:chExt cx="6911975" cy="141605"/>
          </a:xfrm>
        </p:grpSpPr>
        <p:sp>
          <p:nvSpPr>
            <p:cNvPr id="7" name="object 7"/>
            <p:cNvSpPr/>
            <p:nvPr/>
          </p:nvSpPr>
          <p:spPr>
            <a:xfrm>
              <a:off x="0" y="3746969"/>
              <a:ext cx="2350135" cy="141605"/>
            </a:xfrm>
            <a:custGeom>
              <a:avLst/>
              <a:gdLst/>
              <a:ahLst/>
              <a:cxnLst/>
              <a:rect l="l" t="t" r="r" b="b"/>
              <a:pathLst>
                <a:path w="2350135" h="141604">
                  <a:moveTo>
                    <a:pt x="2350058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350058" y="141033"/>
                  </a:lnTo>
                  <a:lnTo>
                    <a:pt x="2350058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50058" y="3746969"/>
              <a:ext cx="2764790" cy="141605"/>
            </a:xfrm>
            <a:custGeom>
              <a:avLst/>
              <a:gdLst/>
              <a:ahLst/>
              <a:cxnLst/>
              <a:rect l="l" t="t" r="r" b="b"/>
              <a:pathLst>
                <a:path w="2764790" h="141604">
                  <a:moveTo>
                    <a:pt x="2764751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2764751" y="141033"/>
                  </a:lnTo>
                  <a:lnTo>
                    <a:pt x="2764751" y="0"/>
                  </a:lnTo>
                  <a:close/>
                </a:path>
              </a:pathLst>
            </a:custGeom>
            <a:solidFill>
              <a:srgbClr val="5F8E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14810" y="3746969"/>
              <a:ext cx="1797685" cy="141605"/>
            </a:xfrm>
            <a:custGeom>
              <a:avLst/>
              <a:gdLst/>
              <a:ahLst/>
              <a:cxnLst/>
              <a:rect l="l" t="t" r="r" b="b"/>
              <a:pathLst>
                <a:path w="1797684" h="141604">
                  <a:moveTo>
                    <a:pt x="1797075" y="0"/>
                  </a:moveTo>
                  <a:lnTo>
                    <a:pt x="0" y="0"/>
                  </a:lnTo>
                  <a:lnTo>
                    <a:pt x="0" y="141033"/>
                  </a:lnTo>
                  <a:lnTo>
                    <a:pt x="1797075" y="141033"/>
                  </a:lnTo>
                  <a:lnTo>
                    <a:pt x="1797075" y="0"/>
                  </a:lnTo>
                  <a:close/>
                </a:path>
              </a:pathLst>
            </a:custGeom>
            <a:solidFill>
              <a:srgbClr val="174A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185" y="3767737"/>
            <a:ext cx="534670" cy="116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M.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J.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sz="5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50" spc="-20" dirty="0">
                <a:solidFill>
                  <a:srgbClr val="FFFFFF"/>
                </a:solidFill>
                <a:latin typeface="Arial"/>
                <a:cs typeface="Arial"/>
              </a:rPr>
              <a:t>Cruz</a:t>
            </a:r>
            <a:endParaRPr sz="55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Filosofia</a:t>
            </a:r>
            <a:r>
              <a:rPr spc="60" dirty="0"/>
              <a:t> </a:t>
            </a:r>
            <a:r>
              <a:rPr dirty="0"/>
              <a:t>del</a:t>
            </a:r>
            <a:r>
              <a:rPr spc="65" dirty="0"/>
              <a:t> </a:t>
            </a:r>
            <a:r>
              <a:rPr spc="-10" dirty="0"/>
              <a:t>Derecho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030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-10" dirty="0"/>
              <a:t>22</a:t>
            </a:fld>
            <a:r>
              <a:rPr spc="-10" dirty="0"/>
              <a:t>/22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74A3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2435</Words>
  <Application>Microsoft Office PowerPoint</Application>
  <PresentationFormat>Personalizado</PresentationFormat>
  <Paragraphs>307</Paragraphs>
  <Slides>22</Slides>
  <Notes>0</Notes>
  <HiddenSlides>0</HiddenSlides>
  <MMClips>20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SimSun</vt:lpstr>
      <vt:lpstr>Arial</vt:lpstr>
      <vt:lpstr>Lucida Sans Unicode</vt:lpstr>
      <vt:lpstr>Times New Roman</vt:lpstr>
      <vt:lpstr>Office Theme</vt:lpstr>
      <vt:lpstr>UnADM</vt:lpstr>
      <vt:lpstr> Ruta del video academico</vt:lpstr>
      <vt:lpstr>Presentación de PowerPoint</vt:lpstr>
      <vt:lpstr>Caso y problema</vt:lpstr>
      <vt:lpstr> Caso elegido: Ayotzinapa</vt:lpstr>
      <vt:lpstr> Del hecho al problema de Derecho</vt:lpstr>
      <vt:lpstr>Justicia y fines del Dere-cho</vt:lpstr>
      <vt:lpstr> Justicia en la Filosofia del Derecho</vt:lpstr>
      <vt:lpstr> Equidad, normas y solucion del conflicto</vt:lpstr>
      <vt:lpstr> Justicia distributiva y correctiva</vt:lpstr>
      <vt:lpstr> Fines del Derecho puestos a prueba</vt:lpstr>
      <vt:lpstr>Normas y derechos</vt:lpstr>
      <vt:lpstr> Marco juridico relacionado</vt:lpstr>
      <vt:lpstr> Seguridad juridica transgredida</vt:lpstr>
      <vt:lpstr> Derechos humanos violentados</vt:lpstr>
      <vt:lpstr> Importancia de los derechos humanos en Mexico</vt:lpstr>
      <vt:lpstr>Propuestas y cierre</vt:lpstr>
      <vt:lpstr> Propuestas para prevenir casos similares</vt:lpstr>
      <vt:lpstr> Postura personal</vt:lpstr>
      <vt:lpstr> Conclusion</vt:lpstr>
      <vt:lpstr> Referencias bibliograficas (1/2)</vt:lpstr>
      <vt:lpstr> Referencias bibliograficas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filosofico-juridico del caso Ayotzinapa - Actividad 6 - Video academico</dc:title>
  <dc:creator>Martin Jonathan de la Cruz, Matricula: ES2611202040</dc:creator>
  <cp:lastModifiedBy>Jonathan Sysx</cp:lastModifiedBy>
  <cp:revision>1</cp:revision>
  <dcterms:created xsi:type="dcterms:W3CDTF">2026-06-08T05:49:34Z</dcterms:created>
  <dcterms:modified xsi:type="dcterms:W3CDTF">2026-06-08T06:14:01Z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2026-06-08T00:00:00Z</vt:filetime>
  </property>
  <property fmtid="{D5CDD505-2E9C-101B-9397-08002B2CF9AE}" pid="5" name="PTEX.Fullbanner">
    <vt:lpwstr>This is MiKTeX-pdfTeX 4.21.0 (1.40.27)</vt:lpwstr>
  </property>
  <property fmtid="{D5CDD505-2E9C-101B-9397-08002B2CF9AE}" pid="6" name="Producer">
    <vt:lpwstr>MiKTeX pdfTeX-1.40.27</vt:lpwstr>
  </property>
</Properties>
</file>