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6908800" cy="3892550"/>
  <p:notesSz cx="6908800" cy="38925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8636" y="1206690"/>
            <a:ext cx="5877877" cy="81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37272" y="2179828"/>
            <a:ext cx="4840605" cy="97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06197" y="954165"/>
            <a:ext cx="3079115" cy="204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61302" y="895286"/>
            <a:ext cx="3008090" cy="2569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" y="-16"/>
            <a:ext cx="6912609" cy="3888104"/>
          </a:xfrm>
          <a:custGeom>
            <a:avLst/>
            <a:gdLst/>
            <a:ahLst/>
            <a:cxnLst/>
            <a:rect l="l" t="t" r="r" b="b"/>
            <a:pathLst>
              <a:path w="6912609" h="3888104">
                <a:moveTo>
                  <a:pt x="0" y="3888050"/>
                </a:moveTo>
                <a:lnTo>
                  <a:pt x="0" y="0"/>
                </a:lnTo>
                <a:lnTo>
                  <a:pt x="6912087" y="0"/>
                </a:lnTo>
                <a:lnTo>
                  <a:pt x="6912087" y="3888050"/>
                </a:lnTo>
                <a:lnTo>
                  <a:pt x="0" y="388805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1031" y="1108090"/>
            <a:ext cx="2972123" cy="167181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78007" y="1584006"/>
            <a:ext cx="72390" cy="1494155"/>
          </a:xfrm>
          <a:custGeom>
            <a:avLst/>
            <a:gdLst/>
            <a:ahLst/>
            <a:cxnLst/>
            <a:rect l="l" t="t" r="r" b="b"/>
            <a:pathLst>
              <a:path w="72390" h="1494155">
                <a:moveTo>
                  <a:pt x="0" y="1494017"/>
                </a:moveTo>
                <a:lnTo>
                  <a:pt x="0" y="0"/>
                </a:lnTo>
                <a:lnTo>
                  <a:pt x="71999" y="0"/>
                </a:lnTo>
                <a:lnTo>
                  <a:pt x="71999" y="1494017"/>
                </a:lnTo>
                <a:lnTo>
                  <a:pt x="0" y="1494017"/>
                </a:lnTo>
                <a:close/>
              </a:path>
            </a:pathLst>
          </a:custGeom>
          <a:solidFill>
            <a:srgbClr val="5F8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32807" y="1998010"/>
            <a:ext cx="72390" cy="1080135"/>
          </a:xfrm>
          <a:custGeom>
            <a:avLst/>
            <a:gdLst/>
            <a:ahLst/>
            <a:cxnLst/>
            <a:rect l="l" t="t" r="r" b="b"/>
            <a:pathLst>
              <a:path w="72390" h="1080135">
                <a:moveTo>
                  <a:pt x="0" y="1080014"/>
                </a:moveTo>
                <a:lnTo>
                  <a:pt x="0" y="0"/>
                </a:lnTo>
                <a:lnTo>
                  <a:pt x="71999" y="0"/>
                </a:lnTo>
                <a:lnTo>
                  <a:pt x="71999" y="1080014"/>
                </a:lnTo>
                <a:lnTo>
                  <a:pt x="0" y="1080014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005" y="0"/>
            <a:ext cx="6516370" cy="446405"/>
          </a:xfrm>
          <a:custGeom>
            <a:avLst/>
            <a:gdLst/>
            <a:ahLst/>
            <a:cxnLst/>
            <a:rect l="l" t="t" r="r" b="b"/>
            <a:pathLst>
              <a:path w="6516370" h="446405">
                <a:moveTo>
                  <a:pt x="6516001" y="0"/>
                </a:moveTo>
                <a:lnTo>
                  <a:pt x="0" y="0"/>
                </a:lnTo>
                <a:lnTo>
                  <a:pt x="0" y="446404"/>
                </a:lnTo>
                <a:lnTo>
                  <a:pt x="6516001" y="446404"/>
                </a:lnTo>
                <a:lnTo>
                  <a:pt x="6516001" y="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005" y="0"/>
            <a:ext cx="6516370" cy="446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031" y="1411322"/>
            <a:ext cx="6160135" cy="880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02110" y="3767737"/>
            <a:ext cx="147320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377501" y="3767737"/>
            <a:ext cx="70992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643937" y="3767737"/>
            <a:ext cx="2082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#</a:t>
            </a:fld>
            <a:r>
              <a:rPr dirty="0" spc="-20"/>
              <a:t>/24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2.xml"/><Relationship Id="rId6" Type="http://schemas.openxmlformats.org/officeDocument/2006/relationships/slide" Target="slide17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2.png"/><Relationship Id="rId4" Type="http://schemas.openxmlformats.org/officeDocument/2006/relationships/image" Target="../media/image1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www.diputados.gob.mx/LeyesBiblio/pdf/LGV.pdf" TargetMode="External"/><Relationship Id="rId4" Type="http://schemas.openxmlformats.org/officeDocument/2006/relationships/hyperlink" Target="https://www.diputados.gob.mx/LeyesBiblio/ref/cpeum.htm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www.diputados.gob.mx/LeyesBiblio/pdf/LGMDFP.pdf" TargetMode="External"/><Relationship Id="rId4" Type="http://schemas.openxmlformats.org/officeDocument/2006/relationships/hyperlink" Target="https://www.cndh.org.mx/documento/recomendacion-no-vg-2024-sobre-el-caso-ayotzinapa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doi.org/10.5771/9789563929119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sjf2.scjn.gob.mx/detalle/tesis/2012363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" y="-10"/>
            <a:ext cx="6912609" cy="3888104"/>
            <a:chOff x="2" y="-10"/>
            <a:chExt cx="6912609" cy="3888104"/>
          </a:xfrm>
        </p:grpSpPr>
        <p:sp>
          <p:nvSpPr>
            <p:cNvPr id="3" name="object 3"/>
            <p:cNvSpPr/>
            <p:nvPr/>
          </p:nvSpPr>
          <p:spPr>
            <a:xfrm>
              <a:off x="2" y="-10"/>
              <a:ext cx="4009390" cy="3888104"/>
            </a:xfrm>
            <a:custGeom>
              <a:avLst/>
              <a:gdLst/>
              <a:ahLst/>
              <a:cxnLst/>
              <a:rect l="l" t="t" r="r" b="b"/>
              <a:pathLst>
                <a:path w="4009390" h="3888104">
                  <a:moveTo>
                    <a:pt x="0" y="3888050"/>
                  </a:moveTo>
                  <a:lnTo>
                    <a:pt x="0" y="0"/>
                  </a:lnTo>
                  <a:lnTo>
                    <a:pt x="4009023" y="0"/>
                  </a:lnTo>
                  <a:lnTo>
                    <a:pt x="4009023" y="3888050"/>
                  </a:lnTo>
                  <a:lnTo>
                    <a:pt x="0" y="3888050"/>
                  </a:lnTo>
                  <a:close/>
                </a:path>
              </a:pathLst>
            </a:custGeom>
            <a:solidFill>
              <a:srgbClr val="174A39">
                <a:alpha val="9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009025" y="-10"/>
              <a:ext cx="2903220" cy="3888104"/>
            </a:xfrm>
            <a:custGeom>
              <a:avLst/>
              <a:gdLst/>
              <a:ahLst/>
              <a:cxnLst/>
              <a:rect l="l" t="t" r="r" b="b"/>
              <a:pathLst>
                <a:path w="2903220" h="3888104">
                  <a:moveTo>
                    <a:pt x="0" y="3888050"/>
                  </a:moveTo>
                  <a:lnTo>
                    <a:pt x="0" y="0"/>
                  </a:lnTo>
                  <a:lnTo>
                    <a:pt x="2903064" y="0"/>
                  </a:lnTo>
                  <a:lnTo>
                    <a:pt x="2903064" y="3888050"/>
                  </a:lnTo>
                  <a:lnTo>
                    <a:pt x="0" y="3888050"/>
                  </a:lnTo>
                  <a:close/>
                </a:path>
              </a:pathLst>
            </a:custGeom>
            <a:solidFill>
              <a:srgbClr val="5F8E39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676" y="544266"/>
              <a:ext cx="4976815" cy="27994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663" y="278603"/>
              <a:ext cx="918028" cy="5163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47297" y="3420033"/>
              <a:ext cx="2280920" cy="43815"/>
            </a:xfrm>
            <a:custGeom>
              <a:avLst/>
              <a:gdLst/>
              <a:ahLst/>
              <a:cxnLst/>
              <a:rect l="l" t="t" r="r" b="b"/>
              <a:pathLst>
                <a:path w="2280920" h="43814">
                  <a:moveTo>
                    <a:pt x="0" y="43204"/>
                  </a:moveTo>
                  <a:lnTo>
                    <a:pt x="0" y="0"/>
                  </a:lnTo>
                  <a:lnTo>
                    <a:pt x="2280895" y="0"/>
                  </a:lnTo>
                  <a:lnTo>
                    <a:pt x="2280895" y="43204"/>
                  </a:lnTo>
                  <a:lnTo>
                    <a:pt x="0" y="43204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47297" y="3520834"/>
              <a:ext cx="1659255" cy="36195"/>
            </a:xfrm>
            <a:custGeom>
              <a:avLst/>
              <a:gdLst/>
              <a:ahLst/>
              <a:cxnLst/>
              <a:rect l="l" t="t" r="r" b="b"/>
              <a:pathLst>
                <a:path w="1659254" h="36195">
                  <a:moveTo>
                    <a:pt x="0" y="36002"/>
                  </a:moveTo>
                  <a:lnTo>
                    <a:pt x="0" y="0"/>
                  </a:lnTo>
                  <a:lnTo>
                    <a:pt x="1658833" y="0"/>
                  </a:lnTo>
                  <a:lnTo>
                    <a:pt x="1658833" y="36002"/>
                  </a:lnTo>
                  <a:lnTo>
                    <a:pt x="0" y="36002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85305" y="1221865"/>
            <a:ext cx="3670300" cy="96456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80"/>
              </a:spcBef>
            </a:pP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Analisis</a:t>
            </a:r>
            <a:r>
              <a:rPr dirty="0" sz="23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filosofico-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juridico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23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dirty="0" sz="23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Ayotzinapa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005" y="2415120"/>
            <a:ext cx="3117850" cy="16510"/>
          </a:xfrm>
          <a:custGeom>
            <a:avLst/>
            <a:gdLst/>
            <a:ahLst/>
            <a:cxnLst/>
            <a:rect l="l" t="t" r="r" b="b"/>
            <a:pathLst>
              <a:path w="3117850" h="16510">
                <a:moveTo>
                  <a:pt x="3117354" y="0"/>
                </a:moveTo>
                <a:lnTo>
                  <a:pt x="0" y="0"/>
                </a:lnTo>
                <a:lnTo>
                  <a:pt x="0" y="16446"/>
                </a:lnTo>
                <a:lnTo>
                  <a:pt x="3117354" y="16446"/>
                </a:lnTo>
                <a:lnTo>
                  <a:pt x="3117354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5305" y="2565128"/>
            <a:ext cx="1630045" cy="39687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Martin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Jonathan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Cruz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Matricula:</a:t>
            </a:r>
            <a:r>
              <a:rPr dirty="0" sz="8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ES2611202040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069876" y="1187432"/>
            <a:ext cx="657225" cy="2355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10"/>
              <a:t>UnADM</a:t>
            </a:r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4564469" y="1489890"/>
            <a:ext cx="216281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Universidad</a:t>
            </a:r>
            <a:r>
              <a:rPr dirty="0" sz="8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Abierta</a:t>
            </a:r>
            <a:r>
              <a:rPr dirty="0" sz="8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8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8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Distancia</a:t>
            </a:r>
            <a:r>
              <a:rPr dirty="0" sz="8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8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Mexico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6082" y="1785491"/>
            <a:ext cx="1341120" cy="369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690" marR="5080" indent="-174625">
              <a:lnSpc>
                <a:spcPct val="118900"/>
              </a:lnSpc>
              <a:spcBef>
                <a:spcPts val="95"/>
              </a:spcBef>
            </a:pPr>
            <a:r>
              <a:rPr dirty="0" sz="950">
                <a:solidFill>
                  <a:srgbClr val="FFFFFF"/>
                </a:solidFill>
                <a:latin typeface="Arial"/>
                <a:cs typeface="Arial"/>
              </a:rPr>
              <a:t>Licenciatura</a:t>
            </a:r>
            <a:r>
              <a:rPr dirty="0" sz="9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9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"/>
                <a:cs typeface="Arial"/>
              </a:rPr>
              <a:t>Derecho </a:t>
            </a:r>
            <a:r>
              <a:rPr dirty="0" sz="950">
                <a:solidFill>
                  <a:srgbClr val="FFFFFF"/>
                </a:solidFill>
                <a:latin typeface="Arial"/>
                <a:cs typeface="Arial"/>
              </a:rPr>
              <a:t>Filosofia</a:t>
            </a:r>
            <a:r>
              <a:rPr dirty="0" sz="9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9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"/>
                <a:cs typeface="Arial"/>
              </a:rPr>
              <a:t>Derecho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4783" y="2289232"/>
            <a:ext cx="2032000" cy="713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1234440">
              <a:lnSpc>
                <a:spcPct val="132800"/>
              </a:lnSpc>
              <a:spcBef>
                <a:spcPts val="95"/>
              </a:spcBef>
            </a:pP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030</a:t>
            </a:r>
            <a:r>
              <a:rPr dirty="0" sz="8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Semana</a:t>
            </a:r>
            <a:r>
              <a:rPr dirty="0" sz="8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 Mtra.</a:t>
            </a:r>
            <a:r>
              <a:rPr dirty="0" sz="8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Reyna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Patricia</a:t>
            </a:r>
            <a:r>
              <a:rPr dirty="0" sz="8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Gonzalez</a:t>
            </a:r>
            <a:r>
              <a:rPr dirty="0" sz="8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Rodriguez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Roma Norte,</a:t>
            </a:r>
            <a:r>
              <a:rPr dirty="0" sz="8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Ciudad</a:t>
            </a:r>
            <a:r>
              <a:rPr dirty="0" sz="8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8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"/>
                <a:cs typeface="Arial"/>
              </a:rPr>
              <a:t>Mexico</a:t>
            </a:r>
            <a:endParaRPr sz="8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335"/>
              </a:spcBef>
            </a:pPr>
            <a:r>
              <a:rPr dirty="0" sz="850">
                <a:solidFill>
                  <a:srgbClr val="FFFFFF"/>
                </a:solidFill>
                <a:latin typeface="Arial"/>
                <a:cs typeface="Arial"/>
              </a:rPr>
              <a:t>07 de junio de </a:t>
            </a:r>
            <a:r>
              <a:rPr dirty="0" sz="850" spc="-2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Ruta</a:t>
            </a:r>
            <a:r>
              <a:rPr dirty="0" spc="-25"/>
              <a:t> </a:t>
            </a:r>
            <a:r>
              <a:rPr dirty="0"/>
              <a:t>del</a:t>
            </a:r>
            <a:r>
              <a:rPr dirty="0" spc="-20"/>
              <a:t> </a:t>
            </a:r>
            <a:r>
              <a:rPr dirty="0"/>
              <a:t>video</a:t>
            </a:r>
            <a:r>
              <a:rPr dirty="0" spc="-20"/>
              <a:t> </a:t>
            </a:r>
            <a:r>
              <a:rPr dirty="0" spc="-10"/>
              <a:t>academico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96" y="1093736"/>
            <a:ext cx="3229610" cy="943610"/>
            <a:chOff x="168096" y="1093736"/>
            <a:chExt cx="3229610" cy="943610"/>
          </a:xfrm>
        </p:grpSpPr>
        <p:sp>
          <p:nvSpPr>
            <p:cNvPr id="6" name="object 6"/>
            <p:cNvSpPr/>
            <p:nvPr/>
          </p:nvSpPr>
          <p:spPr>
            <a:xfrm>
              <a:off x="168096" y="1093736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10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1280998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25269"/>
              <a:ext cx="3229610" cy="711835"/>
            </a:xfrm>
            <a:custGeom>
              <a:avLst/>
              <a:gdLst/>
              <a:ahLst/>
              <a:cxnLst/>
              <a:rect l="l" t="t" r="r" b="b"/>
              <a:pathLst>
                <a:path w="3229610" h="711835">
                  <a:moveTo>
                    <a:pt x="3229292" y="0"/>
                  </a:moveTo>
                  <a:lnTo>
                    <a:pt x="0" y="0"/>
                  </a:lnTo>
                  <a:lnTo>
                    <a:pt x="0" y="660985"/>
                  </a:lnTo>
                  <a:lnTo>
                    <a:pt x="4008" y="680709"/>
                  </a:lnTo>
                  <a:lnTo>
                    <a:pt x="14922" y="696862"/>
                  </a:lnTo>
                  <a:lnTo>
                    <a:pt x="31075" y="707777"/>
                  </a:lnTo>
                  <a:lnTo>
                    <a:pt x="50800" y="711785"/>
                  </a:lnTo>
                  <a:lnTo>
                    <a:pt x="3178491" y="711785"/>
                  </a:lnTo>
                  <a:lnTo>
                    <a:pt x="3198216" y="707777"/>
                  </a:lnTo>
                  <a:lnTo>
                    <a:pt x="3214369" y="696862"/>
                  </a:lnTo>
                  <a:lnTo>
                    <a:pt x="3225283" y="680709"/>
                  </a:lnTo>
                  <a:lnTo>
                    <a:pt x="3229292" y="66098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096" y="2339644"/>
            <a:ext cx="3229292" cy="50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5" y="1027026"/>
            <a:ext cx="3169920" cy="200787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09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Objetivo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28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Analizar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relacion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fines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mediante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Ayotzinapa,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valorar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responde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ante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problema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contemporaneo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Mexico.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Tesis</a:t>
            </a:r>
            <a:endParaRPr sz="1150">
              <a:latin typeface="Arial"/>
              <a:cs typeface="Arial"/>
            </a:endParaRPr>
          </a:p>
          <a:p>
            <a:pPr marL="33020" marR="38100">
              <a:lnSpc>
                <a:spcPct val="107500"/>
              </a:lnSpc>
              <a:spcBef>
                <a:spcPts val="19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penal: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si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opera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limite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moral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poder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real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6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(Universidad</a:t>
            </a:r>
            <a:r>
              <a:rPr dirty="0" sz="550" spc="7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Abierta</a:t>
            </a:r>
            <a:r>
              <a:rPr dirty="0" sz="550" spc="6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y</a:t>
            </a:r>
            <a:r>
              <a:rPr dirty="0" sz="550" spc="7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a</a:t>
            </a:r>
            <a:r>
              <a:rPr dirty="0" sz="550" spc="7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Distancia</a:t>
            </a:r>
            <a:r>
              <a:rPr dirty="0" sz="550" spc="6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7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Mexico</a:t>
            </a:r>
            <a:r>
              <a:rPr dirty="0" sz="550" spc="7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[UnADM],</a:t>
            </a:r>
            <a:r>
              <a:rPr dirty="0" sz="550" spc="6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14648" y="1093736"/>
            <a:ext cx="3229610" cy="1059815"/>
            <a:chOff x="3514648" y="1093736"/>
            <a:chExt cx="3229610" cy="1059815"/>
          </a:xfrm>
        </p:grpSpPr>
        <p:sp>
          <p:nvSpPr>
            <p:cNvPr id="12" name="object 12"/>
            <p:cNvSpPr/>
            <p:nvPr/>
          </p:nvSpPr>
          <p:spPr>
            <a:xfrm>
              <a:off x="3514648" y="1093736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09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648" y="1283246"/>
              <a:ext cx="322929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14648" y="1327523"/>
              <a:ext cx="3229610" cy="826135"/>
            </a:xfrm>
            <a:custGeom>
              <a:avLst/>
              <a:gdLst/>
              <a:ahLst/>
              <a:cxnLst/>
              <a:rect l="l" t="t" r="r" b="b"/>
              <a:pathLst>
                <a:path w="3229609" h="826135">
                  <a:moveTo>
                    <a:pt x="3229292" y="0"/>
                  </a:moveTo>
                  <a:lnTo>
                    <a:pt x="0" y="0"/>
                  </a:lnTo>
                  <a:lnTo>
                    <a:pt x="0" y="774859"/>
                  </a:lnTo>
                  <a:lnTo>
                    <a:pt x="4008" y="794584"/>
                  </a:lnTo>
                  <a:lnTo>
                    <a:pt x="14922" y="810737"/>
                  </a:lnTo>
                  <a:lnTo>
                    <a:pt x="31075" y="821651"/>
                  </a:lnTo>
                  <a:lnTo>
                    <a:pt x="50800" y="825660"/>
                  </a:lnTo>
                  <a:lnTo>
                    <a:pt x="3178491" y="825660"/>
                  </a:lnTo>
                  <a:lnTo>
                    <a:pt x="3198216" y="821651"/>
                  </a:lnTo>
                  <a:lnTo>
                    <a:pt x="3214369" y="810737"/>
                  </a:lnTo>
                  <a:lnTo>
                    <a:pt x="3225283" y="794584"/>
                  </a:lnTo>
                  <a:lnTo>
                    <a:pt x="3229292" y="774859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552748" y="1049474"/>
            <a:ext cx="2677795" cy="107442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Guion</a:t>
            </a:r>
            <a:r>
              <a:rPr dirty="0" sz="11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sugerido</a:t>
            </a:r>
            <a:endParaRPr sz="11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1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central.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114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aplicables.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10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humanos.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1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Propuestas,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conclusion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fuentes.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7" name="object 1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2</a:t>
            </a:fld>
            <a:r>
              <a:rPr dirty="0" spc="-2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005" y="0"/>
            <a:ext cx="6516370" cy="44640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Times New Roman"/>
              <a:cs typeface="Times New Roman"/>
            </a:endParaRPr>
          </a:p>
          <a:p>
            <a:pPr marL="125730">
              <a:lnSpc>
                <a:spcPct val="100000"/>
              </a:lnSpc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Contenido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5305" y="1181585"/>
            <a:ext cx="1642110" cy="1696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3" action="ppaction://hlinksldjump"/>
              </a:rPr>
              <a:t>Caso</a:t>
            </a:r>
            <a:r>
              <a:rPr dirty="0" sz="1050" spc="-20">
                <a:solidFill>
                  <a:srgbClr val="174A3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3" action="ppaction://hlinksldjump"/>
              </a:rPr>
              <a:t>y</a:t>
            </a:r>
            <a:r>
              <a:rPr dirty="0" sz="1050" spc="-20">
                <a:solidFill>
                  <a:srgbClr val="174A3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  <a:hlinkClick r:id="rId3" action="ppaction://hlinksldjump"/>
              </a:rPr>
              <a:t>problema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314900"/>
              </a:lnSpc>
            </a:pP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Justicia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y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fines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del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  <a:hlinkClick r:id="rId4" action="ppaction://hlinksldjump"/>
              </a:rPr>
              <a:t>Derecho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Normas</a:t>
            </a:r>
            <a:r>
              <a:rPr dirty="0" sz="1050" spc="-15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y</a:t>
            </a:r>
            <a:r>
              <a:rPr dirty="0" sz="1050" spc="-15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derechos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Propuestas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05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y</a:t>
            </a:r>
            <a:r>
              <a:rPr dirty="0" sz="1050" spc="-35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050" spc="-1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cierre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2</a:t>
            </a:fld>
            <a:r>
              <a:rPr dirty="0" spc="-2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9998"/>
            <a:ext cx="2595880" cy="4044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/>
              <a:t>Caso</a:t>
            </a:r>
            <a:r>
              <a:rPr dirty="0" sz="2450" spc="170"/>
              <a:t> </a:t>
            </a:r>
            <a:r>
              <a:rPr dirty="0" sz="2450"/>
              <a:t>y</a:t>
            </a:r>
            <a:r>
              <a:rPr dirty="0" sz="2450" spc="185"/>
              <a:t> </a:t>
            </a:r>
            <a:r>
              <a:rPr dirty="0" sz="2450" spc="-10"/>
              <a:t>problema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Caso</a:t>
            </a:r>
            <a:r>
              <a:rPr dirty="0" spc="-30"/>
              <a:t> </a:t>
            </a:r>
            <a:r>
              <a:rPr dirty="0"/>
              <a:t>elegido:</a:t>
            </a:r>
            <a:r>
              <a:rPr dirty="0" spc="-25"/>
              <a:t> </a:t>
            </a:r>
            <a:r>
              <a:rPr dirty="0" spc="-10"/>
              <a:t>Ayotzinapa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71" y="1029220"/>
            <a:ext cx="3099435" cy="927735"/>
            <a:chOff x="168071" y="1029220"/>
            <a:chExt cx="3099435" cy="927735"/>
          </a:xfrm>
        </p:grpSpPr>
        <p:sp>
          <p:nvSpPr>
            <p:cNvPr id="6" name="object 6"/>
            <p:cNvSpPr/>
            <p:nvPr/>
          </p:nvSpPr>
          <p:spPr>
            <a:xfrm>
              <a:off x="168071" y="1029220"/>
              <a:ext cx="3099435" cy="186055"/>
            </a:xfrm>
            <a:custGeom>
              <a:avLst/>
              <a:gdLst/>
              <a:ahLst/>
              <a:cxnLst/>
              <a:rect l="l" t="t" r="r" b="b"/>
              <a:pathLst>
                <a:path w="3099435" h="186055">
                  <a:moveTo>
                    <a:pt x="304824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3099042" y="185582"/>
                  </a:lnTo>
                  <a:lnTo>
                    <a:pt x="3099042" y="50800"/>
                  </a:lnTo>
                  <a:lnTo>
                    <a:pt x="3095033" y="31075"/>
                  </a:lnTo>
                  <a:lnTo>
                    <a:pt x="3084119" y="14922"/>
                  </a:lnTo>
                  <a:lnTo>
                    <a:pt x="3067966" y="4008"/>
                  </a:lnTo>
                  <a:lnTo>
                    <a:pt x="304824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71" y="1202156"/>
              <a:ext cx="309904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71" y="1246430"/>
              <a:ext cx="3099435" cy="710565"/>
            </a:xfrm>
            <a:custGeom>
              <a:avLst/>
              <a:gdLst/>
              <a:ahLst/>
              <a:cxnLst/>
              <a:rect l="l" t="t" r="r" b="b"/>
              <a:pathLst>
                <a:path w="3099435" h="710564">
                  <a:moveTo>
                    <a:pt x="3099042" y="0"/>
                  </a:moveTo>
                  <a:lnTo>
                    <a:pt x="0" y="0"/>
                  </a:lnTo>
                  <a:lnTo>
                    <a:pt x="0" y="659522"/>
                  </a:lnTo>
                  <a:lnTo>
                    <a:pt x="4008" y="679247"/>
                  </a:lnTo>
                  <a:lnTo>
                    <a:pt x="14922" y="695400"/>
                  </a:lnTo>
                  <a:lnTo>
                    <a:pt x="31075" y="706314"/>
                  </a:lnTo>
                  <a:lnTo>
                    <a:pt x="50800" y="710322"/>
                  </a:lnTo>
                  <a:lnTo>
                    <a:pt x="3048241" y="710322"/>
                  </a:lnTo>
                  <a:lnTo>
                    <a:pt x="3067966" y="706314"/>
                  </a:lnTo>
                  <a:lnTo>
                    <a:pt x="3084119" y="695400"/>
                  </a:lnTo>
                  <a:lnTo>
                    <a:pt x="3095033" y="679247"/>
                  </a:lnTo>
                  <a:lnTo>
                    <a:pt x="3099042" y="659522"/>
                  </a:lnTo>
                  <a:lnTo>
                    <a:pt x="309904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06171" y="974988"/>
            <a:ext cx="2822575" cy="43116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Hecho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 base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noche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26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madrugada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27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de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171" y="1380408"/>
            <a:ext cx="2983865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septiembre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2014,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43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estudiantes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Escuela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Rural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“Raul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Isidro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Burgos”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desaparecieron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Iguala,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Guerrero.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8071" y="2083269"/>
            <a:ext cx="3099435" cy="939165"/>
            <a:chOff x="168071" y="2083269"/>
            <a:chExt cx="3099435" cy="939165"/>
          </a:xfrm>
        </p:grpSpPr>
        <p:sp>
          <p:nvSpPr>
            <p:cNvPr id="12" name="object 12"/>
            <p:cNvSpPr/>
            <p:nvPr/>
          </p:nvSpPr>
          <p:spPr>
            <a:xfrm>
              <a:off x="168071" y="2083269"/>
              <a:ext cx="3099435" cy="196850"/>
            </a:xfrm>
            <a:custGeom>
              <a:avLst/>
              <a:gdLst/>
              <a:ahLst/>
              <a:cxnLst/>
              <a:rect l="l" t="t" r="r" b="b"/>
              <a:pathLst>
                <a:path w="3099435" h="196850">
                  <a:moveTo>
                    <a:pt x="304824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774"/>
                  </a:lnTo>
                  <a:lnTo>
                    <a:pt x="3099042" y="196774"/>
                  </a:lnTo>
                  <a:lnTo>
                    <a:pt x="3099042" y="50800"/>
                  </a:lnTo>
                  <a:lnTo>
                    <a:pt x="3095033" y="31075"/>
                  </a:lnTo>
                  <a:lnTo>
                    <a:pt x="3084119" y="14922"/>
                  </a:lnTo>
                  <a:lnTo>
                    <a:pt x="3067966" y="4008"/>
                  </a:lnTo>
                  <a:lnTo>
                    <a:pt x="304824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071" y="2267394"/>
              <a:ext cx="309904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8071" y="2311668"/>
              <a:ext cx="3099435" cy="710565"/>
            </a:xfrm>
            <a:custGeom>
              <a:avLst/>
              <a:gdLst/>
              <a:ahLst/>
              <a:cxnLst/>
              <a:rect l="l" t="t" r="r" b="b"/>
              <a:pathLst>
                <a:path w="3099435" h="710564">
                  <a:moveTo>
                    <a:pt x="3099042" y="0"/>
                  </a:moveTo>
                  <a:lnTo>
                    <a:pt x="0" y="0"/>
                  </a:lnTo>
                  <a:lnTo>
                    <a:pt x="0" y="659522"/>
                  </a:lnTo>
                  <a:lnTo>
                    <a:pt x="4008" y="679247"/>
                  </a:lnTo>
                  <a:lnTo>
                    <a:pt x="14922" y="695400"/>
                  </a:lnTo>
                  <a:lnTo>
                    <a:pt x="31075" y="706314"/>
                  </a:lnTo>
                  <a:lnTo>
                    <a:pt x="50800" y="710322"/>
                  </a:lnTo>
                  <a:lnTo>
                    <a:pt x="3048241" y="710322"/>
                  </a:lnTo>
                  <a:lnTo>
                    <a:pt x="3067966" y="706314"/>
                  </a:lnTo>
                  <a:lnTo>
                    <a:pt x="3084119" y="695400"/>
                  </a:lnTo>
                  <a:lnTo>
                    <a:pt x="3095033" y="679247"/>
                  </a:lnTo>
                  <a:lnTo>
                    <a:pt x="3099042" y="659522"/>
                  </a:lnTo>
                  <a:lnTo>
                    <a:pt x="309904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06171" y="2016776"/>
            <a:ext cx="2489835" cy="454659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dirty="0" sz="115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dirty="0" sz="115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relevante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concentra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privacion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171" y="2445633"/>
            <a:ext cx="2617470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afectacion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integridad,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dolor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prolongado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de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indirectas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fallas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busqueda, investigacion,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4333" y="1216482"/>
            <a:ext cx="3359641" cy="506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22434" y="962510"/>
            <a:ext cx="2893060" cy="461009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Problema</a:t>
            </a:r>
            <a:r>
              <a:rPr dirty="0" sz="1150" spc="5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filosofico-juridico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ocurre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propio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aparato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estatal,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por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2434" y="1397794"/>
            <a:ext cx="3214370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accion,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omision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encubrimiento,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deja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operar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como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convierte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fuente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vulneracion.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84333" y="1928583"/>
            <a:ext cx="3359785" cy="739140"/>
            <a:chOff x="3384333" y="1928583"/>
            <a:chExt cx="3359785" cy="739140"/>
          </a:xfrm>
        </p:grpSpPr>
        <p:sp>
          <p:nvSpPr>
            <p:cNvPr id="21" name="object 21"/>
            <p:cNvSpPr/>
            <p:nvPr/>
          </p:nvSpPr>
          <p:spPr>
            <a:xfrm>
              <a:off x="3384333" y="1928583"/>
              <a:ext cx="3359785" cy="196850"/>
            </a:xfrm>
            <a:custGeom>
              <a:avLst/>
              <a:gdLst/>
              <a:ahLst/>
              <a:cxnLst/>
              <a:rect l="l" t="t" r="r" b="b"/>
              <a:pathLst>
                <a:path w="3359784" h="196850">
                  <a:moveTo>
                    <a:pt x="330884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774"/>
                  </a:lnTo>
                  <a:lnTo>
                    <a:pt x="3359641" y="196774"/>
                  </a:lnTo>
                  <a:lnTo>
                    <a:pt x="3359641" y="50800"/>
                  </a:lnTo>
                  <a:lnTo>
                    <a:pt x="3355632" y="31075"/>
                  </a:lnTo>
                  <a:lnTo>
                    <a:pt x="3344718" y="14922"/>
                  </a:lnTo>
                  <a:lnTo>
                    <a:pt x="3328565" y="4008"/>
                  </a:lnTo>
                  <a:lnTo>
                    <a:pt x="3308840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4333" y="2112708"/>
              <a:ext cx="3359641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84333" y="2156984"/>
              <a:ext cx="3359785" cy="510540"/>
            </a:xfrm>
            <a:custGeom>
              <a:avLst/>
              <a:gdLst/>
              <a:ahLst/>
              <a:cxnLst/>
              <a:rect l="l" t="t" r="r" b="b"/>
              <a:pathLst>
                <a:path w="3359784" h="510539">
                  <a:moveTo>
                    <a:pt x="3359641" y="0"/>
                  </a:moveTo>
                  <a:lnTo>
                    <a:pt x="0" y="0"/>
                  </a:lnTo>
                  <a:lnTo>
                    <a:pt x="0" y="459380"/>
                  </a:lnTo>
                  <a:lnTo>
                    <a:pt x="4008" y="479105"/>
                  </a:lnTo>
                  <a:lnTo>
                    <a:pt x="14922" y="495258"/>
                  </a:lnTo>
                  <a:lnTo>
                    <a:pt x="31075" y="506172"/>
                  </a:lnTo>
                  <a:lnTo>
                    <a:pt x="50800" y="510180"/>
                  </a:lnTo>
                  <a:lnTo>
                    <a:pt x="3308840" y="510180"/>
                  </a:lnTo>
                  <a:lnTo>
                    <a:pt x="3328565" y="506172"/>
                  </a:lnTo>
                  <a:lnTo>
                    <a:pt x="3344718" y="495258"/>
                  </a:lnTo>
                  <a:lnTo>
                    <a:pt x="3355632" y="479105"/>
                  </a:lnTo>
                  <a:lnTo>
                    <a:pt x="3359641" y="459380"/>
                  </a:lnTo>
                  <a:lnTo>
                    <a:pt x="335964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422434" y="1862090"/>
            <a:ext cx="2951480" cy="454659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Lectura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reporte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analizarse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cruce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validez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2434" y="2290960"/>
            <a:ext cx="254825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juridica,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responsabilidad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 etica</a:t>
            </a:r>
            <a:r>
              <a:rPr dirty="0" sz="10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legitimidad institucional.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5305" y="3018770"/>
            <a:ext cx="321564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(Comision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Nacional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los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Derechos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Humanos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[CNDH],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2024;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Camara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2026b).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8" name="object 28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5</a:t>
            </a:fld>
            <a:r>
              <a:rPr dirty="0" spc="-2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Del</a:t>
            </a:r>
            <a:r>
              <a:rPr dirty="0" spc="-15"/>
              <a:t> </a:t>
            </a:r>
            <a:r>
              <a:rPr dirty="0"/>
              <a:t>hecho</a:t>
            </a:r>
            <a:r>
              <a:rPr dirty="0" spc="-15"/>
              <a:t> </a:t>
            </a:r>
            <a:r>
              <a:rPr dirty="0"/>
              <a:t>al</a:t>
            </a:r>
            <a:r>
              <a:rPr dirty="0" spc="-10"/>
              <a:t> problema</a:t>
            </a:r>
            <a:r>
              <a:rPr dirty="0" spc="-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Derecho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93318" y="1222800"/>
            <a:ext cx="1331595" cy="552450"/>
            <a:chOff x="393318" y="1222800"/>
            <a:chExt cx="1331595" cy="552450"/>
          </a:xfrm>
        </p:grpSpPr>
        <p:sp>
          <p:nvSpPr>
            <p:cNvPr id="6" name="object 6"/>
            <p:cNvSpPr/>
            <p:nvPr/>
          </p:nvSpPr>
          <p:spPr>
            <a:xfrm>
              <a:off x="396175" y="1225658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80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3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4" y="491411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6175" y="1225658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80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3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4" y="491411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89584" y="1222569"/>
            <a:ext cx="1139190" cy="5130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2065" marR="5080">
              <a:lnSpc>
                <a:spcPct val="108000"/>
              </a:lnSpc>
              <a:spcBef>
                <a:spcPts val="40"/>
              </a:spcBef>
            </a:pPr>
            <a:r>
              <a:rPr dirty="0" sz="1000" spc="-20" b="1">
                <a:solidFill>
                  <a:srgbClr val="1F2A24"/>
                </a:solidFill>
                <a:latin typeface="Arial"/>
                <a:cs typeface="Arial"/>
              </a:rPr>
              <a:t>Hecho</a:t>
            </a:r>
            <a:r>
              <a:rPr dirty="0" sz="1000" spc="50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dirty="0" sz="1000" spc="28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fallas</a:t>
            </a:r>
            <a:r>
              <a:rPr dirty="0" sz="1000" spc="10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00" spc="10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busqueda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78014" y="1222800"/>
            <a:ext cx="1331595" cy="552450"/>
            <a:chOff x="1978014" y="1222800"/>
            <a:chExt cx="1331595" cy="552450"/>
          </a:xfrm>
        </p:grpSpPr>
        <p:sp>
          <p:nvSpPr>
            <p:cNvPr id="10" name="object 10"/>
            <p:cNvSpPr/>
            <p:nvPr/>
          </p:nvSpPr>
          <p:spPr>
            <a:xfrm>
              <a:off x="1980872" y="1225658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79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4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5" y="491411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80872" y="1225658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79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4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5" y="491411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064405" y="1222569"/>
            <a:ext cx="1158875" cy="513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000" spc="-10" b="1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endParaRPr sz="1000">
              <a:latin typeface="Arial"/>
              <a:cs typeface="Arial"/>
            </a:endParaRPr>
          </a:p>
          <a:p>
            <a:pPr algn="ctr" marL="12700" marR="5080">
              <a:lnSpc>
                <a:spcPct val="108000"/>
              </a:lnSpc>
            </a:pP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r>
              <a:rPr dirty="0" sz="1000" spc="2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integridad,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dirty="0" sz="1000" spc="114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00" spc="114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62711" y="1222010"/>
            <a:ext cx="1331595" cy="553720"/>
            <a:chOff x="3562711" y="1222010"/>
            <a:chExt cx="1331595" cy="553720"/>
          </a:xfrm>
        </p:grpSpPr>
        <p:sp>
          <p:nvSpPr>
            <p:cNvPr id="14" name="object 14"/>
            <p:cNvSpPr/>
            <p:nvPr/>
          </p:nvSpPr>
          <p:spPr>
            <a:xfrm>
              <a:off x="3565568" y="1224867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4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5" y="492992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65568" y="1224867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4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5" y="492992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660057" y="1221784"/>
            <a:ext cx="1136650" cy="5130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335915">
              <a:lnSpc>
                <a:spcPct val="108000"/>
              </a:lnSpc>
              <a:spcBef>
                <a:spcPts val="40"/>
              </a:spcBef>
            </a:pPr>
            <a:r>
              <a:rPr dirty="0" sz="1000" spc="-10" b="1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1000" spc="50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dirty="0" sz="100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00" spc="1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prevenir,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buscar</a:t>
            </a:r>
            <a:r>
              <a:rPr dirty="0" sz="1000" spc="1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e</a:t>
            </a:r>
            <a:r>
              <a:rPr dirty="0" sz="1000" spc="1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investigar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47407" y="1222010"/>
            <a:ext cx="1331595" cy="553720"/>
            <a:chOff x="5147407" y="1222010"/>
            <a:chExt cx="1331595" cy="553720"/>
          </a:xfrm>
        </p:grpSpPr>
        <p:sp>
          <p:nvSpPr>
            <p:cNvPr id="18" name="object 18"/>
            <p:cNvSpPr/>
            <p:nvPr/>
          </p:nvSpPr>
          <p:spPr>
            <a:xfrm>
              <a:off x="5150265" y="1224867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3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4" y="492992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50265" y="1224867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3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4" y="492992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225695" y="1221784"/>
            <a:ext cx="1174750" cy="51308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 indent="288925">
              <a:lnSpc>
                <a:spcPct val="108000"/>
              </a:lnSpc>
              <a:spcBef>
                <a:spcPts val="40"/>
              </a:spcBef>
            </a:pPr>
            <a:r>
              <a:rPr dirty="0" sz="1000" spc="-10" b="1">
                <a:solidFill>
                  <a:srgbClr val="1F2A24"/>
                </a:solidFill>
                <a:latin typeface="Arial"/>
                <a:cs typeface="Arial"/>
              </a:rPr>
              <a:t>Pregunta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0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0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legalidad </a:t>
            </a:r>
            <a:r>
              <a:rPr dirty="0" sz="100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dirty="0" sz="1000" spc="17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2A24"/>
                </a:solidFill>
                <a:latin typeface="Arial"/>
                <a:cs typeface="Arial"/>
              </a:rPr>
              <a:t>legitimidad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24443" y="1473521"/>
            <a:ext cx="3408679" cy="50800"/>
            <a:chOff x="1724443" y="1473521"/>
            <a:chExt cx="3408679" cy="50800"/>
          </a:xfrm>
        </p:grpSpPr>
        <p:sp>
          <p:nvSpPr>
            <p:cNvPr id="22" name="object 22"/>
            <p:cNvSpPr/>
            <p:nvPr/>
          </p:nvSpPr>
          <p:spPr>
            <a:xfrm>
              <a:off x="1724443" y="1498798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09982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909982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09140" y="1498798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94678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94678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893836" y="1498798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079375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079375" y="148142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5" y="2163546"/>
            <a:ext cx="6617681" cy="5060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85305" y="1933024"/>
            <a:ext cx="6541770" cy="81280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Idea</a:t>
            </a:r>
            <a:r>
              <a:rPr dirty="0" sz="1150" spc="-3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central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limita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preguntar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existen: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tambien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revisa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justifican,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orientan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limitan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realmente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34" name="object 34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20"/>
              <a:t>5</a:t>
            </a:fld>
            <a:r>
              <a:rPr dirty="0" spc="-2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334593"/>
            <a:ext cx="3792854" cy="7969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ts val="3090"/>
              </a:lnSpc>
              <a:spcBef>
                <a:spcPts val="90"/>
              </a:spcBef>
            </a:pPr>
            <a:r>
              <a:rPr dirty="0" sz="2450"/>
              <a:t>Justicia y fines del </a:t>
            </a:r>
            <a:r>
              <a:rPr dirty="0" sz="2450" spc="-10"/>
              <a:t>Dere-</a:t>
            </a:r>
            <a:r>
              <a:rPr dirty="0" sz="2450" spc="-25"/>
              <a:t>cho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Justicia</a:t>
            </a:r>
            <a:r>
              <a:rPr dirty="0" spc="-35"/>
              <a:t> </a:t>
            </a:r>
            <a:r>
              <a:rPr dirty="0"/>
              <a:t>en</a:t>
            </a:r>
            <a:r>
              <a:rPr dirty="0" spc="-30"/>
              <a:t> </a:t>
            </a:r>
            <a:r>
              <a:rPr dirty="0"/>
              <a:t>la</a:t>
            </a:r>
            <a:r>
              <a:rPr dirty="0" spc="-35"/>
              <a:t> </a:t>
            </a:r>
            <a:r>
              <a:rPr dirty="0"/>
              <a:t>Filosofia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Derecho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13321" y="1145158"/>
            <a:ext cx="2186940" cy="902969"/>
            <a:chOff x="113321" y="1145158"/>
            <a:chExt cx="2186940" cy="902969"/>
          </a:xfrm>
        </p:grpSpPr>
        <p:sp>
          <p:nvSpPr>
            <p:cNvPr id="6" name="object 6"/>
            <p:cNvSpPr/>
            <p:nvPr/>
          </p:nvSpPr>
          <p:spPr>
            <a:xfrm>
              <a:off x="113321" y="1145158"/>
              <a:ext cx="2186940" cy="189230"/>
            </a:xfrm>
            <a:custGeom>
              <a:avLst/>
              <a:gdLst/>
              <a:ahLst/>
              <a:cxnLst/>
              <a:rect l="l" t="t" r="r" b="b"/>
              <a:pathLst>
                <a:path w="2186940" h="189230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86794" y="188716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21" y="1321218"/>
              <a:ext cx="2186794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321" y="1365490"/>
              <a:ext cx="2186940" cy="682625"/>
            </a:xfrm>
            <a:custGeom>
              <a:avLst/>
              <a:gdLst/>
              <a:ahLst/>
              <a:cxnLst/>
              <a:rect l="l" t="t" r="r" b="b"/>
              <a:pathLst>
                <a:path w="2186940" h="682625">
                  <a:moveTo>
                    <a:pt x="2186794" y="0"/>
                  </a:moveTo>
                  <a:lnTo>
                    <a:pt x="0" y="0"/>
                  </a:lnTo>
                  <a:lnTo>
                    <a:pt x="0" y="631457"/>
                  </a:lnTo>
                  <a:lnTo>
                    <a:pt x="4008" y="651181"/>
                  </a:lnTo>
                  <a:lnTo>
                    <a:pt x="14922" y="667334"/>
                  </a:lnTo>
                  <a:lnTo>
                    <a:pt x="31075" y="678249"/>
                  </a:lnTo>
                  <a:lnTo>
                    <a:pt x="50800" y="682257"/>
                  </a:lnTo>
                  <a:lnTo>
                    <a:pt x="2135994" y="682257"/>
                  </a:lnTo>
                  <a:lnTo>
                    <a:pt x="2155718" y="678249"/>
                  </a:lnTo>
                  <a:lnTo>
                    <a:pt x="2171871" y="667334"/>
                  </a:lnTo>
                  <a:lnTo>
                    <a:pt x="2182786" y="651181"/>
                  </a:lnTo>
                  <a:lnTo>
                    <a:pt x="2186794" y="631457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1422" y="1094051"/>
            <a:ext cx="1958339" cy="43116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permite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una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422" y="1499457"/>
            <a:ext cx="1896110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decision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protege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la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persona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fue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emitida formalmente.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62618" y="1145158"/>
            <a:ext cx="2186940" cy="902969"/>
            <a:chOff x="2362618" y="1145158"/>
            <a:chExt cx="2186940" cy="902969"/>
          </a:xfrm>
        </p:grpSpPr>
        <p:sp>
          <p:nvSpPr>
            <p:cNvPr id="12" name="object 12"/>
            <p:cNvSpPr/>
            <p:nvPr/>
          </p:nvSpPr>
          <p:spPr>
            <a:xfrm>
              <a:off x="2362618" y="1145158"/>
              <a:ext cx="2186940" cy="189230"/>
            </a:xfrm>
            <a:custGeom>
              <a:avLst/>
              <a:gdLst/>
              <a:ahLst/>
              <a:cxnLst/>
              <a:rect l="l" t="t" r="r" b="b"/>
              <a:pathLst>
                <a:path w="2186940" h="189230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86794" y="188716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618" y="1321218"/>
              <a:ext cx="2186794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62618" y="1365490"/>
              <a:ext cx="2186940" cy="682625"/>
            </a:xfrm>
            <a:custGeom>
              <a:avLst/>
              <a:gdLst/>
              <a:ahLst/>
              <a:cxnLst/>
              <a:rect l="l" t="t" r="r" b="b"/>
              <a:pathLst>
                <a:path w="2186940" h="682625">
                  <a:moveTo>
                    <a:pt x="2186794" y="0"/>
                  </a:moveTo>
                  <a:lnTo>
                    <a:pt x="0" y="0"/>
                  </a:lnTo>
                  <a:lnTo>
                    <a:pt x="0" y="631457"/>
                  </a:lnTo>
                  <a:lnTo>
                    <a:pt x="4008" y="651181"/>
                  </a:lnTo>
                  <a:lnTo>
                    <a:pt x="14922" y="667334"/>
                  </a:lnTo>
                  <a:lnTo>
                    <a:pt x="31075" y="678249"/>
                  </a:lnTo>
                  <a:lnTo>
                    <a:pt x="50800" y="682257"/>
                  </a:lnTo>
                  <a:lnTo>
                    <a:pt x="2135994" y="682257"/>
                  </a:lnTo>
                  <a:lnTo>
                    <a:pt x="2155718" y="678249"/>
                  </a:lnTo>
                  <a:lnTo>
                    <a:pt x="2171871" y="667334"/>
                  </a:lnTo>
                  <a:lnTo>
                    <a:pt x="2182786" y="651181"/>
                  </a:lnTo>
                  <a:lnTo>
                    <a:pt x="2186794" y="631457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400719" y="1094051"/>
            <a:ext cx="1652270" cy="43116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Arial"/>
                <a:cs typeface="Arial"/>
              </a:rPr>
              <a:t>fin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ordenar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la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0719" y="1499457"/>
            <a:ext cx="2065655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convivencia,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limitar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abuso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producir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respuestas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institucionales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dano.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1902" y="1145158"/>
            <a:ext cx="2186940" cy="770255"/>
            <a:chOff x="4611902" y="1145158"/>
            <a:chExt cx="2186940" cy="770255"/>
          </a:xfrm>
        </p:grpSpPr>
        <p:sp>
          <p:nvSpPr>
            <p:cNvPr id="18" name="object 18"/>
            <p:cNvSpPr/>
            <p:nvPr/>
          </p:nvSpPr>
          <p:spPr>
            <a:xfrm>
              <a:off x="4611902" y="1145158"/>
              <a:ext cx="2186940" cy="200025"/>
            </a:xfrm>
            <a:custGeom>
              <a:avLst/>
              <a:gdLst/>
              <a:ahLst/>
              <a:cxnLst/>
              <a:rect l="l" t="t" r="r" b="b"/>
              <a:pathLst>
                <a:path w="2186940" h="200025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2186794" y="199909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1902" y="1332407"/>
              <a:ext cx="2186794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11902" y="1376686"/>
              <a:ext cx="2186940" cy="538480"/>
            </a:xfrm>
            <a:custGeom>
              <a:avLst/>
              <a:gdLst/>
              <a:ahLst/>
              <a:cxnLst/>
              <a:rect l="l" t="t" r="r" b="b"/>
              <a:pathLst>
                <a:path w="2186940" h="538480">
                  <a:moveTo>
                    <a:pt x="2186794" y="0"/>
                  </a:moveTo>
                  <a:lnTo>
                    <a:pt x="0" y="0"/>
                  </a:lnTo>
                  <a:lnTo>
                    <a:pt x="0" y="487445"/>
                  </a:lnTo>
                  <a:lnTo>
                    <a:pt x="4008" y="507170"/>
                  </a:lnTo>
                  <a:lnTo>
                    <a:pt x="14922" y="523322"/>
                  </a:lnTo>
                  <a:lnTo>
                    <a:pt x="31075" y="534237"/>
                  </a:lnTo>
                  <a:lnTo>
                    <a:pt x="50800" y="538245"/>
                  </a:lnTo>
                  <a:lnTo>
                    <a:pt x="2135994" y="538245"/>
                  </a:lnTo>
                  <a:lnTo>
                    <a:pt x="2155718" y="534237"/>
                  </a:lnTo>
                  <a:lnTo>
                    <a:pt x="2171871" y="523322"/>
                  </a:lnTo>
                  <a:lnTo>
                    <a:pt x="2182786" y="507170"/>
                  </a:lnTo>
                  <a:lnTo>
                    <a:pt x="2186794" y="487445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50003" y="1081789"/>
            <a:ext cx="2100580" cy="454659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Ayotzinapa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busqueda,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0003" y="1510672"/>
            <a:ext cx="1593215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investigacion,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5" y="2402382"/>
            <a:ext cx="6617681" cy="506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85305" y="2171860"/>
            <a:ext cx="6512559" cy="78613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Lectura</a:t>
            </a:r>
            <a:r>
              <a:rPr dirty="0" sz="1150" spc="-5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critica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legalidad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protege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dignidad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conservar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forma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juridica,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fuerza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razon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publica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obediencia.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Laun,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2021).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6" name="object 2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Equidad,</a:t>
            </a:r>
            <a:r>
              <a:rPr dirty="0" spc="-40"/>
              <a:t> </a:t>
            </a:r>
            <a:r>
              <a:rPr dirty="0"/>
              <a:t>normas</a:t>
            </a:r>
            <a:r>
              <a:rPr dirty="0" spc="-35"/>
              <a:t> </a:t>
            </a:r>
            <a:r>
              <a:rPr dirty="0"/>
              <a:t>y</a:t>
            </a:r>
            <a:r>
              <a:rPr dirty="0" spc="-35"/>
              <a:t> </a:t>
            </a:r>
            <a:r>
              <a:rPr dirty="0"/>
              <a:t>solucion</a:t>
            </a:r>
            <a:r>
              <a:rPr dirty="0" spc="-35"/>
              <a:t> </a:t>
            </a:r>
            <a:r>
              <a:rPr dirty="0"/>
              <a:t>del</a:t>
            </a:r>
            <a:r>
              <a:rPr dirty="0" spc="-35"/>
              <a:t> </a:t>
            </a:r>
            <a:r>
              <a:rPr dirty="0" spc="-10"/>
              <a:t>conflicto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8005" y="805497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5305" y="823135"/>
            <a:ext cx="45783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Criterio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0671" y="823135"/>
            <a:ext cx="111950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Funcion</a:t>
            </a:r>
            <a:r>
              <a:rPr dirty="0" sz="950" spc="1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950" spc="2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950" spc="2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1847" y="823135"/>
            <a:ext cx="95059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Salida</a:t>
            </a:r>
            <a:r>
              <a:rPr dirty="0" sz="950" spc="2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esperada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005" y="103092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305" y="1046502"/>
            <a:ext cx="42799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0659" y="1046502"/>
            <a:ext cx="2399030" cy="123444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134620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Reconocer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dano,</a:t>
            </a:r>
            <a:r>
              <a:rPr dirty="0" sz="9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responsabilidad</a:t>
            </a:r>
            <a:r>
              <a:rPr dirty="0" sz="9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deber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respuesta.</a:t>
            </a:r>
            <a:endParaRPr sz="950">
              <a:latin typeface="Arial"/>
              <a:cs typeface="Arial"/>
            </a:endParaRPr>
          </a:p>
          <a:p>
            <a:pPr marL="12700" marR="103505">
              <a:lnSpc>
                <a:spcPct val="104900"/>
              </a:lnSpc>
            </a:pP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Tratar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forma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reforzada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direc-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tas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indirectas.</a:t>
            </a:r>
            <a:endParaRPr sz="950">
              <a:latin typeface="Arial"/>
              <a:cs typeface="Arial"/>
            </a:endParaRPr>
          </a:p>
          <a:p>
            <a:pPr marL="12700" marR="10985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Activar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Constitucion,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Victi-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mas y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Desaparicion.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Leer el caso desde universalidad, debida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di-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ligencia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humanos.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1891" y="1046502"/>
            <a:ext cx="239141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sancion,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350172"/>
            <a:ext cx="47117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1891" y="1350172"/>
            <a:ext cx="2384425" cy="9309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38735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Atencion diferenciada, informacion y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acom-panamiento.</a:t>
            </a:r>
            <a:endParaRPr sz="950">
              <a:latin typeface="Arial"/>
              <a:cs typeface="Arial"/>
            </a:endParaRPr>
          </a:p>
          <a:p>
            <a:pPr marL="12700" marR="14224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Busqueda, investigacion, reparacion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inte-gral.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Estandares de prevencion, verdad y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repara-cion.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305" y="1653829"/>
            <a:ext cx="9429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950" spc="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mexicana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05" y="1957486"/>
            <a:ext cx="108839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Orden</a:t>
            </a:r>
            <a:r>
              <a:rPr dirty="0" sz="9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internacional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8005" y="231917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5" y="2701531"/>
            <a:ext cx="6617681" cy="5060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85305" y="2463501"/>
            <a:ext cx="6478905" cy="7645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Postura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  <a:spcBef>
                <a:spcPts val="26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Resolver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conflicto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unir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valor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procedimiento: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sin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queda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deseo;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sin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vuelve formalismo.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2026a,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2026b).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1" name="object 21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Justicia</a:t>
            </a:r>
            <a:r>
              <a:rPr dirty="0" spc="-25"/>
              <a:t> </a:t>
            </a:r>
            <a:r>
              <a:rPr dirty="0" spc="-10"/>
              <a:t>distributiva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20"/>
              <a:t> </a:t>
            </a:r>
            <a:r>
              <a:rPr dirty="0" spc="-10"/>
              <a:t>correctiva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96" y="1162887"/>
            <a:ext cx="3229610" cy="929640"/>
            <a:chOff x="168096" y="1162887"/>
            <a:chExt cx="3229610" cy="929640"/>
          </a:xfrm>
        </p:grpSpPr>
        <p:sp>
          <p:nvSpPr>
            <p:cNvPr id="6" name="object 6"/>
            <p:cNvSpPr/>
            <p:nvPr/>
          </p:nvSpPr>
          <p:spPr>
            <a:xfrm>
              <a:off x="168096" y="1162887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1338948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83231"/>
              <a:ext cx="3229610" cy="709295"/>
            </a:xfrm>
            <a:custGeom>
              <a:avLst/>
              <a:gdLst/>
              <a:ahLst/>
              <a:cxnLst/>
              <a:rect l="l" t="t" r="r" b="b"/>
              <a:pathLst>
                <a:path w="3229610" h="709294">
                  <a:moveTo>
                    <a:pt x="3229292" y="0"/>
                  </a:moveTo>
                  <a:lnTo>
                    <a:pt x="0" y="0"/>
                  </a:lnTo>
                  <a:lnTo>
                    <a:pt x="0" y="657925"/>
                  </a:lnTo>
                  <a:lnTo>
                    <a:pt x="4008" y="677650"/>
                  </a:lnTo>
                  <a:lnTo>
                    <a:pt x="14922" y="693803"/>
                  </a:lnTo>
                  <a:lnTo>
                    <a:pt x="31075" y="704717"/>
                  </a:lnTo>
                  <a:lnTo>
                    <a:pt x="50800" y="708725"/>
                  </a:lnTo>
                  <a:lnTo>
                    <a:pt x="3178491" y="708725"/>
                  </a:lnTo>
                  <a:lnTo>
                    <a:pt x="3198216" y="704717"/>
                  </a:lnTo>
                  <a:lnTo>
                    <a:pt x="3214369" y="693803"/>
                  </a:lnTo>
                  <a:lnTo>
                    <a:pt x="3225283" y="677650"/>
                  </a:lnTo>
                  <a:lnTo>
                    <a:pt x="3229292" y="65792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096" y="2407983"/>
            <a:ext cx="3229292" cy="50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5" y="1111780"/>
            <a:ext cx="2946400" cy="181991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39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Justicia</a:t>
            </a:r>
            <a:r>
              <a:rPr dirty="0" sz="11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distributiva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16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caso,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distribuir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recursos,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cargas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publica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modo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proporcional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dano: busqueda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inmediata,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investigacion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seria,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apoyo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familias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prioridad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Riesgo</a:t>
            </a:r>
            <a:endParaRPr sz="1150">
              <a:latin typeface="Arial"/>
              <a:cs typeface="Arial"/>
            </a:endParaRPr>
          </a:p>
          <a:p>
            <a:pPr marL="33020" marR="76835">
              <a:lnSpc>
                <a:spcPct val="107500"/>
              </a:lnSpc>
              <a:spcBef>
                <a:spcPts val="29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distribuye</a:t>
            </a:r>
            <a:r>
              <a:rPr dirty="0" sz="10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indiferencia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 burocracia,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reproduce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desigualdad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2018).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14648" y="1162887"/>
            <a:ext cx="3229610" cy="758825"/>
            <a:chOff x="3514648" y="1162887"/>
            <a:chExt cx="3229610" cy="758825"/>
          </a:xfrm>
        </p:grpSpPr>
        <p:sp>
          <p:nvSpPr>
            <p:cNvPr id="12" name="object 12"/>
            <p:cNvSpPr/>
            <p:nvPr/>
          </p:nvSpPr>
          <p:spPr>
            <a:xfrm>
              <a:off x="3514648" y="1162887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648" y="1338948"/>
              <a:ext cx="322929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14648" y="1383226"/>
              <a:ext cx="3229610" cy="538480"/>
            </a:xfrm>
            <a:custGeom>
              <a:avLst/>
              <a:gdLst/>
              <a:ahLst/>
              <a:cxnLst/>
              <a:rect l="l" t="t" r="r" b="b"/>
              <a:pathLst>
                <a:path w="3229609" h="538480">
                  <a:moveTo>
                    <a:pt x="3229292" y="0"/>
                  </a:moveTo>
                  <a:lnTo>
                    <a:pt x="0" y="0"/>
                  </a:lnTo>
                  <a:lnTo>
                    <a:pt x="0" y="487445"/>
                  </a:lnTo>
                  <a:lnTo>
                    <a:pt x="4008" y="507170"/>
                  </a:lnTo>
                  <a:lnTo>
                    <a:pt x="14922" y="523322"/>
                  </a:lnTo>
                  <a:lnTo>
                    <a:pt x="31075" y="534237"/>
                  </a:lnTo>
                  <a:lnTo>
                    <a:pt x="50800" y="538245"/>
                  </a:lnTo>
                  <a:lnTo>
                    <a:pt x="3178491" y="538245"/>
                  </a:lnTo>
                  <a:lnTo>
                    <a:pt x="3198216" y="534237"/>
                  </a:lnTo>
                  <a:lnTo>
                    <a:pt x="3214369" y="523322"/>
                  </a:lnTo>
                  <a:lnTo>
                    <a:pt x="3225283" y="507170"/>
                  </a:lnTo>
                  <a:lnTo>
                    <a:pt x="3229292" y="48744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552748" y="2033968"/>
            <a:ext cx="511809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Riesgo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14648" y="2237511"/>
            <a:ext cx="3229292" cy="506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552748" y="1111780"/>
            <a:ext cx="3086100" cy="167703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Justicia</a:t>
            </a:r>
            <a:r>
              <a:rPr dirty="0" sz="11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correctiva</a:t>
            </a:r>
            <a:endParaRPr sz="1150">
              <a:latin typeface="Arial"/>
              <a:cs typeface="Arial"/>
            </a:endParaRPr>
          </a:p>
          <a:p>
            <a:pPr marL="12700" marR="103505">
              <a:lnSpc>
                <a:spcPct val="107500"/>
              </a:lnSpc>
              <a:spcBef>
                <a:spcPts val="16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Busca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responder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producido: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esclarecer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hechos,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sancionar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responsables,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reparar integralmente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crear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hay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correccion,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vuelve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impunidad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credibilidad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mecanismo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de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9" name="object 19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Fines</a:t>
            </a:r>
            <a:r>
              <a:rPr dirty="0" spc="-20"/>
              <a:t> </a:t>
            </a:r>
            <a:r>
              <a:rPr dirty="0"/>
              <a:t>del</a:t>
            </a:r>
            <a:r>
              <a:rPr dirty="0" spc="-15"/>
              <a:t> </a:t>
            </a:r>
            <a:r>
              <a:rPr dirty="0"/>
              <a:t>Derecho</a:t>
            </a:r>
            <a:r>
              <a:rPr dirty="0" spc="-20"/>
              <a:t> </a:t>
            </a:r>
            <a:r>
              <a:rPr dirty="0"/>
              <a:t>puestos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 spc="-10"/>
              <a:t>prueba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71811" y="1393861"/>
            <a:ext cx="1726564" cy="409575"/>
          </a:xfrm>
          <a:custGeom>
            <a:avLst/>
            <a:gdLst/>
            <a:ahLst/>
            <a:cxnLst/>
            <a:rect l="l" t="t" r="r" b="b"/>
            <a:pathLst>
              <a:path w="1726564" h="409575">
                <a:moveTo>
                  <a:pt x="863183" y="0"/>
                </a:moveTo>
                <a:lnTo>
                  <a:pt x="788704" y="750"/>
                </a:lnTo>
                <a:lnTo>
                  <a:pt x="715984" y="2962"/>
                </a:lnTo>
                <a:lnTo>
                  <a:pt x="645282" y="6573"/>
                </a:lnTo>
                <a:lnTo>
                  <a:pt x="576858" y="11521"/>
                </a:lnTo>
                <a:lnTo>
                  <a:pt x="510971" y="17746"/>
                </a:lnTo>
                <a:lnTo>
                  <a:pt x="447880" y="25187"/>
                </a:lnTo>
                <a:lnTo>
                  <a:pt x="387843" y="33781"/>
                </a:lnTo>
                <a:lnTo>
                  <a:pt x="331121" y="43467"/>
                </a:lnTo>
                <a:lnTo>
                  <a:pt x="277972" y="54184"/>
                </a:lnTo>
                <a:lnTo>
                  <a:pt x="228655" y="65871"/>
                </a:lnTo>
                <a:lnTo>
                  <a:pt x="183429" y="78465"/>
                </a:lnTo>
                <a:lnTo>
                  <a:pt x="142554" y="91907"/>
                </a:lnTo>
                <a:lnTo>
                  <a:pt x="106288" y="106134"/>
                </a:lnTo>
                <a:lnTo>
                  <a:pt x="48620" y="136698"/>
                </a:lnTo>
                <a:lnTo>
                  <a:pt x="12500" y="169666"/>
                </a:lnTo>
                <a:lnTo>
                  <a:pt x="0" y="204548"/>
                </a:lnTo>
                <a:lnTo>
                  <a:pt x="3168" y="222198"/>
                </a:lnTo>
                <a:lnTo>
                  <a:pt x="27737" y="256185"/>
                </a:lnTo>
                <a:lnTo>
                  <a:pt x="74890" y="288012"/>
                </a:lnTo>
                <a:lnTo>
                  <a:pt x="142554" y="317190"/>
                </a:lnTo>
                <a:lnTo>
                  <a:pt x="183429" y="330631"/>
                </a:lnTo>
                <a:lnTo>
                  <a:pt x="228655" y="343226"/>
                </a:lnTo>
                <a:lnTo>
                  <a:pt x="277972" y="354913"/>
                </a:lnTo>
                <a:lnTo>
                  <a:pt x="331121" y="365630"/>
                </a:lnTo>
                <a:lnTo>
                  <a:pt x="387843" y="375316"/>
                </a:lnTo>
                <a:lnTo>
                  <a:pt x="447880" y="383910"/>
                </a:lnTo>
                <a:lnTo>
                  <a:pt x="510971" y="391350"/>
                </a:lnTo>
                <a:lnTo>
                  <a:pt x="576858" y="397576"/>
                </a:lnTo>
                <a:lnTo>
                  <a:pt x="645282" y="402524"/>
                </a:lnTo>
                <a:lnTo>
                  <a:pt x="715984" y="406135"/>
                </a:lnTo>
                <a:lnTo>
                  <a:pt x="788704" y="408347"/>
                </a:lnTo>
                <a:lnTo>
                  <a:pt x="863183" y="409097"/>
                </a:lnTo>
                <a:lnTo>
                  <a:pt x="937663" y="408347"/>
                </a:lnTo>
                <a:lnTo>
                  <a:pt x="1010383" y="406135"/>
                </a:lnTo>
                <a:lnTo>
                  <a:pt x="1081085" y="402524"/>
                </a:lnTo>
                <a:lnTo>
                  <a:pt x="1149509" y="397576"/>
                </a:lnTo>
                <a:lnTo>
                  <a:pt x="1215396" y="391350"/>
                </a:lnTo>
                <a:lnTo>
                  <a:pt x="1278487" y="383910"/>
                </a:lnTo>
                <a:lnTo>
                  <a:pt x="1338524" y="375316"/>
                </a:lnTo>
                <a:lnTo>
                  <a:pt x="1395246" y="365630"/>
                </a:lnTo>
                <a:lnTo>
                  <a:pt x="1448395" y="354913"/>
                </a:lnTo>
                <a:lnTo>
                  <a:pt x="1497712" y="343226"/>
                </a:lnTo>
                <a:lnTo>
                  <a:pt x="1542938" y="330631"/>
                </a:lnTo>
                <a:lnTo>
                  <a:pt x="1583813" y="317190"/>
                </a:lnTo>
                <a:lnTo>
                  <a:pt x="1620079" y="302963"/>
                </a:lnTo>
                <a:lnTo>
                  <a:pt x="1677746" y="272399"/>
                </a:lnTo>
                <a:lnTo>
                  <a:pt x="1713867" y="239430"/>
                </a:lnTo>
                <a:lnTo>
                  <a:pt x="1726367" y="204548"/>
                </a:lnTo>
                <a:lnTo>
                  <a:pt x="1723199" y="186899"/>
                </a:lnTo>
                <a:lnTo>
                  <a:pt x="1698629" y="152912"/>
                </a:lnTo>
                <a:lnTo>
                  <a:pt x="1651477" y="121085"/>
                </a:lnTo>
                <a:lnTo>
                  <a:pt x="1583813" y="91907"/>
                </a:lnTo>
                <a:lnTo>
                  <a:pt x="1542938" y="78465"/>
                </a:lnTo>
                <a:lnTo>
                  <a:pt x="1497712" y="65871"/>
                </a:lnTo>
                <a:lnTo>
                  <a:pt x="1448395" y="54184"/>
                </a:lnTo>
                <a:lnTo>
                  <a:pt x="1395246" y="43467"/>
                </a:lnTo>
                <a:lnTo>
                  <a:pt x="1338524" y="33781"/>
                </a:lnTo>
                <a:lnTo>
                  <a:pt x="1278487" y="25187"/>
                </a:lnTo>
                <a:lnTo>
                  <a:pt x="1215396" y="17746"/>
                </a:lnTo>
                <a:lnTo>
                  <a:pt x="1149509" y="11521"/>
                </a:lnTo>
                <a:lnTo>
                  <a:pt x="1081085" y="6573"/>
                </a:lnTo>
                <a:lnTo>
                  <a:pt x="1010383" y="2962"/>
                </a:lnTo>
                <a:lnTo>
                  <a:pt x="937663" y="750"/>
                </a:lnTo>
                <a:lnTo>
                  <a:pt x="863183" y="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862323" y="1496056"/>
            <a:ext cx="114554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Fines</a:t>
            </a:r>
            <a:r>
              <a:rPr dirty="0" sz="10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10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Derecho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8485" y="688854"/>
            <a:ext cx="1416685" cy="354330"/>
            <a:chOff x="588485" y="688854"/>
            <a:chExt cx="1416685" cy="354330"/>
          </a:xfrm>
        </p:grpSpPr>
        <p:sp>
          <p:nvSpPr>
            <p:cNvPr id="8" name="object 8"/>
            <p:cNvSpPr/>
            <p:nvPr/>
          </p:nvSpPr>
          <p:spPr>
            <a:xfrm>
              <a:off x="591660" y="692029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2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91660" y="692029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3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29144" y="749811"/>
            <a:ext cx="113538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1050" spc="114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1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65289" y="688854"/>
            <a:ext cx="1416685" cy="354330"/>
            <a:chOff x="4865289" y="688854"/>
            <a:chExt cx="1416685" cy="354330"/>
          </a:xfrm>
        </p:grpSpPr>
        <p:sp>
          <p:nvSpPr>
            <p:cNvPr id="12" name="object 12"/>
            <p:cNvSpPr/>
            <p:nvPr/>
          </p:nvSpPr>
          <p:spPr>
            <a:xfrm>
              <a:off x="4868464" y="692029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2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68464" y="692029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3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002472" y="750576"/>
            <a:ext cx="114236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dirty="0" sz="1050" spc="204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88485" y="2153880"/>
            <a:ext cx="1416685" cy="407034"/>
            <a:chOff x="588485" y="2153880"/>
            <a:chExt cx="1416685" cy="407034"/>
          </a:xfrm>
        </p:grpSpPr>
        <p:sp>
          <p:nvSpPr>
            <p:cNvPr id="16" name="object 16"/>
            <p:cNvSpPr/>
            <p:nvPr/>
          </p:nvSpPr>
          <p:spPr>
            <a:xfrm>
              <a:off x="591660" y="2157055"/>
              <a:ext cx="1410335" cy="400685"/>
            </a:xfrm>
            <a:custGeom>
              <a:avLst/>
              <a:gdLst/>
              <a:ahLst/>
              <a:cxnLst/>
              <a:rect l="l" t="t" r="r" b="b"/>
              <a:pathLst>
                <a:path w="1410335" h="400685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43178"/>
                  </a:lnTo>
                  <a:lnTo>
                    <a:pt x="4519" y="365564"/>
                  </a:lnTo>
                  <a:lnTo>
                    <a:pt x="16844" y="383845"/>
                  </a:lnTo>
                  <a:lnTo>
                    <a:pt x="35126" y="396171"/>
                  </a:lnTo>
                  <a:lnTo>
                    <a:pt x="57512" y="400690"/>
                  </a:lnTo>
                  <a:lnTo>
                    <a:pt x="1352352" y="400690"/>
                  </a:lnTo>
                  <a:lnTo>
                    <a:pt x="1374739" y="396171"/>
                  </a:lnTo>
                  <a:lnTo>
                    <a:pt x="1393020" y="383845"/>
                  </a:lnTo>
                  <a:lnTo>
                    <a:pt x="1405346" y="365564"/>
                  </a:lnTo>
                  <a:lnTo>
                    <a:pt x="1409865" y="343178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1660" y="2157055"/>
              <a:ext cx="1410335" cy="400685"/>
            </a:xfrm>
            <a:custGeom>
              <a:avLst/>
              <a:gdLst/>
              <a:ahLst/>
              <a:cxnLst/>
              <a:rect l="l" t="t" r="r" b="b"/>
              <a:pathLst>
                <a:path w="1410335" h="400685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43178"/>
                  </a:lnTo>
                  <a:lnTo>
                    <a:pt x="4519" y="365564"/>
                  </a:lnTo>
                  <a:lnTo>
                    <a:pt x="16844" y="383845"/>
                  </a:lnTo>
                  <a:lnTo>
                    <a:pt x="35126" y="396171"/>
                  </a:lnTo>
                  <a:lnTo>
                    <a:pt x="57512" y="400690"/>
                  </a:lnTo>
                  <a:lnTo>
                    <a:pt x="1352353" y="400690"/>
                  </a:lnTo>
                  <a:lnTo>
                    <a:pt x="1374739" y="396171"/>
                  </a:lnTo>
                  <a:lnTo>
                    <a:pt x="1393020" y="383845"/>
                  </a:lnTo>
                  <a:lnTo>
                    <a:pt x="1405346" y="365564"/>
                  </a:lnTo>
                  <a:lnTo>
                    <a:pt x="1409865" y="343178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5029" y="2155031"/>
            <a:ext cx="943610" cy="36385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 indent="33655">
              <a:lnSpc>
                <a:spcPct val="107800"/>
              </a:lnSpc>
              <a:spcBef>
                <a:spcPts val="3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Bien</a:t>
            </a:r>
            <a:r>
              <a:rPr dirty="0" sz="1050" spc="1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comun</a:t>
            </a:r>
            <a:r>
              <a:rPr dirty="0" sz="1050" spc="1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utilidad</a:t>
            </a:r>
            <a:r>
              <a:rPr dirty="0" sz="10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publica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65289" y="2153880"/>
            <a:ext cx="1416685" cy="379730"/>
            <a:chOff x="4865289" y="2153880"/>
            <a:chExt cx="1416685" cy="379730"/>
          </a:xfrm>
        </p:grpSpPr>
        <p:sp>
          <p:nvSpPr>
            <p:cNvPr id="20" name="object 20"/>
            <p:cNvSpPr/>
            <p:nvPr/>
          </p:nvSpPr>
          <p:spPr>
            <a:xfrm>
              <a:off x="4868464" y="2157055"/>
              <a:ext cx="1410335" cy="373380"/>
            </a:xfrm>
            <a:custGeom>
              <a:avLst/>
              <a:gdLst/>
              <a:ahLst/>
              <a:cxnLst/>
              <a:rect l="l" t="t" r="r" b="b"/>
              <a:pathLst>
                <a:path w="1410335" h="3733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15709"/>
                  </a:lnTo>
                  <a:lnTo>
                    <a:pt x="4519" y="338096"/>
                  </a:lnTo>
                  <a:lnTo>
                    <a:pt x="16844" y="356377"/>
                  </a:lnTo>
                  <a:lnTo>
                    <a:pt x="35126" y="368702"/>
                  </a:lnTo>
                  <a:lnTo>
                    <a:pt x="57512" y="373222"/>
                  </a:lnTo>
                  <a:lnTo>
                    <a:pt x="1352352" y="373222"/>
                  </a:lnTo>
                  <a:lnTo>
                    <a:pt x="1374739" y="368702"/>
                  </a:lnTo>
                  <a:lnTo>
                    <a:pt x="1393020" y="356377"/>
                  </a:lnTo>
                  <a:lnTo>
                    <a:pt x="1405346" y="338096"/>
                  </a:lnTo>
                  <a:lnTo>
                    <a:pt x="1409865" y="315709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68464" y="2157055"/>
              <a:ext cx="1410335" cy="373380"/>
            </a:xfrm>
            <a:custGeom>
              <a:avLst/>
              <a:gdLst/>
              <a:ahLst/>
              <a:cxnLst/>
              <a:rect l="l" t="t" r="r" b="b"/>
              <a:pathLst>
                <a:path w="1410335" h="3733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15709"/>
                  </a:lnTo>
                  <a:lnTo>
                    <a:pt x="4519" y="338096"/>
                  </a:lnTo>
                  <a:lnTo>
                    <a:pt x="16844" y="356377"/>
                  </a:lnTo>
                  <a:lnTo>
                    <a:pt x="35126" y="368702"/>
                  </a:lnTo>
                  <a:lnTo>
                    <a:pt x="57512" y="373222"/>
                  </a:lnTo>
                  <a:lnTo>
                    <a:pt x="1352353" y="373222"/>
                  </a:lnTo>
                  <a:lnTo>
                    <a:pt x="1374739" y="368702"/>
                  </a:lnTo>
                  <a:lnTo>
                    <a:pt x="1393020" y="356377"/>
                  </a:lnTo>
                  <a:lnTo>
                    <a:pt x="1405346" y="338096"/>
                  </a:lnTo>
                  <a:lnTo>
                    <a:pt x="1409865" y="315709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046749" y="2155031"/>
            <a:ext cx="1053465" cy="36385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73660" marR="5080" indent="-61594">
              <a:lnSpc>
                <a:spcPct val="107800"/>
              </a:lnSpc>
              <a:spcBef>
                <a:spcPts val="3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Dignidad y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dere-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chos</a:t>
            </a:r>
            <a:r>
              <a:rPr dirty="0" sz="10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825269" y="1040471"/>
            <a:ext cx="3219450" cy="1115695"/>
            <a:chOff x="1825269" y="1040471"/>
            <a:chExt cx="3219450" cy="1115695"/>
          </a:xfrm>
        </p:grpSpPr>
        <p:sp>
          <p:nvSpPr>
            <p:cNvPr id="24" name="object 24"/>
            <p:cNvSpPr/>
            <p:nvPr/>
          </p:nvSpPr>
          <p:spPr>
            <a:xfrm>
              <a:off x="1863961" y="1060300"/>
              <a:ext cx="1075055" cy="368300"/>
            </a:xfrm>
            <a:custGeom>
              <a:avLst/>
              <a:gdLst/>
              <a:ahLst/>
              <a:cxnLst/>
              <a:rect l="l" t="t" r="r" b="b"/>
              <a:pathLst>
                <a:path w="1075055" h="368300">
                  <a:moveTo>
                    <a:pt x="1074717" y="368131"/>
                  </a:moveTo>
                  <a:lnTo>
                    <a:pt x="0" y="0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32862" y="1048065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36075" y="31584"/>
                  </a:moveTo>
                  <a:lnTo>
                    <a:pt x="27506" y="11004"/>
                  </a:lnTo>
                  <a:lnTo>
                    <a:pt x="46893" y="0"/>
                  </a:lnTo>
                  <a:lnTo>
                    <a:pt x="0" y="1582"/>
                  </a:lnTo>
                  <a:lnTo>
                    <a:pt x="36075" y="31584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32862" y="1048065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1582"/>
                  </a:moveTo>
                  <a:lnTo>
                    <a:pt x="36075" y="31584"/>
                  </a:lnTo>
                  <a:lnTo>
                    <a:pt x="27506" y="11004"/>
                  </a:lnTo>
                  <a:lnTo>
                    <a:pt x="46893" y="0"/>
                  </a:lnTo>
                  <a:lnTo>
                    <a:pt x="0" y="158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31311" y="1060300"/>
              <a:ext cx="1075055" cy="368300"/>
            </a:xfrm>
            <a:custGeom>
              <a:avLst/>
              <a:gdLst/>
              <a:ahLst/>
              <a:cxnLst/>
              <a:rect l="l" t="t" r="r" b="b"/>
              <a:pathLst>
                <a:path w="1075054" h="368300">
                  <a:moveTo>
                    <a:pt x="0" y="368131"/>
                  </a:moveTo>
                  <a:lnTo>
                    <a:pt x="1074717" y="0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90233" y="1048065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0"/>
                  </a:moveTo>
                  <a:lnTo>
                    <a:pt x="19387" y="11004"/>
                  </a:lnTo>
                  <a:lnTo>
                    <a:pt x="10818" y="31584"/>
                  </a:lnTo>
                  <a:lnTo>
                    <a:pt x="46893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90233" y="1048065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893" y="1582"/>
                  </a:moveTo>
                  <a:lnTo>
                    <a:pt x="0" y="0"/>
                  </a:lnTo>
                  <a:lnTo>
                    <a:pt x="19387" y="11004"/>
                  </a:lnTo>
                  <a:lnTo>
                    <a:pt x="10818" y="31584"/>
                  </a:lnTo>
                  <a:lnTo>
                    <a:pt x="46893" y="158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920279" y="1770335"/>
              <a:ext cx="1030605" cy="365760"/>
            </a:xfrm>
            <a:custGeom>
              <a:avLst/>
              <a:gdLst/>
              <a:ahLst/>
              <a:cxnLst/>
              <a:rect l="l" t="t" r="r" b="b"/>
              <a:pathLst>
                <a:path w="1030605" h="365760">
                  <a:moveTo>
                    <a:pt x="1030226" y="0"/>
                  </a:moveTo>
                  <a:lnTo>
                    <a:pt x="0" y="365618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89301" y="2116551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906" y="31462"/>
                  </a:moveTo>
                  <a:lnTo>
                    <a:pt x="27400" y="20672"/>
                  </a:lnTo>
                  <a:lnTo>
                    <a:pt x="35741" y="0"/>
                  </a:lnTo>
                  <a:lnTo>
                    <a:pt x="0" y="30396"/>
                  </a:lnTo>
                  <a:lnTo>
                    <a:pt x="46906" y="31462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89301" y="2116551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30396"/>
                  </a:moveTo>
                  <a:lnTo>
                    <a:pt x="46906" y="31462"/>
                  </a:lnTo>
                  <a:lnTo>
                    <a:pt x="27400" y="20672"/>
                  </a:lnTo>
                  <a:lnTo>
                    <a:pt x="35741" y="0"/>
                  </a:lnTo>
                  <a:lnTo>
                    <a:pt x="0" y="30396"/>
                  </a:lnTo>
                  <a:close/>
                </a:path>
              </a:pathLst>
            </a:custGeom>
            <a:ln w="1518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925536" y="1769338"/>
              <a:ext cx="1053465" cy="367030"/>
            </a:xfrm>
            <a:custGeom>
              <a:avLst/>
              <a:gdLst/>
              <a:ahLst/>
              <a:cxnLst/>
              <a:rect l="l" t="t" r="r" b="b"/>
              <a:pathLst>
                <a:path w="1053464" h="367030">
                  <a:moveTo>
                    <a:pt x="0" y="0"/>
                  </a:moveTo>
                  <a:lnTo>
                    <a:pt x="1052859" y="366907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962536" y="2116870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10986" y="0"/>
                  </a:moveTo>
                  <a:lnTo>
                    <a:pt x="19444" y="20624"/>
                  </a:lnTo>
                  <a:lnTo>
                    <a:pt x="0" y="31525"/>
                  </a:lnTo>
                  <a:lnTo>
                    <a:pt x="46900" y="30192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62536" y="2116870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900" y="30192"/>
                  </a:moveTo>
                  <a:lnTo>
                    <a:pt x="10986" y="0"/>
                  </a:lnTo>
                  <a:lnTo>
                    <a:pt x="19444" y="20624"/>
                  </a:lnTo>
                  <a:lnTo>
                    <a:pt x="0" y="31525"/>
                  </a:lnTo>
                  <a:lnTo>
                    <a:pt x="46900" y="3019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05" y="2962998"/>
            <a:ext cx="6617681" cy="5060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85305" y="2709026"/>
            <a:ext cx="5972175" cy="83629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Aplicacion</a:t>
            </a:r>
            <a:r>
              <a:rPr dirty="0" sz="1150" spc="-4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al</a:t>
            </a:r>
            <a:r>
              <a:rPr dirty="0" sz="1150" spc="-4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B88A2A"/>
                </a:solidFill>
                <a:latin typeface="Arial"/>
                <a:cs typeface="Arial"/>
              </a:rPr>
              <a:t>caso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8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muestra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fines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abstractos: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miden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capacidad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proteger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personas,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controlar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autoridades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reparar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danos.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dirty="0" sz="550" spc="10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dirty="0" sz="550" spc="10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2018).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39" name="object 39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6607"/>
            <a:ext cx="2988945" cy="4044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/>
              <a:t>Normas</a:t>
            </a:r>
            <a:r>
              <a:rPr dirty="0" sz="2450" spc="185"/>
              <a:t> </a:t>
            </a:r>
            <a:r>
              <a:rPr dirty="0" sz="2450"/>
              <a:t>y</a:t>
            </a:r>
            <a:r>
              <a:rPr dirty="0" sz="2450" spc="200"/>
              <a:t> </a:t>
            </a:r>
            <a:r>
              <a:rPr dirty="0" sz="2450" spc="-10"/>
              <a:t>derechos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Marco</a:t>
            </a:r>
            <a:r>
              <a:rPr dirty="0" spc="-50"/>
              <a:t> </a:t>
            </a:r>
            <a:r>
              <a:rPr dirty="0"/>
              <a:t>juridico</a:t>
            </a:r>
            <a:r>
              <a:rPr dirty="0" spc="-50"/>
              <a:t> </a:t>
            </a:r>
            <a:r>
              <a:rPr dirty="0" spc="-10"/>
              <a:t>relacionado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8005" y="1057160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5305" y="1074811"/>
            <a:ext cx="4241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Fuente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5776" y="1074811"/>
            <a:ext cx="118935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Contenido</a:t>
            </a:r>
            <a:r>
              <a:rPr dirty="0" sz="950" spc="4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relevante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4400" y="1074811"/>
            <a:ext cx="111950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Funcion</a:t>
            </a:r>
            <a:r>
              <a:rPr dirty="0" sz="950" spc="1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950" spc="2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950" spc="2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005" y="1282598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305" y="1298178"/>
            <a:ext cx="12439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Constitucion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mexicana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5776" y="1298178"/>
            <a:ext cx="150241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Articulos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1,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14,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16,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17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20.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4400" y="1298178"/>
            <a:ext cx="2362200" cy="13862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24130" indent="-635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Derechos humanos, seguridad juridica,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de-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bido proceso,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acceso a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derechos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950">
              <a:latin typeface="Arial"/>
              <a:cs typeface="Arial"/>
            </a:endParaRPr>
          </a:p>
          <a:p>
            <a:pPr marL="12700" marR="43815">
              <a:lnSpc>
                <a:spcPct val="104900"/>
              </a:lnSpc>
            </a:pP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Traduce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 el dano en obligaciones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concretas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Convierte la desaparicion en deber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reforza-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do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Estado.</a:t>
            </a:r>
            <a:endParaRPr sz="950">
              <a:latin typeface="Arial"/>
              <a:cs typeface="Arial"/>
            </a:endParaRPr>
          </a:p>
          <a:p>
            <a:pPr marL="12700" marR="12763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Evitan que el caso sea tratado como </a:t>
            </a:r>
            <a:r>
              <a:rPr dirty="0" sz="950" spc="-20">
                <a:solidFill>
                  <a:srgbClr val="1F2A24"/>
                </a:solidFill>
                <a:latin typeface="Arial"/>
                <a:cs typeface="Arial"/>
              </a:rPr>
              <a:t>pro-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blema local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aislado.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753664"/>
            <a:ext cx="134493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5776" y="1753664"/>
            <a:ext cx="2319020" cy="9309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-635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Ayuda,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asistencia,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dirty="0" sz="950" spc="-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inte-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gral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950">
              <a:latin typeface="Arial"/>
              <a:cs typeface="Arial"/>
            </a:endParaRPr>
          </a:p>
          <a:p>
            <a:pPr marL="12700" marR="13589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Busqueda,</a:t>
            </a:r>
            <a:r>
              <a:rPr dirty="0" sz="9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investigacion,</a:t>
            </a:r>
            <a:r>
              <a:rPr dirty="0" sz="9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coordinacion</a:t>
            </a:r>
            <a:r>
              <a:rPr dirty="0" sz="9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respuesta</a:t>
            </a:r>
            <a:r>
              <a:rPr dirty="0" sz="9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950">
              <a:latin typeface="Arial"/>
              <a:cs typeface="Arial"/>
            </a:endParaRPr>
          </a:p>
          <a:p>
            <a:pPr marL="12700" marR="123189" indent="-63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Universalidad,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debida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diligencia,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verdad,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305" y="2057321"/>
            <a:ext cx="1524635" cy="47498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dirty="0" sz="9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dirty="0" sz="9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9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Materia</a:t>
            </a:r>
            <a:r>
              <a:rPr dirty="0" sz="950" spc="1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de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Estandares</a:t>
            </a:r>
            <a:r>
              <a:rPr dirty="0" sz="950" spc="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internacionales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8005" y="2722664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85305" y="2708852"/>
            <a:ext cx="3439795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2026a,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2026b;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Suprema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Corte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Justicia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la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Nacion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[SCJN],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9" name="object 19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13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Seguridad</a:t>
            </a:r>
            <a:r>
              <a:rPr dirty="0" spc="-60"/>
              <a:t> </a:t>
            </a:r>
            <a:r>
              <a:rPr dirty="0"/>
              <a:t>juridica</a:t>
            </a:r>
            <a:r>
              <a:rPr dirty="0" spc="-55"/>
              <a:t> </a:t>
            </a:r>
            <a:r>
              <a:rPr dirty="0" spc="-10"/>
              <a:t>transgredida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96" y="1023365"/>
            <a:ext cx="3229610" cy="947419"/>
            <a:chOff x="168096" y="1023365"/>
            <a:chExt cx="3229610" cy="947419"/>
          </a:xfrm>
        </p:grpSpPr>
        <p:sp>
          <p:nvSpPr>
            <p:cNvPr id="6" name="object 6"/>
            <p:cNvSpPr/>
            <p:nvPr/>
          </p:nvSpPr>
          <p:spPr>
            <a:xfrm>
              <a:off x="168096" y="1023365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10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1212875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257150"/>
              <a:ext cx="3229610" cy="713740"/>
            </a:xfrm>
            <a:custGeom>
              <a:avLst/>
              <a:gdLst/>
              <a:ahLst/>
              <a:cxnLst/>
              <a:rect l="l" t="t" r="r" b="b"/>
              <a:pathLst>
                <a:path w="3229610" h="713739">
                  <a:moveTo>
                    <a:pt x="3229292" y="0"/>
                  </a:moveTo>
                  <a:lnTo>
                    <a:pt x="0" y="0"/>
                  </a:lnTo>
                  <a:lnTo>
                    <a:pt x="0" y="662581"/>
                  </a:lnTo>
                  <a:lnTo>
                    <a:pt x="4008" y="682306"/>
                  </a:lnTo>
                  <a:lnTo>
                    <a:pt x="14922" y="698459"/>
                  </a:lnTo>
                  <a:lnTo>
                    <a:pt x="31075" y="709373"/>
                  </a:lnTo>
                  <a:lnTo>
                    <a:pt x="50800" y="713382"/>
                  </a:lnTo>
                  <a:lnTo>
                    <a:pt x="3178491" y="713382"/>
                  </a:lnTo>
                  <a:lnTo>
                    <a:pt x="3198216" y="709373"/>
                  </a:lnTo>
                  <a:lnTo>
                    <a:pt x="3214369" y="698459"/>
                  </a:lnTo>
                  <a:lnTo>
                    <a:pt x="3225283" y="682306"/>
                  </a:lnTo>
                  <a:lnTo>
                    <a:pt x="3229292" y="66258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097061"/>
            <a:ext cx="3229610" cy="934085"/>
            <a:chOff x="168096" y="2097061"/>
            <a:chExt cx="3229610" cy="934085"/>
          </a:xfrm>
        </p:grpSpPr>
        <p:sp>
          <p:nvSpPr>
            <p:cNvPr id="10" name="object 10"/>
            <p:cNvSpPr/>
            <p:nvPr/>
          </p:nvSpPr>
          <p:spPr>
            <a:xfrm>
              <a:off x="168096" y="2097061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2273122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317396"/>
              <a:ext cx="3229610" cy="713740"/>
            </a:xfrm>
            <a:custGeom>
              <a:avLst/>
              <a:gdLst/>
              <a:ahLst/>
              <a:cxnLst/>
              <a:rect l="l" t="t" r="r" b="b"/>
              <a:pathLst>
                <a:path w="3229610" h="713739">
                  <a:moveTo>
                    <a:pt x="3229292" y="0"/>
                  </a:moveTo>
                  <a:lnTo>
                    <a:pt x="0" y="0"/>
                  </a:lnTo>
                  <a:lnTo>
                    <a:pt x="0" y="662581"/>
                  </a:lnTo>
                  <a:lnTo>
                    <a:pt x="4008" y="682306"/>
                  </a:lnTo>
                  <a:lnTo>
                    <a:pt x="14922" y="698459"/>
                  </a:lnTo>
                  <a:lnTo>
                    <a:pt x="31075" y="709373"/>
                  </a:lnTo>
                  <a:lnTo>
                    <a:pt x="50800" y="713382"/>
                  </a:lnTo>
                  <a:lnTo>
                    <a:pt x="3178491" y="713382"/>
                  </a:lnTo>
                  <a:lnTo>
                    <a:pt x="3198216" y="709373"/>
                  </a:lnTo>
                  <a:lnTo>
                    <a:pt x="3214369" y="698459"/>
                  </a:lnTo>
                  <a:lnTo>
                    <a:pt x="3225283" y="682306"/>
                  </a:lnTo>
                  <a:lnTo>
                    <a:pt x="3229292" y="66258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Que</a:t>
            </a:r>
            <a:r>
              <a:rPr dirty="0" spc="-20"/>
              <a:t> </a:t>
            </a:r>
            <a:r>
              <a:rPr dirty="0"/>
              <a:t>se</a:t>
            </a:r>
            <a:r>
              <a:rPr dirty="0" spc="-15"/>
              <a:t> </a:t>
            </a:r>
            <a:r>
              <a:rPr dirty="0" spc="-10"/>
              <a:t>transgrede</a:t>
            </a:r>
          </a:p>
          <a:p>
            <a:pPr marL="12700" marR="5080">
              <a:lnSpc>
                <a:spcPct val="107500"/>
              </a:lnSpc>
              <a:spcBef>
                <a:spcPts val="300"/>
              </a:spcBef>
            </a:pP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r>
              <a:rPr dirty="0" sz="1050" spc="-3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afecta</a:t>
            </a:r>
            <a:r>
              <a:rPr dirty="0" sz="1050" spc="-3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persona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confiar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autoridad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respetara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integridad,</a:t>
            </a:r>
            <a:r>
              <a:rPr dirty="0" sz="1050" spc="-4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legalidad,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busqueda, investigacion</a:t>
            </a:r>
            <a:r>
              <a:rPr dirty="0" sz="1050" spc="-2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acceso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Como</a:t>
            </a:r>
            <a:r>
              <a:rPr dirty="0" spc="-5"/>
              <a:t> </a:t>
            </a:r>
            <a:r>
              <a:rPr dirty="0"/>
              <a:t>se</a:t>
            </a:r>
            <a:r>
              <a:rPr dirty="0" spc="-5"/>
              <a:t> </a:t>
            </a:r>
            <a:r>
              <a:rPr dirty="0" spc="-10"/>
              <a:t>observa</a:t>
            </a:r>
          </a:p>
          <a:p>
            <a:pPr marL="12700" marR="100965">
              <a:lnSpc>
                <a:spcPct val="107500"/>
              </a:lnSpc>
              <a:spcBef>
                <a:spcPts val="190"/>
              </a:spcBef>
            </a:pP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esta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hecho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inicial,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sino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 b="0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respuesta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posterior: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incompleta,</a:t>
            </a:r>
            <a:r>
              <a:rPr dirty="0" sz="1050" spc="-4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busqueda insuficiente,</a:t>
            </a:r>
            <a:r>
              <a:rPr dirty="0" sz="1050" spc="-20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coordinacion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irregular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0" b="0">
                <a:solidFill>
                  <a:srgbClr val="1F2A24"/>
                </a:solidFill>
                <a:latin typeface="Arial"/>
                <a:cs typeface="Arial"/>
              </a:rPr>
              <a:t>dano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prolongado</a:t>
            </a:r>
            <a:r>
              <a:rPr dirty="0" sz="1050" spc="-3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b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35" b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 b="0">
                <a:solidFill>
                  <a:srgbClr val="1F2A24"/>
                </a:solidFill>
                <a:latin typeface="Arial"/>
                <a:cs typeface="Arial"/>
              </a:rPr>
              <a:t>familias.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4648" y="1210614"/>
            <a:ext cx="3229292" cy="5060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514648" y="2063673"/>
            <a:ext cx="3229610" cy="588010"/>
            <a:chOff x="3514648" y="2063673"/>
            <a:chExt cx="3229610" cy="588010"/>
          </a:xfrm>
        </p:grpSpPr>
        <p:sp>
          <p:nvSpPr>
            <p:cNvPr id="16" name="object 16"/>
            <p:cNvSpPr/>
            <p:nvPr/>
          </p:nvSpPr>
          <p:spPr>
            <a:xfrm>
              <a:off x="3514648" y="2063673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648" y="2239746"/>
              <a:ext cx="3229292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4648" y="2284014"/>
              <a:ext cx="3229610" cy="367665"/>
            </a:xfrm>
            <a:custGeom>
              <a:avLst/>
              <a:gdLst/>
              <a:ahLst/>
              <a:cxnLst/>
              <a:rect l="l" t="t" r="r" b="b"/>
              <a:pathLst>
                <a:path w="3229609" h="367664">
                  <a:moveTo>
                    <a:pt x="3229292" y="0"/>
                  </a:moveTo>
                  <a:lnTo>
                    <a:pt x="0" y="0"/>
                  </a:lnTo>
                  <a:lnTo>
                    <a:pt x="0" y="316831"/>
                  </a:lnTo>
                  <a:lnTo>
                    <a:pt x="4008" y="336555"/>
                  </a:lnTo>
                  <a:lnTo>
                    <a:pt x="14922" y="352708"/>
                  </a:lnTo>
                  <a:lnTo>
                    <a:pt x="31075" y="363623"/>
                  </a:lnTo>
                  <a:lnTo>
                    <a:pt x="50800" y="367631"/>
                  </a:lnTo>
                  <a:lnTo>
                    <a:pt x="3178491" y="367631"/>
                  </a:lnTo>
                  <a:lnTo>
                    <a:pt x="3198216" y="363623"/>
                  </a:lnTo>
                  <a:lnTo>
                    <a:pt x="3214369" y="352708"/>
                  </a:lnTo>
                  <a:lnTo>
                    <a:pt x="3225283" y="336555"/>
                  </a:lnTo>
                  <a:lnTo>
                    <a:pt x="3229292" y="31683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52748" y="959982"/>
            <a:ext cx="3108325" cy="165862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Por</a:t>
            </a:r>
            <a:r>
              <a:rPr dirty="0" sz="1150" spc="-7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quien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54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transgresion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atribuye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aparato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estatal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sus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deberes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prevenir,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proteger,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buscar,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investigar,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coordinar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reparar.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agota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persona: revela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Consecuencia</a:t>
            </a:r>
            <a:endParaRPr sz="1150">
              <a:latin typeface="Arial"/>
              <a:cs typeface="Arial"/>
            </a:endParaRPr>
          </a:p>
          <a:p>
            <a:pPr marL="12700" marR="535940">
              <a:lnSpc>
                <a:spcPct val="107500"/>
              </a:lnSpc>
              <a:spcBef>
                <a:spcPts val="19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sigue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existiendo,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su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eficacia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protectora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queda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duda.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5" y="3027559"/>
            <a:ext cx="187071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2" name="object 22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13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</a:p>
          <a:p>
            <a:pPr marL="125730">
              <a:lnSpc>
                <a:spcPct val="100000"/>
              </a:lnSpc>
            </a:pPr>
            <a:r>
              <a:rPr dirty="0"/>
              <a:t>Derechos</a:t>
            </a:r>
            <a:r>
              <a:rPr dirty="0" spc="-15"/>
              <a:t> </a:t>
            </a:r>
            <a:r>
              <a:rPr dirty="0"/>
              <a:t>humanos</a:t>
            </a:r>
            <a:r>
              <a:rPr dirty="0" spc="-10"/>
              <a:t> violentados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8005" y="111789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5305" y="1135542"/>
            <a:ext cx="51054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6109" y="1135542"/>
            <a:ext cx="126682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Afectacion</a:t>
            </a:r>
            <a:r>
              <a:rPr dirty="0" sz="950" spc="1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950" spc="1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950" spc="15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005" y="1343329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09627" y="1057933"/>
            <a:ext cx="2315210" cy="153543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Lectura</a:t>
            </a:r>
            <a:r>
              <a:rPr dirty="0" sz="950" spc="3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F2A24"/>
                </a:solidFill>
                <a:latin typeface="Arial"/>
                <a:cs typeface="Arial"/>
              </a:rPr>
              <a:t>desde</a:t>
            </a:r>
            <a:r>
              <a:rPr dirty="0" sz="950" spc="30" b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F2A24"/>
                </a:solidFill>
                <a:latin typeface="Arial"/>
                <a:cs typeface="Arial"/>
              </a:rPr>
              <a:t>universalidad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  <a:spcBef>
                <a:spcPts val="56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Ninguna autoridad puede tratar a la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perso-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na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objeto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disponible.</a:t>
            </a:r>
            <a:endParaRPr sz="950">
              <a:latin typeface="Arial"/>
              <a:cs typeface="Arial"/>
            </a:endParaRPr>
          </a:p>
          <a:p>
            <a:pPr marL="12700" marR="14541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La proteccion no depende de origen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so-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cial,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edad,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oficio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lugar.</a:t>
            </a:r>
            <a:endParaRPr sz="950">
              <a:latin typeface="Arial"/>
              <a:cs typeface="Arial"/>
            </a:endParaRPr>
          </a:p>
          <a:p>
            <a:pPr marL="12700" marR="9652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Las victimas tienen derecho a saber, </a:t>
            </a:r>
            <a:r>
              <a:rPr dirty="0" sz="950" spc="-20">
                <a:solidFill>
                  <a:srgbClr val="1F2A24"/>
                </a:solidFill>
                <a:latin typeface="Arial"/>
                <a:cs typeface="Arial"/>
              </a:rPr>
              <a:t>exi-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gir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ser</a:t>
            </a:r>
            <a:r>
              <a:rPr dirty="0" sz="950" spc="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escuchadas.</a:t>
            </a:r>
            <a:endParaRPr sz="950">
              <a:latin typeface="Arial"/>
              <a:cs typeface="Arial"/>
            </a:endParaRPr>
          </a:p>
          <a:p>
            <a:pPr marL="12700" marR="114300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La dignidad opera como fundamento </a:t>
            </a:r>
            <a:r>
              <a:rPr dirty="0" sz="950" spc="-25">
                <a:solidFill>
                  <a:srgbClr val="1F2A24"/>
                </a:solidFill>
                <a:latin typeface="Arial"/>
                <a:cs typeface="Arial"/>
              </a:rPr>
              <a:t>co-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mun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todos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derechos.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305" y="1358910"/>
            <a:ext cx="96901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Libertad</a:t>
            </a:r>
            <a:r>
              <a:rPr dirty="0" sz="950" spc="6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personal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109" y="1358910"/>
            <a:ext cx="2273935" cy="123444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24765" indent="-635">
              <a:lnSpc>
                <a:spcPct val="104900"/>
              </a:lnSpc>
              <a:spcBef>
                <a:spcPts val="50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privacion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sobre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propia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persona.</a:t>
            </a:r>
            <a:endParaRPr sz="950">
              <a:latin typeface="Arial"/>
              <a:cs typeface="Arial"/>
            </a:endParaRPr>
          </a:p>
          <a:p>
            <a:pPr marL="12700" marR="5080" indent="-63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Riesgo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extremo,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fisico,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psicologico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social.</a:t>
            </a:r>
            <a:endParaRPr sz="950">
              <a:latin typeface="Arial"/>
              <a:cs typeface="Arial"/>
            </a:endParaRPr>
          </a:p>
          <a:p>
            <a:pPr marL="12700" marR="202565" indent="-63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Incertidumbre</a:t>
            </a:r>
            <a:r>
              <a:rPr dirty="0" sz="950" spc="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prolongada</a:t>
            </a:r>
            <a:r>
              <a:rPr dirty="0" sz="950" spc="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respuesta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institucional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insuficiente.</a:t>
            </a:r>
            <a:endParaRPr sz="950">
              <a:latin typeface="Arial"/>
              <a:cs typeface="Arial"/>
            </a:endParaRPr>
          </a:p>
          <a:p>
            <a:pPr marL="12700" marR="166370" indent="-635">
              <a:lnSpc>
                <a:spcPct val="104900"/>
              </a:lnSpc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Familias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estudiantes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son</a:t>
            </a:r>
            <a:r>
              <a:rPr dirty="0" sz="950" spc="1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reducidos</a:t>
            </a:r>
            <a:r>
              <a:rPr dirty="0" sz="950" spc="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F2A24"/>
                </a:solidFill>
                <a:latin typeface="Arial"/>
                <a:cs typeface="Arial"/>
              </a:rPr>
              <a:t>a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administrado.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305" y="1662567"/>
            <a:ext cx="9175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Integridad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F2A24"/>
                </a:solidFill>
                <a:latin typeface="Arial"/>
                <a:cs typeface="Arial"/>
              </a:rPr>
              <a:t>vida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966224"/>
            <a:ext cx="9067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dirty="0" sz="9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9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305" y="2269893"/>
            <a:ext cx="97790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1F2A24"/>
                </a:solidFill>
                <a:latin typeface="Arial"/>
                <a:cs typeface="Arial"/>
              </a:rPr>
              <a:t>Dignidad </a:t>
            </a:r>
            <a:r>
              <a:rPr dirty="0" sz="950" spc="-10">
                <a:solidFill>
                  <a:srgbClr val="1F2A24"/>
                </a:solidFill>
                <a:latin typeface="Arial"/>
                <a:cs typeface="Arial"/>
              </a:rPr>
              <a:t>humana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8005" y="2631566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 h="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305" y="2617755"/>
            <a:ext cx="2101850" cy="113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2024;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SCJN,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8" name="object 18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13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Importancia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los</a:t>
            </a:r>
            <a:r>
              <a:rPr dirty="0" spc="-20"/>
              <a:t> </a:t>
            </a:r>
            <a:r>
              <a:rPr dirty="0"/>
              <a:t>derechos</a:t>
            </a:r>
            <a:r>
              <a:rPr dirty="0" spc="-25"/>
              <a:t> </a:t>
            </a:r>
            <a:r>
              <a:rPr dirty="0"/>
              <a:t>humanos</a:t>
            </a:r>
            <a:r>
              <a:rPr dirty="0" spc="-20"/>
              <a:t> </a:t>
            </a:r>
            <a:r>
              <a:rPr dirty="0"/>
              <a:t>en</a:t>
            </a:r>
            <a:r>
              <a:rPr dirty="0" spc="-25"/>
              <a:t> </a:t>
            </a:r>
            <a:r>
              <a:rPr dirty="0" spc="-10"/>
              <a:t>Mexico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2241" y="1045717"/>
            <a:ext cx="2122170" cy="1106170"/>
            <a:chOff x="162241" y="1045717"/>
            <a:chExt cx="2122170" cy="1106170"/>
          </a:xfrm>
        </p:grpSpPr>
        <p:sp>
          <p:nvSpPr>
            <p:cNvPr id="6" name="object 6"/>
            <p:cNvSpPr/>
            <p:nvPr/>
          </p:nvSpPr>
          <p:spPr>
            <a:xfrm>
              <a:off x="162241" y="1045717"/>
              <a:ext cx="2122170" cy="189230"/>
            </a:xfrm>
            <a:custGeom>
              <a:avLst/>
              <a:gdLst/>
              <a:ahLst/>
              <a:cxnLst/>
              <a:rect l="l" t="t" r="r" b="b"/>
              <a:pathLst>
                <a:path w="2122170" h="189230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21570" y="188716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241" y="1221777"/>
              <a:ext cx="212157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2241" y="1266047"/>
              <a:ext cx="2122170" cy="885825"/>
            </a:xfrm>
            <a:custGeom>
              <a:avLst/>
              <a:gdLst/>
              <a:ahLst/>
              <a:cxnLst/>
              <a:rect l="l" t="t" r="r" b="b"/>
              <a:pathLst>
                <a:path w="2122170" h="885825">
                  <a:moveTo>
                    <a:pt x="2121570" y="0"/>
                  </a:moveTo>
                  <a:lnTo>
                    <a:pt x="0" y="0"/>
                  </a:lnTo>
                  <a:lnTo>
                    <a:pt x="0" y="834659"/>
                  </a:lnTo>
                  <a:lnTo>
                    <a:pt x="4008" y="854383"/>
                  </a:lnTo>
                  <a:lnTo>
                    <a:pt x="14922" y="870536"/>
                  </a:lnTo>
                  <a:lnTo>
                    <a:pt x="31075" y="881450"/>
                  </a:lnTo>
                  <a:lnTo>
                    <a:pt x="50800" y="885459"/>
                  </a:lnTo>
                  <a:lnTo>
                    <a:pt x="2070769" y="885459"/>
                  </a:lnTo>
                  <a:lnTo>
                    <a:pt x="2090494" y="881450"/>
                  </a:lnTo>
                  <a:lnTo>
                    <a:pt x="2106647" y="870536"/>
                  </a:lnTo>
                  <a:lnTo>
                    <a:pt x="2117561" y="854383"/>
                  </a:lnTo>
                  <a:lnTo>
                    <a:pt x="2121570" y="834659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00342" y="991256"/>
            <a:ext cx="2020570" cy="4375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Limite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Funcionan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frontera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al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342" y="1403077"/>
            <a:ext cx="1860550" cy="71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poder: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ninguna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politica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publica, investigacion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razon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de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cancelar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5232" y="1045717"/>
            <a:ext cx="2122170" cy="929005"/>
            <a:chOff x="2395232" y="1045717"/>
            <a:chExt cx="2122170" cy="929005"/>
          </a:xfrm>
        </p:grpSpPr>
        <p:sp>
          <p:nvSpPr>
            <p:cNvPr id="12" name="object 12"/>
            <p:cNvSpPr/>
            <p:nvPr/>
          </p:nvSpPr>
          <p:spPr>
            <a:xfrm>
              <a:off x="2395232" y="1045717"/>
              <a:ext cx="2122170" cy="186055"/>
            </a:xfrm>
            <a:custGeom>
              <a:avLst/>
              <a:gdLst/>
              <a:ahLst/>
              <a:cxnLst/>
              <a:rect l="l" t="t" r="r" b="b"/>
              <a:pathLst>
                <a:path w="2122170" h="186055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2121570" y="185582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95232" y="1218641"/>
              <a:ext cx="212157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95232" y="1262912"/>
              <a:ext cx="2122170" cy="711835"/>
            </a:xfrm>
            <a:custGeom>
              <a:avLst/>
              <a:gdLst/>
              <a:ahLst/>
              <a:cxnLst/>
              <a:rect l="l" t="t" r="r" b="b"/>
              <a:pathLst>
                <a:path w="2122170" h="711835">
                  <a:moveTo>
                    <a:pt x="2121570" y="0"/>
                  </a:moveTo>
                  <a:lnTo>
                    <a:pt x="0" y="0"/>
                  </a:lnTo>
                  <a:lnTo>
                    <a:pt x="0" y="660985"/>
                  </a:lnTo>
                  <a:lnTo>
                    <a:pt x="4008" y="680709"/>
                  </a:lnTo>
                  <a:lnTo>
                    <a:pt x="14922" y="696862"/>
                  </a:lnTo>
                  <a:lnTo>
                    <a:pt x="31075" y="707777"/>
                  </a:lnTo>
                  <a:lnTo>
                    <a:pt x="50800" y="711785"/>
                  </a:lnTo>
                  <a:lnTo>
                    <a:pt x="2070769" y="711785"/>
                  </a:lnTo>
                  <a:lnTo>
                    <a:pt x="2090494" y="707777"/>
                  </a:lnTo>
                  <a:lnTo>
                    <a:pt x="2106647" y="696862"/>
                  </a:lnTo>
                  <a:lnTo>
                    <a:pt x="2117561" y="680709"/>
                  </a:lnTo>
                  <a:lnTo>
                    <a:pt x="2121570" y="660985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433332" y="988145"/>
            <a:ext cx="1882775" cy="4375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Metodo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Obligan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razonar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persona,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33332" y="1399966"/>
            <a:ext cx="1776730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dano,</a:t>
            </a:r>
            <a:r>
              <a:rPr dirty="0" sz="1050" spc="-5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institucional,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repeticion;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no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expediente.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28209" y="1045717"/>
            <a:ext cx="2122170" cy="902969"/>
            <a:chOff x="4628209" y="1045717"/>
            <a:chExt cx="2122170" cy="902969"/>
          </a:xfrm>
        </p:grpSpPr>
        <p:sp>
          <p:nvSpPr>
            <p:cNvPr id="18" name="object 18"/>
            <p:cNvSpPr/>
            <p:nvPr/>
          </p:nvSpPr>
          <p:spPr>
            <a:xfrm>
              <a:off x="4628209" y="1045717"/>
              <a:ext cx="2122170" cy="189230"/>
            </a:xfrm>
            <a:custGeom>
              <a:avLst/>
              <a:gdLst/>
              <a:ahLst/>
              <a:cxnLst/>
              <a:rect l="l" t="t" r="r" b="b"/>
              <a:pathLst>
                <a:path w="2122170" h="189230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21570" y="188716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8209" y="1221777"/>
              <a:ext cx="2121570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28209" y="1266049"/>
              <a:ext cx="2122170" cy="682625"/>
            </a:xfrm>
            <a:custGeom>
              <a:avLst/>
              <a:gdLst/>
              <a:ahLst/>
              <a:cxnLst/>
              <a:rect l="l" t="t" r="r" b="b"/>
              <a:pathLst>
                <a:path w="2122170" h="682625">
                  <a:moveTo>
                    <a:pt x="2121570" y="0"/>
                  </a:moveTo>
                  <a:lnTo>
                    <a:pt x="0" y="0"/>
                  </a:lnTo>
                  <a:lnTo>
                    <a:pt x="0" y="631457"/>
                  </a:lnTo>
                  <a:lnTo>
                    <a:pt x="4008" y="651181"/>
                  </a:lnTo>
                  <a:lnTo>
                    <a:pt x="14922" y="667334"/>
                  </a:lnTo>
                  <a:lnTo>
                    <a:pt x="31075" y="678249"/>
                  </a:lnTo>
                  <a:lnTo>
                    <a:pt x="50800" y="682257"/>
                  </a:lnTo>
                  <a:lnTo>
                    <a:pt x="2070769" y="682257"/>
                  </a:lnTo>
                  <a:lnTo>
                    <a:pt x="2090494" y="678249"/>
                  </a:lnTo>
                  <a:lnTo>
                    <a:pt x="2106647" y="667334"/>
                  </a:lnTo>
                  <a:lnTo>
                    <a:pt x="2117561" y="651181"/>
                  </a:lnTo>
                  <a:lnTo>
                    <a:pt x="2121570" y="631457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66310" y="994610"/>
            <a:ext cx="2011045" cy="43116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Confianza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Permiten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6310" y="1400016"/>
            <a:ext cx="1847214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real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una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promesa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declarativa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violencia.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205" y="2528138"/>
            <a:ext cx="6617681" cy="506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85305" y="2277493"/>
            <a:ext cx="6110605" cy="82994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Cierre</a:t>
            </a:r>
            <a:r>
              <a:rPr dirty="0" sz="1150" spc="-3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del</a:t>
            </a:r>
            <a:r>
              <a:rPr dirty="0" sz="1150" spc="-30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B88A2A"/>
                </a:solidFill>
                <a:latin typeface="Arial"/>
                <a:cs typeface="Arial"/>
              </a:rPr>
              <a:t>eje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54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Mexico,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importan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porque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hacen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exigible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responda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verdad,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(Ansuategui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Roig,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2007;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SCJN,</a:t>
            </a:r>
            <a:r>
              <a:rPr dirty="0" sz="550" spc="8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6" name="object 2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13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9998"/>
            <a:ext cx="2985770" cy="4044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/>
              <a:t>Propuestas</a:t>
            </a:r>
            <a:r>
              <a:rPr dirty="0" sz="2450" spc="195"/>
              <a:t> </a:t>
            </a:r>
            <a:r>
              <a:rPr dirty="0" sz="2450"/>
              <a:t>y</a:t>
            </a:r>
            <a:r>
              <a:rPr dirty="0" sz="2450" spc="190"/>
              <a:t> </a:t>
            </a:r>
            <a:r>
              <a:rPr dirty="0" sz="2450" spc="-10"/>
              <a:t>cierre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dirty="0" sz="11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Propuestas</a:t>
            </a:r>
            <a:r>
              <a:rPr dirty="0" spc="-40"/>
              <a:t> </a:t>
            </a:r>
            <a:r>
              <a:rPr dirty="0"/>
              <a:t>para</a:t>
            </a:r>
            <a:r>
              <a:rPr dirty="0" spc="-35"/>
              <a:t> </a:t>
            </a:r>
            <a:r>
              <a:rPr dirty="0"/>
              <a:t>prevenir</a:t>
            </a:r>
            <a:r>
              <a:rPr dirty="0" spc="-40"/>
              <a:t> </a:t>
            </a:r>
            <a:r>
              <a:rPr dirty="0"/>
              <a:t>casos</a:t>
            </a:r>
            <a:r>
              <a:rPr dirty="0" spc="-35"/>
              <a:t> </a:t>
            </a:r>
            <a:r>
              <a:rPr dirty="0" spc="-10"/>
              <a:t>similares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96" y="1158404"/>
            <a:ext cx="3229610" cy="768350"/>
            <a:chOff x="168096" y="1158404"/>
            <a:chExt cx="3229610" cy="768350"/>
          </a:xfrm>
        </p:grpSpPr>
        <p:sp>
          <p:nvSpPr>
            <p:cNvPr id="6" name="object 6"/>
            <p:cNvSpPr/>
            <p:nvPr/>
          </p:nvSpPr>
          <p:spPr>
            <a:xfrm>
              <a:off x="168096" y="1158404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10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1345666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89941"/>
              <a:ext cx="3229610" cy="537210"/>
            </a:xfrm>
            <a:custGeom>
              <a:avLst/>
              <a:gdLst/>
              <a:ahLst/>
              <a:cxnLst/>
              <a:rect l="l" t="t" r="r" b="b"/>
              <a:pathLst>
                <a:path w="3229610" h="537210">
                  <a:moveTo>
                    <a:pt x="3229292" y="0"/>
                  </a:moveTo>
                  <a:lnTo>
                    <a:pt x="0" y="0"/>
                  </a:lnTo>
                  <a:lnTo>
                    <a:pt x="0" y="485848"/>
                  </a:lnTo>
                  <a:lnTo>
                    <a:pt x="4008" y="505573"/>
                  </a:lnTo>
                  <a:lnTo>
                    <a:pt x="14922" y="521726"/>
                  </a:lnTo>
                  <a:lnTo>
                    <a:pt x="31075" y="532640"/>
                  </a:lnTo>
                  <a:lnTo>
                    <a:pt x="50800" y="536648"/>
                  </a:lnTo>
                  <a:lnTo>
                    <a:pt x="3178491" y="536648"/>
                  </a:lnTo>
                  <a:lnTo>
                    <a:pt x="3198216" y="532640"/>
                  </a:lnTo>
                  <a:lnTo>
                    <a:pt x="3214369" y="521726"/>
                  </a:lnTo>
                  <a:lnTo>
                    <a:pt x="3225283" y="505573"/>
                  </a:lnTo>
                  <a:lnTo>
                    <a:pt x="3229292" y="48584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053119"/>
            <a:ext cx="3229610" cy="775335"/>
            <a:chOff x="168096" y="2053119"/>
            <a:chExt cx="3229610" cy="775335"/>
          </a:xfrm>
        </p:grpSpPr>
        <p:sp>
          <p:nvSpPr>
            <p:cNvPr id="10" name="object 10"/>
            <p:cNvSpPr/>
            <p:nvPr/>
          </p:nvSpPr>
          <p:spPr>
            <a:xfrm>
              <a:off x="168096" y="2053119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10" h="202564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096" y="2242629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286908"/>
              <a:ext cx="3229610" cy="541655"/>
            </a:xfrm>
            <a:custGeom>
              <a:avLst/>
              <a:gdLst/>
              <a:ahLst/>
              <a:cxnLst/>
              <a:rect l="l" t="t" r="r" b="b"/>
              <a:pathLst>
                <a:path w="3229610" h="541655">
                  <a:moveTo>
                    <a:pt x="3229292" y="0"/>
                  </a:moveTo>
                  <a:lnTo>
                    <a:pt x="0" y="0"/>
                  </a:lnTo>
                  <a:lnTo>
                    <a:pt x="0" y="490504"/>
                  </a:lnTo>
                  <a:lnTo>
                    <a:pt x="4008" y="510229"/>
                  </a:lnTo>
                  <a:lnTo>
                    <a:pt x="14922" y="526382"/>
                  </a:lnTo>
                  <a:lnTo>
                    <a:pt x="31075" y="537296"/>
                  </a:lnTo>
                  <a:lnTo>
                    <a:pt x="50800" y="541305"/>
                  </a:lnTo>
                  <a:lnTo>
                    <a:pt x="3178491" y="541305"/>
                  </a:lnTo>
                  <a:lnTo>
                    <a:pt x="3198216" y="537296"/>
                  </a:lnTo>
                  <a:lnTo>
                    <a:pt x="3214369" y="526382"/>
                  </a:lnTo>
                  <a:lnTo>
                    <a:pt x="3225283" y="510229"/>
                  </a:lnTo>
                  <a:lnTo>
                    <a:pt x="3229292" y="490504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5305" y="1095048"/>
            <a:ext cx="3049905" cy="184340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94945" indent="-16192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94945" algn="l"/>
              </a:tabLst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Busqueda</a:t>
            </a:r>
            <a:r>
              <a:rPr dirty="0" sz="11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inmediata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coordinada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254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Registros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interoperables,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alertas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tempranas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responsables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claros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desde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primeras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horas.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Fin: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eficacia,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vida.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algn="just" marL="194945" indent="-16192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94945" algn="l"/>
              </a:tabLst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Investigacion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independiente</a:t>
            </a:r>
            <a:endParaRPr sz="1150">
              <a:latin typeface="Arial"/>
              <a:cs typeface="Arial"/>
            </a:endParaRPr>
          </a:p>
          <a:p>
            <a:pPr algn="just" marL="33020" marR="146685">
              <a:lnSpc>
                <a:spcPct val="107500"/>
              </a:lnSpc>
              <a:spcBef>
                <a:spcPts val="295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Cadena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custodia,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judicial,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sancion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por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ocultamiento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testigos.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justicia correctiva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juridica.</a:t>
            </a:r>
            <a:endParaRPr sz="10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7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2026b;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14648" y="1158404"/>
            <a:ext cx="3229610" cy="775335"/>
            <a:chOff x="3514648" y="1158404"/>
            <a:chExt cx="3229610" cy="775335"/>
          </a:xfrm>
        </p:grpSpPr>
        <p:sp>
          <p:nvSpPr>
            <p:cNvPr id="15" name="object 15"/>
            <p:cNvSpPr/>
            <p:nvPr/>
          </p:nvSpPr>
          <p:spPr>
            <a:xfrm>
              <a:off x="3514648" y="1158404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09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648" y="1347927"/>
              <a:ext cx="3229292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14648" y="1392206"/>
              <a:ext cx="3229610" cy="541655"/>
            </a:xfrm>
            <a:custGeom>
              <a:avLst/>
              <a:gdLst/>
              <a:ahLst/>
              <a:cxnLst/>
              <a:rect l="l" t="t" r="r" b="b"/>
              <a:pathLst>
                <a:path w="3229609" h="541655">
                  <a:moveTo>
                    <a:pt x="3229292" y="0"/>
                  </a:moveTo>
                  <a:lnTo>
                    <a:pt x="0" y="0"/>
                  </a:lnTo>
                  <a:lnTo>
                    <a:pt x="0" y="490504"/>
                  </a:lnTo>
                  <a:lnTo>
                    <a:pt x="4008" y="510229"/>
                  </a:lnTo>
                  <a:lnTo>
                    <a:pt x="14922" y="526382"/>
                  </a:lnTo>
                  <a:lnTo>
                    <a:pt x="31075" y="537296"/>
                  </a:lnTo>
                  <a:lnTo>
                    <a:pt x="50800" y="541305"/>
                  </a:lnTo>
                  <a:lnTo>
                    <a:pt x="3178491" y="541305"/>
                  </a:lnTo>
                  <a:lnTo>
                    <a:pt x="3198216" y="537296"/>
                  </a:lnTo>
                  <a:lnTo>
                    <a:pt x="3214369" y="526382"/>
                  </a:lnTo>
                  <a:lnTo>
                    <a:pt x="3225283" y="510229"/>
                  </a:lnTo>
                  <a:lnTo>
                    <a:pt x="3229292" y="490504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3514648" y="2060028"/>
            <a:ext cx="3229610" cy="760095"/>
            <a:chOff x="3514648" y="2060028"/>
            <a:chExt cx="3229610" cy="760095"/>
          </a:xfrm>
        </p:grpSpPr>
        <p:sp>
          <p:nvSpPr>
            <p:cNvPr id="19" name="object 19"/>
            <p:cNvSpPr/>
            <p:nvPr/>
          </p:nvSpPr>
          <p:spPr>
            <a:xfrm>
              <a:off x="3514648" y="2060028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4648" y="2236088"/>
              <a:ext cx="3229292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14648" y="2280365"/>
              <a:ext cx="3229610" cy="539750"/>
            </a:xfrm>
            <a:custGeom>
              <a:avLst/>
              <a:gdLst/>
              <a:ahLst/>
              <a:cxnLst/>
              <a:rect l="l" t="t" r="r" b="b"/>
              <a:pathLst>
                <a:path w="3229609" h="539750">
                  <a:moveTo>
                    <a:pt x="3229292" y="0"/>
                  </a:moveTo>
                  <a:lnTo>
                    <a:pt x="0" y="0"/>
                  </a:lnTo>
                  <a:lnTo>
                    <a:pt x="0" y="488908"/>
                  </a:lnTo>
                  <a:lnTo>
                    <a:pt x="4008" y="508632"/>
                  </a:lnTo>
                  <a:lnTo>
                    <a:pt x="14922" y="524785"/>
                  </a:lnTo>
                  <a:lnTo>
                    <a:pt x="31075" y="535699"/>
                  </a:lnTo>
                  <a:lnTo>
                    <a:pt x="50800" y="539708"/>
                  </a:lnTo>
                  <a:lnTo>
                    <a:pt x="3178491" y="539708"/>
                  </a:lnTo>
                  <a:lnTo>
                    <a:pt x="3198216" y="535699"/>
                  </a:lnTo>
                  <a:lnTo>
                    <a:pt x="3214369" y="524785"/>
                  </a:lnTo>
                  <a:lnTo>
                    <a:pt x="3225283" y="508632"/>
                  </a:lnTo>
                  <a:lnTo>
                    <a:pt x="3229292" y="48890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552748" y="1089217"/>
            <a:ext cx="3136265" cy="1697989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530"/>
              </a:spcBef>
              <a:buAutoNum type="arabicPeriod" startAt="3"/>
              <a:tabLst>
                <a:tab pos="174625" algn="l"/>
              </a:tabLst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Reparacion</a:t>
            </a:r>
            <a:r>
              <a:rPr dirty="0" sz="11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integral</a:t>
            </a:r>
            <a:endParaRPr sz="1150">
              <a:latin typeface="Arial"/>
              <a:cs typeface="Arial"/>
            </a:endParaRPr>
          </a:p>
          <a:p>
            <a:pPr marL="12700" marR="160020">
              <a:lnSpc>
                <a:spcPct val="107500"/>
              </a:lnSpc>
              <a:spcBef>
                <a:spcPts val="30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dirty="0" sz="1050" spc="-6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psicologica,</a:t>
            </a:r>
            <a:r>
              <a:rPr dirty="0" sz="1050" spc="-6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informacion</a:t>
            </a:r>
            <a:r>
              <a:rPr dirty="0" sz="1050" spc="-6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constante,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medidas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economicas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repeticion.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Arial"/>
              <a:cs typeface="Arial"/>
            </a:endParaRPr>
          </a:p>
          <a:p>
            <a:pPr marL="174625" indent="-16192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174625" algn="l"/>
              </a:tabLst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11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democratico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Capacitacion,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supervision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civil,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transparencia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protocolos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uso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fuerza.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bien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comun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limite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4" name="object 24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18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Postura</a:t>
            </a:r>
            <a:r>
              <a:rPr dirty="0" spc="-25"/>
              <a:t> </a:t>
            </a:r>
            <a:r>
              <a:rPr dirty="0" spc="-10"/>
              <a:t>personal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68096" y="1095603"/>
            <a:ext cx="3229610" cy="906144"/>
            <a:chOff x="168096" y="1095603"/>
            <a:chExt cx="3229610" cy="906144"/>
          </a:xfrm>
        </p:grpSpPr>
        <p:sp>
          <p:nvSpPr>
            <p:cNvPr id="6" name="object 6"/>
            <p:cNvSpPr/>
            <p:nvPr/>
          </p:nvSpPr>
          <p:spPr>
            <a:xfrm>
              <a:off x="168096" y="1095603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1271663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15936"/>
              <a:ext cx="3229610" cy="685800"/>
            </a:xfrm>
            <a:custGeom>
              <a:avLst/>
              <a:gdLst/>
              <a:ahLst/>
              <a:cxnLst/>
              <a:rect l="l" t="t" r="r" b="b"/>
              <a:pathLst>
                <a:path w="3229610" h="685800">
                  <a:moveTo>
                    <a:pt x="3229292" y="0"/>
                  </a:moveTo>
                  <a:lnTo>
                    <a:pt x="0" y="0"/>
                  </a:lnTo>
                  <a:lnTo>
                    <a:pt x="0" y="634516"/>
                  </a:lnTo>
                  <a:lnTo>
                    <a:pt x="4008" y="654241"/>
                  </a:lnTo>
                  <a:lnTo>
                    <a:pt x="14922" y="670394"/>
                  </a:lnTo>
                  <a:lnTo>
                    <a:pt x="31075" y="681308"/>
                  </a:lnTo>
                  <a:lnTo>
                    <a:pt x="50800" y="685317"/>
                  </a:lnTo>
                  <a:lnTo>
                    <a:pt x="3178491" y="685317"/>
                  </a:lnTo>
                  <a:lnTo>
                    <a:pt x="3198216" y="681308"/>
                  </a:lnTo>
                  <a:lnTo>
                    <a:pt x="3214369" y="670394"/>
                  </a:lnTo>
                  <a:lnTo>
                    <a:pt x="3225283" y="654241"/>
                  </a:lnTo>
                  <a:lnTo>
                    <a:pt x="3229292" y="634516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127782"/>
            <a:ext cx="3229610" cy="756920"/>
            <a:chOff x="168096" y="2127782"/>
            <a:chExt cx="3229610" cy="756920"/>
          </a:xfrm>
        </p:grpSpPr>
        <p:sp>
          <p:nvSpPr>
            <p:cNvPr id="10" name="object 10"/>
            <p:cNvSpPr/>
            <p:nvPr/>
          </p:nvSpPr>
          <p:spPr>
            <a:xfrm>
              <a:off x="168096" y="2127782"/>
              <a:ext cx="3229610" cy="186055"/>
            </a:xfrm>
            <a:custGeom>
              <a:avLst/>
              <a:gdLst/>
              <a:ahLst/>
              <a:cxnLst/>
              <a:rect l="l" t="t" r="r" b="b"/>
              <a:pathLst>
                <a:path w="3229610" h="18605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3229292" y="185582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6" y="2300706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344982"/>
              <a:ext cx="3229610" cy="539750"/>
            </a:xfrm>
            <a:custGeom>
              <a:avLst/>
              <a:gdLst/>
              <a:ahLst/>
              <a:cxnLst/>
              <a:rect l="l" t="t" r="r" b="b"/>
              <a:pathLst>
                <a:path w="3229610" h="539750">
                  <a:moveTo>
                    <a:pt x="3229292" y="0"/>
                  </a:moveTo>
                  <a:lnTo>
                    <a:pt x="0" y="0"/>
                  </a:lnTo>
                  <a:lnTo>
                    <a:pt x="0" y="488908"/>
                  </a:lnTo>
                  <a:lnTo>
                    <a:pt x="4008" y="508632"/>
                  </a:lnTo>
                  <a:lnTo>
                    <a:pt x="14922" y="524785"/>
                  </a:lnTo>
                  <a:lnTo>
                    <a:pt x="31075" y="535699"/>
                  </a:lnTo>
                  <a:lnTo>
                    <a:pt x="50800" y="539708"/>
                  </a:lnTo>
                  <a:lnTo>
                    <a:pt x="3178491" y="539708"/>
                  </a:lnTo>
                  <a:lnTo>
                    <a:pt x="3198216" y="535699"/>
                  </a:lnTo>
                  <a:lnTo>
                    <a:pt x="3214369" y="524785"/>
                  </a:lnTo>
                  <a:lnTo>
                    <a:pt x="3225283" y="508632"/>
                  </a:lnTo>
                  <a:lnTo>
                    <a:pt x="3229292" y="48890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5305" y="1041141"/>
            <a:ext cx="3174365" cy="199136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15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Posicion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demuestra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insuficiencia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una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lectura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puramente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formal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Derecho.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sistema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defiende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porque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tenga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normas escritas.</a:t>
            </a:r>
            <a:endParaRPr sz="10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1115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Razon</a:t>
            </a:r>
            <a:endParaRPr sz="1150">
              <a:latin typeface="Arial"/>
              <a:cs typeface="Arial"/>
            </a:endParaRPr>
          </a:p>
          <a:p>
            <a:pPr marL="33020" marR="137795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defiende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estructuras</a:t>
            </a:r>
            <a:r>
              <a:rPr dirty="0" sz="1050" spc="-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actuan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como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limite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arbitrariedad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garantia efectiva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(Ronquillo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Armas,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Singer,</a:t>
            </a:r>
            <a:r>
              <a:rPr dirty="0" sz="550" spc="7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1995;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Laun,</a:t>
            </a:r>
            <a:r>
              <a:rPr dirty="0" sz="550" spc="8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2021).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4648" y="1271663"/>
            <a:ext cx="3229292" cy="5060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514648" y="2154249"/>
            <a:ext cx="3229610" cy="768350"/>
            <a:chOff x="3514648" y="2154249"/>
            <a:chExt cx="3229610" cy="768350"/>
          </a:xfrm>
        </p:grpSpPr>
        <p:sp>
          <p:nvSpPr>
            <p:cNvPr id="16" name="object 16"/>
            <p:cNvSpPr/>
            <p:nvPr/>
          </p:nvSpPr>
          <p:spPr>
            <a:xfrm>
              <a:off x="3514648" y="2154249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09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648" y="2341498"/>
              <a:ext cx="3229292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4648" y="2385773"/>
              <a:ext cx="3229610" cy="537210"/>
            </a:xfrm>
            <a:custGeom>
              <a:avLst/>
              <a:gdLst/>
              <a:ahLst/>
              <a:cxnLst/>
              <a:rect l="l" t="t" r="r" b="b"/>
              <a:pathLst>
                <a:path w="3229609" h="537210">
                  <a:moveTo>
                    <a:pt x="3229292" y="0"/>
                  </a:moveTo>
                  <a:lnTo>
                    <a:pt x="0" y="0"/>
                  </a:lnTo>
                  <a:lnTo>
                    <a:pt x="0" y="485848"/>
                  </a:lnTo>
                  <a:lnTo>
                    <a:pt x="4008" y="505573"/>
                  </a:lnTo>
                  <a:lnTo>
                    <a:pt x="14922" y="521726"/>
                  </a:lnTo>
                  <a:lnTo>
                    <a:pt x="31075" y="532640"/>
                  </a:lnTo>
                  <a:lnTo>
                    <a:pt x="50800" y="536648"/>
                  </a:lnTo>
                  <a:lnTo>
                    <a:pt x="3178491" y="536648"/>
                  </a:lnTo>
                  <a:lnTo>
                    <a:pt x="3198216" y="532640"/>
                  </a:lnTo>
                  <a:lnTo>
                    <a:pt x="3214369" y="521726"/>
                  </a:lnTo>
                  <a:lnTo>
                    <a:pt x="3225283" y="505573"/>
                  </a:lnTo>
                  <a:lnTo>
                    <a:pt x="3229292" y="48584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52748" y="1041141"/>
            <a:ext cx="3153410" cy="184848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150" spc="-10" b="1">
                <a:solidFill>
                  <a:srgbClr val="B88A2A"/>
                </a:solidFill>
                <a:latin typeface="Arial"/>
                <a:cs typeface="Arial"/>
              </a:rPr>
              <a:t>Consecuencia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donde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proteger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con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mayor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firmeza,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deja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marginal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se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vuelve</a:t>
            </a:r>
            <a:r>
              <a:rPr dirty="0" sz="1050" spc="-5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estructural: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afecta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legitimidad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orden juridico.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Criterio</a:t>
            </a:r>
            <a:r>
              <a:rPr dirty="0" sz="11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profesional</a:t>
            </a:r>
            <a:endParaRPr sz="1150">
              <a:latin typeface="Arial"/>
              <a:cs typeface="Arial"/>
            </a:endParaRPr>
          </a:p>
          <a:p>
            <a:pPr marL="12700" marR="65405">
              <a:lnSpc>
                <a:spcPct val="107500"/>
              </a:lnSpc>
              <a:spcBef>
                <a:spcPts val="254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Argumentar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encadenar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hecho,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derecho afectado,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aplicable,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incumplido,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dirty="0" sz="1050" spc="-1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1" name="object 21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18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47205" y="939202"/>
            <a:ext cx="6617970" cy="598805"/>
            <a:chOff x="147205" y="939202"/>
            <a:chExt cx="6617970" cy="598805"/>
          </a:xfrm>
        </p:grpSpPr>
        <p:sp>
          <p:nvSpPr>
            <p:cNvPr id="6" name="object 6"/>
            <p:cNvSpPr/>
            <p:nvPr/>
          </p:nvSpPr>
          <p:spPr>
            <a:xfrm>
              <a:off x="147205" y="939202"/>
              <a:ext cx="6617970" cy="199390"/>
            </a:xfrm>
            <a:custGeom>
              <a:avLst/>
              <a:gdLst/>
              <a:ahLst/>
              <a:cxnLst/>
              <a:rect l="l" t="t" r="r" b="b"/>
              <a:pathLst>
                <a:path w="6617970" h="199390">
                  <a:moveTo>
                    <a:pt x="656688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033"/>
                  </a:lnTo>
                  <a:lnTo>
                    <a:pt x="6617681" y="199033"/>
                  </a:lnTo>
                  <a:lnTo>
                    <a:pt x="6617681" y="50800"/>
                  </a:lnTo>
                  <a:lnTo>
                    <a:pt x="6613673" y="31075"/>
                  </a:lnTo>
                  <a:lnTo>
                    <a:pt x="6602759" y="14922"/>
                  </a:lnTo>
                  <a:lnTo>
                    <a:pt x="6586606" y="4008"/>
                  </a:lnTo>
                  <a:lnTo>
                    <a:pt x="656688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1125575"/>
              <a:ext cx="6617681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7205" y="1169856"/>
              <a:ext cx="6617970" cy="367665"/>
            </a:xfrm>
            <a:custGeom>
              <a:avLst/>
              <a:gdLst/>
              <a:ahLst/>
              <a:cxnLst/>
              <a:rect l="l" t="t" r="r" b="b"/>
              <a:pathLst>
                <a:path w="6617970" h="367665">
                  <a:moveTo>
                    <a:pt x="6617681" y="0"/>
                  </a:moveTo>
                  <a:lnTo>
                    <a:pt x="0" y="0"/>
                  </a:lnTo>
                  <a:lnTo>
                    <a:pt x="0" y="316831"/>
                  </a:lnTo>
                  <a:lnTo>
                    <a:pt x="4008" y="336555"/>
                  </a:lnTo>
                  <a:lnTo>
                    <a:pt x="14922" y="352708"/>
                  </a:lnTo>
                  <a:lnTo>
                    <a:pt x="31075" y="363623"/>
                  </a:lnTo>
                  <a:lnTo>
                    <a:pt x="50800" y="367631"/>
                  </a:lnTo>
                  <a:lnTo>
                    <a:pt x="6566881" y="367631"/>
                  </a:lnTo>
                  <a:lnTo>
                    <a:pt x="6586606" y="363623"/>
                  </a:lnTo>
                  <a:lnTo>
                    <a:pt x="6602759" y="352708"/>
                  </a:lnTo>
                  <a:lnTo>
                    <a:pt x="6613673" y="336555"/>
                  </a:lnTo>
                  <a:lnTo>
                    <a:pt x="6617681" y="316831"/>
                  </a:lnTo>
                  <a:lnTo>
                    <a:pt x="661768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47205" y="1664017"/>
            <a:ext cx="6617970" cy="585470"/>
            <a:chOff x="147205" y="1664017"/>
            <a:chExt cx="6617970" cy="585470"/>
          </a:xfrm>
        </p:grpSpPr>
        <p:sp>
          <p:nvSpPr>
            <p:cNvPr id="10" name="object 10"/>
            <p:cNvSpPr/>
            <p:nvPr/>
          </p:nvSpPr>
          <p:spPr>
            <a:xfrm>
              <a:off x="147205" y="1664017"/>
              <a:ext cx="6617970" cy="189230"/>
            </a:xfrm>
            <a:custGeom>
              <a:avLst/>
              <a:gdLst/>
              <a:ahLst/>
              <a:cxnLst/>
              <a:rect l="l" t="t" r="r" b="b"/>
              <a:pathLst>
                <a:path w="6617970" h="189230">
                  <a:moveTo>
                    <a:pt x="656688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6617681" y="188716"/>
                  </a:lnTo>
                  <a:lnTo>
                    <a:pt x="6617681" y="50800"/>
                  </a:lnTo>
                  <a:lnTo>
                    <a:pt x="6613673" y="31075"/>
                  </a:lnTo>
                  <a:lnTo>
                    <a:pt x="6602759" y="14922"/>
                  </a:lnTo>
                  <a:lnTo>
                    <a:pt x="6586606" y="4008"/>
                  </a:lnTo>
                  <a:lnTo>
                    <a:pt x="656688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05" y="1840077"/>
              <a:ext cx="6617681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7205" y="1884357"/>
              <a:ext cx="6617970" cy="365125"/>
            </a:xfrm>
            <a:custGeom>
              <a:avLst/>
              <a:gdLst/>
              <a:ahLst/>
              <a:cxnLst/>
              <a:rect l="l" t="t" r="r" b="b"/>
              <a:pathLst>
                <a:path w="6617970" h="365125">
                  <a:moveTo>
                    <a:pt x="6617681" y="0"/>
                  </a:moveTo>
                  <a:lnTo>
                    <a:pt x="0" y="0"/>
                  </a:lnTo>
                  <a:lnTo>
                    <a:pt x="0" y="313771"/>
                  </a:lnTo>
                  <a:lnTo>
                    <a:pt x="4008" y="333496"/>
                  </a:lnTo>
                  <a:lnTo>
                    <a:pt x="14922" y="349649"/>
                  </a:lnTo>
                  <a:lnTo>
                    <a:pt x="31075" y="360563"/>
                  </a:lnTo>
                  <a:lnTo>
                    <a:pt x="50800" y="364571"/>
                  </a:lnTo>
                  <a:lnTo>
                    <a:pt x="6566881" y="364571"/>
                  </a:lnTo>
                  <a:lnTo>
                    <a:pt x="6586606" y="360563"/>
                  </a:lnTo>
                  <a:lnTo>
                    <a:pt x="6602759" y="349649"/>
                  </a:lnTo>
                  <a:lnTo>
                    <a:pt x="6613673" y="333496"/>
                  </a:lnTo>
                  <a:lnTo>
                    <a:pt x="6617681" y="313771"/>
                  </a:lnTo>
                  <a:lnTo>
                    <a:pt x="661768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205" y="2551518"/>
            <a:ext cx="6617681" cy="506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5305" y="866892"/>
            <a:ext cx="6541770" cy="22650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Hallazgo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30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permite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comprender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plano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abstracto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separado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realidad: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sirve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orden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conserva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sentido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enfrenta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sus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pruebas</a:t>
            </a:r>
            <a:r>
              <a:rPr dirty="0" sz="1050" spc="-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mas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duras.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Sintesis</a:t>
            </a:r>
            <a:endParaRPr sz="1150">
              <a:latin typeface="Arial"/>
              <a:cs typeface="Arial"/>
            </a:endParaRPr>
          </a:p>
          <a:p>
            <a:pPr marL="12700" marR="55880">
              <a:lnSpc>
                <a:spcPct val="107500"/>
              </a:lnSpc>
              <a:spcBef>
                <a:spcPts val="170"/>
              </a:spcBef>
            </a:pP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Derecho,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moral,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dignidad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pueden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analizarse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separado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involucra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personas,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impunidad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dirty="0" sz="1050" spc="-5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b="1">
                <a:solidFill>
                  <a:srgbClr val="B88A2A"/>
                </a:solidFill>
                <a:latin typeface="Arial"/>
                <a:cs typeface="Arial"/>
              </a:rPr>
              <a:t>Ultima</a:t>
            </a:r>
            <a:r>
              <a:rPr dirty="0" sz="1150" spc="-45" b="1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B88A2A"/>
                </a:solidFill>
                <a:latin typeface="Arial"/>
                <a:cs typeface="Arial"/>
              </a:rPr>
              <a:t>idea</a:t>
            </a:r>
            <a:endParaRPr sz="1150">
              <a:latin typeface="Arial"/>
              <a:cs typeface="Arial"/>
            </a:endParaRPr>
          </a:p>
          <a:p>
            <a:pPr marL="12700" marR="134620">
              <a:lnSpc>
                <a:spcPct val="107500"/>
              </a:lnSpc>
              <a:spcBef>
                <a:spcPts val="170"/>
              </a:spcBef>
            </a:pP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valor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analisis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esta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repetir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hubo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violacion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grave,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sino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mostrar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dirty="0" sz="1050" spc="-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esa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violacion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pone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todo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sistema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F2A24"/>
                </a:solidFill>
                <a:latin typeface="Arial"/>
                <a:cs typeface="Arial"/>
              </a:rPr>
              <a:t>obliga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tomar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posicion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1050" spc="-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1F2A24"/>
                </a:solidFill>
                <a:latin typeface="Arial"/>
                <a:cs typeface="Arial"/>
              </a:rPr>
              <a:t>el.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Camara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dirty="0" sz="550" spc="9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dirty="0" sz="550" spc="95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6" name="object 1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20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Referencias</a:t>
            </a:r>
            <a:r>
              <a:rPr dirty="0" spc="35"/>
              <a:t> </a:t>
            </a:r>
            <a:r>
              <a:rPr dirty="0" spc="-10"/>
              <a:t>bibliograficas</a:t>
            </a:r>
            <a:r>
              <a:rPr dirty="0" spc="35"/>
              <a:t> </a:t>
            </a:r>
            <a:r>
              <a:rPr dirty="0" spc="-10"/>
              <a:t>(1/4)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200025" marR="133985" indent="-187960">
              <a:lnSpc>
                <a:spcPct val="95600"/>
              </a:lnSpc>
              <a:spcBef>
                <a:spcPts val="15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Ansuategui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Roig,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-60">
                <a:latin typeface="Arial"/>
                <a:cs typeface="Arial"/>
              </a:rPr>
              <a:t>F.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(2007).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 i="1"/>
              <a:t>De</a:t>
            </a:r>
            <a:r>
              <a:rPr dirty="0" spc="35" i="1"/>
              <a:t> </a:t>
            </a:r>
            <a:r>
              <a:rPr dirty="0" i="1"/>
              <a:t>los</a:t>
            </a:r>
            <a:r>
              <a:rPr dirty="0" spc="30" i="1"/>
              <a:t> </a:t>
            </a:r>
            <a:r>
              <a:rPr dirty="0" i="1"/>
              <a:t>derechos</a:t>
            </a:r>
            <a:r>
              <a:rPr dirty="0" spc="35" i="1"/>
              <a:t> </a:t>
            </a:r>
            <a:r>
              <a:rPr dirty="0" i="1"/>
              <a:t>y</a:t>
            </a:r>
            <a:r>
              <a:rPr dirty="0" spc="30" i="1"/>
              <a:t> </a:t>
            </a:r>
            <a:r>
              <a:rPr dirty="0" i="1"/>
              <a:t>el</a:t>
            </a:r>
            <a:r>
              <a:rPr dirty="0" spc="35" i="1"/>
              <a:t> </a:t>
            </a:r>
            <a:r>
              <a:rPr dirty="0" i="1"/>
              <a:t>Estado</a:t>
            </a:r>
            <a:r>
              <a:rPr dirty="0" spc="30" i="1"/>
              <a:t> </a:t>
            </a:r>
            <a:r>
              <a:rPr dirty="0" i="1"/>
              <a:t>de</a:t>
            </a:r>
            <a:r>
              <a:rPr dirty="0" spc="35" i="1"/>
              <a:t> </a:t>
            </a:r>
            <a:r>
              <a:rPr dirty="0" i="1"/>
              <a:t>derecho:</a:t>
            </a:r>
            <a:r>
              <a:rPr dirty="0" spc="30" i="1"/>
              <a:t> </a:t>
            </a:r>
            <a:r>
              <a:rPr dirty="0" i="1"/>
              <a:t>aportaciones</a:t>
            </a:r>
            <a:r>
              <a:rPr dirty="0" spc="35" i="1"/>
              <a:t> </a:t>
            </a:r>
            <a:r>
              <a:rPr dirty="0" i="1"/>
              <a:t>a</a:t>
            </a:r>
            <a:r>
              <a:rPr dirty="0" spc="35" i="1"/>
              <a:t> </a:t>
            </a:r>
            <a:r>
              <a:rPr dirty="0" i="1"/>
              <a:t>una</a:t>
            </a:r>
            <a:r>
              <a:rPr dirty="0" spc="30" i="1"/>
              <a:t> </a:t>
            </a:r>
            <a:r>
              <a:rPr dirty="0" i="1"/>
              <a:t>teoria</a:t>
            </a:r>
            <a:r>
              <a:rPr dirty="0" spc="35" i="1"/>
              <a:t> </a:t>
            </a:r>
            <a:r>
              <a:rPr dirty="0" i="1"/>
              <a:t>juridica</a:t>
            </a:r>
            <a:r>
              <a:rPr dirty="0" spc="30" i="1"/>
              <a:t> </a:t>
            </a:r>
            <a:r>
              <a:rPr dirty="0" i="1"/>
              <a:t>de</a:t>
            </a:r>
            <a:r>
              <a:rPr dirty="0" spc="35" i="1"/>
              <a:t> </a:t>
            </a:r>
            <a:r>
              <a:rPr dirty="0" i="1"/>
              <a:t>los</a:t>
            </a:r>
            <a:r>
              <a:rPr dirty="0" spc="30" i="1"/>
              <a:t> </a:t>
            </a:r>
            <a:r>
              <a:rPr dirty="0" i="1"/>
              <a:t>derechos</a:t>
            </a:r>
            <a:r>
              <a:rPr dirty="0">
                <a:latin typeface="Arial"/>
                <a:cs typeface="Arial"/>
              </a:rPr>
              <a:t>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Universidad </a:t>
            </a:r>
            <a:r>
              <a:rPr dirty="0">
                <a:latin typeface="Arial"/>
                <a:cs typeface="Arial"/>
              </a:rPr>
              <a:t>Externado</a:t>
            </a:r>
            <a:r>
              <a:rPr dirty="0" spc="6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6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Colombia.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0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Camara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Diputados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del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Congreso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Union.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(2024).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i="1"/>
              <a:t>Ley</a:t>
            </a:r>
            <a:r>
              <a:rPr dirty="0" spc="30" i="1"/>
              <a:t> </a:t>
            </a:r>
            <a:r>
              <a:rPr dirty="0" i="1"/>
              <a:t>General</a:t>
            </a:r>
            <a:r>
              <a:rPr dirty="0" spc="35" i="1"/>
              <a:t> </a:t>
            </a:r>
            <a:r>
              <a:rPr dirty="0" i="1"/>
              <a:t>de</a:t>
            </a:r>
            <a:r>
              <a:rPr dirty="0" spc="30" i="1"/>
              <a:t> </a:t>
            </a:r>
            <a:r>
              <a:rPr dirty="0" i="1"/>
              <a:t>Victimas</a:t>
            </a:r>
            <a:r>
              <a:rPr dirty="0">
                <a:latin typeface="Arial"/>
                <a:cs typeface="Arial"/>
              </a:rPr>
              <a:t>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Diario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Oficial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Federacion.</a:t>
            </a:r>
            <a:endParaRPr sz="1200">
              <a:latin typeface="Arial"/>
              <a:cs typeface="Arial"/>
            </a:endParaRPr>
          </a:p>
          <a:p>
            <a:pPr marL="200025">
              <a:lnSpc>
                <a:spcPts val="819"/>
              </a:lnSpc>
            </a:pPr>
            <a:r>
              <a:rPr dirty="0" spc="-1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https://www.diputados.gob.mx/LeyesBiblio/pdf/LGV.pdf</a:t>
            </a:r>
          </a:p>
          <a:p>
            <a:pPr marL="200025" marR="5080" indent="-187960">
              <a:lnSpc>
                <a:spcPct val="95600"/>
              </a:lnSpc>
              <a:spcBef>
                <a:spcPts val="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Camara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Diputados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del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Congreso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Union.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(2026a).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i="1"/>
              <a:t>Constitucion</a:t>
            </a:r>
            <a:r>
              <a:rPr dirty="0" spc="30" i="1"/>
              <a:t> </a:t>
            </a:r>
            <a:r>
              <a:rPr dirty="0" i="1"/>
              <a:t>Politica</a:t>
            </a:r>
            <a:r>
              <a:rPr dirty="0" spc="30" i="1"/>
              <a:t> </a:t>
            </a:r>
            <a:r>
              <a:rPr dirty="0" i="1"/>
              <a:t>de</a:t>
            </a:r>
            <a:r>
              <a:rPr dirty="0" spc="30" i="1"/>
              <a:t> </a:t>
            </a:r>
            <a:r>
              <a:rPr dirty="0" i="1"/>
              <a:t>los</a:t>
            </a:r>
            <a:r>
              <a:rPr dirty="0" spc="30" i="1"/>
              <a:t> </a:t>
            </a:r>
            <a:r>
              <a:rPr dirty="0" i="1"/>
              <a:t>Estados</a:t>
            </a:r>
            <a:r>
              <a:rPr dirty="0" spc="35" i="1"/>
              <a:t> </a:t>
            </a:r>
            <a:r>
              <a:rPr dirty="0" i="1"/>
              <a:t>Unidos</a:t>
            </a:r>
            <a:r>
              <a:rPr dirty="0" spc="30" i="1"/>
              <a:t> </a:t>
            </a:r>
            <a:r>
              <a:rPr dirty="0" i="1"/>
              <a:t>Mexicanos</a:t>
            </a:r>
            <a:r>
              <a:rPr dirty="0">
                <a:latin typeface="Arial"/>
                <a:cs typeface="Arial"/>
              </a:rPr>
              <a:t>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Texto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vigente;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ultima </a:t>
            </a:r>
            <a:r>
              <a:rPr dirty="0">
                <a:latin typeface="Arial"/>
                <a:cs typeface="Arial"/>
              </a:rPr>
              <a:t>reforma</a:t>
            </a:r>
            <a:r>
              <a:rPr dirty="0" spc="270">
                <a:latin typeface="Arial"/>
                <a:cs typeface="Arial"/>
              </a:rPr>
              <a:t>  </a:t>
            </a:r>
            <a:r>
              <a:rPr dirty="0">
                <a:latin typeface="Arial"/>
                <a:cs typeface="Arial"/>
              </a:rPr>
              <a:t>DOF</a:t>
            </a:r>
            <a:r>
              <a:rPr dirty="0" spc="280">
                <a:latin typeface="Arial"/>
                <a:cs typeface="Arial"/>
              </a:rPr>
              <a:t>  </a:t>
            </a:r>
            <a:r>
              <a:rPr dirty="0">
                <a:latin typeface="Arial"/>
                <a:cs typeface="Arial"/>
              </a:rPr>
              <a:t>03-03-2026.</a:t>
            </a:r>
            <a:r>
              <a:rPr dirty="0" spc="285">
                <a:latin typeface="Arial"/>
                <a:cs typeface="Arial"/>
              </a:rPr>
              <a:t>  </a:t>
            </a:r>
            <a:r>
              <a:rPr dirty="0" spc="-1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https://www.diputados.gob.mx/LeyesBiblio/ref/cpeum.htm</a:t>
            </a:r>
            <a:endParaRPr sz="1200">
              <a:latin typeface="SimSun"/>
              <a:cs typeface="SimSu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20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Referencias</a:t>
            </a:r>
            <a:r>
              <a:rPr dirty="0" spc="35"/>
              <a:t> </a:t>
            </a:r>
            <a:r>
              <a:rPr dirty="0" spc="-10"/>
              <a:t>bibliograficas</a:t>
            </a:r>
            <a:r>
              <a:rPr dirty="0" spc="35"/>
              <a:t> </a:t>
            </a:r>
            <a:r>
              <a:rPr dirty="0" spc="-10"/>
              <a:t>(2/4)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200025" marR="5080" indent="-187960">
              <a:lnSpc>
                <a:spcPct val="101099"/>
              </a:lnSpc>
              <a:spcBef>
                <a:spcPts val="80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Camara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Diputados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del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Congreso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Union.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(2026b).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 i="1"/>
              <a:t>Ley</a:t>
            </a:r>
            <a:r>
              <a:rPr dirty="0" spc="30" i="1"/>
              <a:t> </a:t>
            </a:r>
            <a:r>
              <a:rPr dirty="0" i="1"/>
              <a:t>General</a:t>
            </a:r>
            <a:r>
              <a:rPr dirty="0" spc="35" i="1"/>
              <a:t> </a:t>
            </a:r>
            <a:r>
              <a:rPr dirty="0" i="1"/>
              <a:t>en</a:t>
            </a:r>
            <a:r>
              <a:rPr dirty="0" spc="30" i="1"/>
              <a:t> </a:t>
            </a:r>
            <a:r>
              <a:rPr dirty="0" i="1"/>
              <a:t>Materia</a:t>
            </a:r>
            <a:r>
              <a:rPr dirty="0" spc="35" i="1"/>
              <a:t> </a:t>
            </a:r>
            <a:r>
              <a:rPr dirty="0" i="1"/>
              <a:t>de</a:t>
            </a:r>
            <a:r>
              <a:rPr dirty="0" spc="35" i="1"/>
              <a:t> </a:t>
            </a:r>
            <a:r>
              <a:rPr dirty="0" i="1"/>
              <a:t>Desaparicion</a:t>
            </a:r>
            <a:r>
              <a:rPr dirty="0" spc="30" i="1"/>
              <a:t> </a:t>
            </a:r>
            <a:r>
              <a:rPr dirty="0" i="1"/>
              <a:t>Forzada</a:t>
            </a:r>
            <a:r>
              <a:rPr dirty="0" spc="35" i="1"/>
              <a:t> </a:t>
            </a:r>
            <a:r>
              <a:rPr dirty="0" i="1"/>
              <a:t>de</a:t>
            </a:r>
            <a:r>
              <a:rPr dirty="0" spc="35" i="1"/>
              <a:t> </a:t>
            </a:r>
            <a:r>
              <a:rPr dirty="0" i="1"/>
              <a:t>Personas,</a:t>
            </a:r>
            <a:r>
              <a:rPr dirty="0" spc="30" i="1"/>
              <a:t> </a:t>
            </a:r>
            <a:r>
              <a:rPr dirty="0" spc="-10" i="1"/>
              <a:t>Desaparicion</a:t>
            </a:r>
            <a:r>
              <a:rPr dirty="0" spc="-10" i="1"/>
              <a:t> </a:t>
            </a:r>
            <a:r>
              <a:rPr dirty="0" i="1"/>
              <a:t>Cometida</a:t>
            </a:r>
            <a:r>
              <a:rPr dirty="0" spc="40" i="1"/>
              <a:t> </a:t>
            </a:r>
            <a:r>
              <a:rPr dirty="0" i="1"/>
              <a:t>por</a:t>
            </a:r>
            <a:r>
              <a:rPr dirty="0" spc="40" i="1"/>
              <a:t> </a:t>
            </a:r>
            <a:r>
              <a:rPr dirty="0" i="1"/>
              <a:t>Particulares</a:t>
            </a:r>
            <a:r>
              <a:rPr dirty="0" spc="40" i="1"/>
              <a:t> </a:t>
            </a:r>
            <a:r>
              <a:rPr dirty="0" i="1"/>
              <a:t>y</a:t>
            </a:r>
            <a:r>
              <a:rPr dirty="0" spc="40" i="1"/>
              <a:t> </a:t>
            </a:r>
            <a:r>
              <a:rPr dirty="0" i="1"/>
              <a:t>del</a:t>
            </a:r>
            <a:r>
              <a:rPr dirty="0" spc="40" i="1"/>
              <a:t> </a:t>
            </a:r>
            <a:r>
              <a:rPr dirty="0" i="1"/>
              <a:t>Sistema</a:t>
            </a:r>
            <a:r>
              <a:rPr dirty="0" spc="45" i="1"/>
              <a:t> </a:t>
            </a:r>
            <a:r>
              <a:rPr dirty="0" i="1"/>
              <a:t>Nacional</a:t>
            </a:r>
            <a:r>
              <a:rPr dirty="0" spc="40" i="1"/>
              <a:t> </a:t>
            </a:r>
            <a:r>
              <a:rPr dirty="0" i="1"/>
              <a:t>de</a:t>
            </a:r>
            <a:r>
              <a:rPr dirty="0" spc="40" i="1"/>
              <a:t> </a:t>
            </a:r>
            <a:r>
              <a:rPr dirty="0" i="1"/>
              <a:t>Busqueda</a:t>
            </a:r>
            <a:r>
              <a:rPr dirty="0" spc="40" i="1"/>
              <a:t> </a:t>
            </a:r>
            <a:r>
              <a:rPr dirty="0" i="1"/>
              <a:t>de</a:t>
            </a:r>
            <a:r>
              <a:rPr dirty="0" spc="40" i="1"/>
              <a:t> </a:t>
            </a:r>
            <a:r>
              <a:rPr dirty="0" i="1"/>
              <a:t>Personas</a:t>
            </a:r>
            <a:r>
              <a:rPr dirty="0">
                <a:latin typeface="Arial"/>
                <a:cs typeface="Arial"/>
              </a:rPr>
              <a:t>.</a:t>
            </a:r>
            <a:r>
              <a:rPr dirty="0" spc="4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Diario</a:t>
            </a:r>
            <a:r>
              <a:rPr dirty="0" spc="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Oficial</a:t>
            </a:r>
            <a:r>
              <a:rPr dirty="0" spc="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</a:t>
            </a:r>
            <a:r>
              <a:rPr dirty="0" spc="4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Federacion. </a:t>
            </a:r>
            <a:r>
              <a:rPr dirty="0" spc="-1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https://www.diputados.gob.mx/LeyesBiblio/pdf/LGMDFP.pdf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ts val="130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Comision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Nacional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los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Derechos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Humanos.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(2024).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i="1"/>
              <a:t>Recomendacion</a:t>
            </a:r>
            <a:r>
              <a:rPr dirty="0" spc="35" i="1"/>
              <a:t> </a:t>
            </a:r>
            <a:r>
              <a:rPr dirty="0" i="1"/>
              <a:t>No.</a:t>
            </a:r>
            <a:r>
              <a:rPr dirty="0" spc="30" i="1"/>
              <a:t> </a:t>
            </a:r>
            <a:r>
              <a:rPr dirty="0" i="1"/>
              <a:t>VG</a:t>
            </a:r>
            <a:r>
              <a:rPr dirty="0" spc="30" i="1"/>
              <a:t> </a:t>
            </a:r>
            <a:r>
              <a:rPr dirty="0" i="1"/>
              <a:t>2024</a:t>
            </a:r>
            <a:r>
              <a:rPr dirty="0" spc="35" i="1"/>
              <a:t> </a:t>
            </a:r>
            <a:r>
              <a:rPr dirty="0" i="1"/>
              <a:t>sobre</a:t>
            </a:r>
            <a:r>
              <a:rPr dirty="0" spc="30" i="1"/>
              <a:t> </a:t>
            </a:r>
            <a:r>
              <a:rPr dirty="0" i="1"/>
              <a:t>el</a:t>
            </a:r>
            <a:r>
              <a:rPr dirty="0" spc="30" i="1"/>
              <a:t> </a:t>
            </a:r>
            <a:r>
              <a:rPr dirty="0" i="1"/>
              <a:t>caso</a:t>
            </a:r>
            <a:r>
              <a:rPr dirty="0" spc="35" i="1"/>
              <a:t> </a:t>
            </a:r>
            <a:r>
              <a:rPr dirty="0" spc="-10" i="1"/>
              <a:t>Ayotzinapa</a:t>
            </a:r>
            <a:r>
              <a:rPr dirty="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algn="ctr" marR="1245870">
              <a:lnSpc>
                <a:spcPts val="819"/>
              </a:lnSpc>
            </a:pPr>
            <a:r>
              <a:rPr dirty="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https://www.cndh.org.mx/documento/recomendacion-</a:t>
            </a:r>
            <a:r>
              <a:rPr dirty="0" spc="6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no-vg-</a:t>
            </a:r>
            <a:r>
              <a:rPr dirty="0" spc="5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2024-sobre-</a:t>
            </a:r>
            <a:r>
              <a:rPr dirty="0" spc="6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el-</a:t>
            </a:r>
            <a:r>
              <a:rPr dirty="0" spc="5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caso-</a:t>
            </a:r>
            <a:r>
              <a:rPr dirty="0" spc="-1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ayotzinapa</a:t>
            </a:r>
          </a:p>
          <a:p>
            <a:pPr algn="ctr" marR="1187450">
              <a:lnSpc>
                <a:spcPts val="138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1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>
                <a:latin typeface="Arial"/>
                <a:cs typeface="Arial"/>
              </a:rPr>
              <a:t>Kelsen,</a:t>
            </a:r>
            <a:r>
              <a:rPr dirty="0" spc="1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H.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(1982).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 i="1"/>
              <a:t>Teoria</a:t>
            </a:r>
            <a:r>
              <a:rPr dirty="0" spc="15" i="1"/>
              <a:t> </a:t>
            </a:r>
            <a:r>
              <a:rPr dirty="0" i="1"/>
              <a:t>pura</a:t>
            </a:r>
            <a:r>
              <a:rPr dirty="0" spc="20" i="1"/>
              <a:t> </a:t>
            </a:r>
            <a:r>
              <a:rPr dirty="0" i="1"/>
              <a:t>del</a:t>
            </a:r>
            <a:r>
              <a:rPr dirty="0" spc="20" i="1"/>
              <a:t> </a:t>
            </a:r>
            <a:r>
              <a:rPr dirty="0" i="1"/>
              <a:t>derecho</a:t>
            </a:r>
            <a:r>
              <a:rPr dirty="0" spc="45" i="1"/>
              <a:t> </a:t>
            </a:r>
            <a:r>
              <a:rPr dirty="0">
                <a:latin typeface="Arial"/>
                <a:cs typeface="Arial"/>
              </a:rPr>
              <a:t>(R.</a:t>
            </a:r>
            <a:r>
              <a:rPr dirty="0" spc="1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J.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Vernengo,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Trad.).</a:t>
            </a:r>
            <a:r>
              <a:rPr dirty="0" spc="1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Universidad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Nacional</a:t>
            </a:r>
            <a:r>
              <a:rPr dirty="0" spc="1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Autonoma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</a:t>
            </a:r>
            <a:r>
              <a:rPr dirty="0" spc="2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Mexico.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20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Referencias</a:t>
            </a:r>
            <a:r>
              <a:rPr dirty="0" spc="35"/>
              <a:t> </a:t>
            </a:r>
            <a:r>
              <a:rPr dirty="0" spc="-10"/>
              <a:t>bibliograficas</a:t>
            </a:r>
            <a:r>
              <a:rPr dirty="0" spc="35"/>
              <a:t> </a:t>
            </a:r>
            <a:r>
              <a:rPr dirty="0" spc="-10"/>
              <a:t>(3/4)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5031" y="1493085"/>
            <a:ext cx="4496435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35"/>
              </a:lnSpc>
              <a:spcBef>
                <a:spcPts val="9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80">
                <a:solidFill>
                  <a:srgbClr val="5F8E39"/>
                </a:solidFill>
                <a:latin typeface="Lucida Sans Unicode"/>
                <a:cs typeface="Lucida Sans Unicode"/>
              </a:rPr>
              <a:t> 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Laun,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R.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(2021).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750" spc="14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750" spc="15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moral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.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Ediciones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Olejnik.</a:t>
            </a:r>
            <a:r>
              <a:rPr dirty="0" sz="750" spc="14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https://doi.org/10.5771/9789563929119</a:t>
            </a:r>
            <a:endParaRPr sz="750">
              <a:latin typeface="SimSun"/>
              <a:cs typeface="SimSun"/>
            </a:endParaRPr>
          </a:p>
          <a:p>
            <a:pPr marL="12700">
              <a:lnSpc>
                <a:spcPts val="123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5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Rojas-Gonzalez,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G.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(2018).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Universidad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Catolica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Colombia.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123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Ronquillo</a:t>
            </a:r>
            <a:r>
              <a:rPr dirty="0" sz="7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Armas,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L.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A.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(2018).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Etica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profesional</a:t>
            </a:r>
            <a:r>
              <a:rPr dirty="0" sz="750" spc="11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(2.a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ed.).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Editorial</a:t>
            </a:r>
            <a:r>
              <a:rPr dirty="0" sz="7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Mar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Trinchera.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1335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Ruiz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Rodriguez,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1F2A24"/>
                </a:solidFill>
                <a:latin typeface="Arial"/>
                <a:cs typeface="Arial"/>
              </a:rPr>
              <a:t>V.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(2009).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.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Instituto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Electoral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Mexico.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20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</a:p>
          <a:p>
            <a:pPr marL="125730">
              <a:lnSpc>
                <a:spcPct val="100000"/>
              </a:lnSpc>
            </a:pPr>
            <a:r>
              <a:rPr dirty="0" spc="-10"/>
              <a:t>Referencias</a:t>
            </a:r>
            <a:r>
              <a:rPr dirty="0" spc="35"/>
              <a:t> </a:t>
            </a:r>
            <a:r>
              <a:rPr dirty="0" spc="-10"/>
              <a:t>bibliograficas</a:t>
            </a:r>
            <a:r>
              <a:rPr dirty="0" spc="35"/>
              <a:t> </a:t>
            </a:r>
            <a:r>
              <a:rPr dirty="0" spc="-10"/>
              <a:t>(4/4)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5031" y="1459405"/>
            <a:ext cx="6161405" cy="760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35"/>
              </a:lnSpc>
              <a:spcBef>
                <a:spcPts val="95"/>
              </a:spcBef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1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Singer,</a:t>
            </a:r>
            <a:r>
              <a:rPr dirty="0" sz="7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65">
                <a:solidFill>
                  <a:srgbClr val="1F2A24"/>
                </a:solidFill>
                <a:latin typeface="Arial"/>
                <a:cs typeface="Arial"/>
              </a:rPr>
              <a:t>P.</a:t>
            </a:r>
            <a:r>
              <a:rPr dirty="0" sz="7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(Ed.).</a:t>
            </a:r>
            <a:r>
              <a:rPr dirty="0" sz="7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(1995).</a:t>
            </a:r>
            <a:r>
              <a:rPr dirty="0" sz="7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Compendio</a:t>
            </a:r>
            <a:r>
              <a:rPr dirty="0" sz="750" spc="2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2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etica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.</a:t>
            </a:r>
            <a:r>
              <a:rPr dirty="0" sz="750" spc="2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Alianza</a:t>
            </a:r>
            <a:r>
              <a:rPr dirty="0" sz="750" spc="2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Editorial.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6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Suprema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Corte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Nacion,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Primera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Sala.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(2016).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Dignidad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humana.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Constituye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consagra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 i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endParaRPr sz="750">
              <a:latin typeface="Arial"/>
              <a:cs typeface="Arial"/>
            </a:endParaRPr>
          </a:p>
          <a:p>
            <a:pPr marL="200025">
              <a:lnSpc>
                <a:spcPts val="880"/>
              </a:lnSpc>
            </a:pP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fundamental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favor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personas.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Jurisprudencia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1a./J.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37/2016</a:t>
            </a:r>
            <a:r>
              <a:rPr dirty="0" sz="750" spc="4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(10a.)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.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Registro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digital:</a:t>
            </a:r>
            <a:r>
              <a:rPr dirty="0" sz="750" spc="4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2012363.</a:t>
            </a:r>
            <a:endParaRPr sz="750">
              <a:latin typeface="Arial"/>
              <a:cs typeface="Arial"/>
            </a:endParaRPr>
          </a:p>
          <a:p>
            <a:pPr marL="200025">
              <a:lnSpc>
                <a:spcPts val="840"/>
              </a:lnSpc>
              <a:spcBef>
                <a:spcPts val="45"/>
              </a:spcBef>
            </a:pPr>
            <a:r>
              <a:rPr dirty="0" sz="750" spc="-1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https://sjf2.scjn.gob.mx/detalle/tesis/2012363</a:t>
            </a:r>
            <a:endParaRPr sz="750">
              <a:latin typeface="SimSun"/>
              <a:cs typeface="SimSun"/>
            </a:endParaRPr>
          </a:p>
          <a:p>
            <a:pPr marL="12700">
              <a:lnSpc>
                <a:spcPts val="1380"/>
              </a:lnSpc>
            </a:pPr>
            <a:r>
              <a:rPr dirty="0" sz="120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dirty="0" sz="1200" spc="245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Universidad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Abierta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Distancia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Mexico.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(2026).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Planificacion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actividades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S8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-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dirty="0" sz="750" spc="3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dirty="0" sz="750" spc="30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dirty="0" sz="750" spc="65" i="1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[Planeacion</a:t>
            </a:r>
            <a:r>
              <a:rPr dirty="0" sz="750" spc="3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dirty="0" sz="750" spc="35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F2A24"/>
                </a:solidFill>
                <a:latin typeface="Arial"/>
                <a:cs typeface="Arial"/>
              </a:rPr>
              <a:t>actividad].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550" spc="-2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dirty="0" spc="60"/>
              <a:t> </a:t>
            </a:r>
            <a:r>
              <a:rPr dirty="0"/>
              <a:t>del</a:t>
            </a:r>
            <a:r>
              <a:rPr dirty="0" spc="65"/>
              <a:t> </a:t>
            </a:r>
            <a:r>
              <a:rPr dirty="0" spc="-1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 spc="-10"/>
              <a:t>20</a:t>
            </a:fld>
            <a:r>
              <a:rPr dirty="0" spc="-10"/>
              <a:t>/24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4A3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 Jonathan de la Cruz, Matricula: ES2611202040</dc:creator>
  <dc:title>Analisis filosofico-juridico del caso Ayotzinapa - Actividad 6 - Video academico</dc:title>
  <dcterms:created xsi:type="dcterms:W3CDTF">2026-06-08T05:06:18Z</dcterms:created>
  <dcterms:modified xsi:type="dcterms:W3CDTF">2026-06-08T05:06:18Z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2026-06-08T00:00:00Z</vt:filetime>
  </property>
  <property fmtid="{D5CDD505-2E9C-101B-9397-08002B2CF9AE}" pid="5" name="PTEX.Fullbanner">
    <vt:lpwstr>This is MiKTeX-pdfTeX 4.21.0 (1.40.27)</vt:lpwstr>
  </property>
  <property fmtid="{D5CDD505-2E9C-101B-9397-08002B2CF9AE}" pid="6" name="Producer">
    <vt:lpwstr>MiKTeX pdfTeX-1.40.27</vt:lpwstr>
  </property>
</Properties>
</file>